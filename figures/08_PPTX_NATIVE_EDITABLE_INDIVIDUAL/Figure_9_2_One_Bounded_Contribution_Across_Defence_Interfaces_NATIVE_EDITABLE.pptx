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382500" cy="6667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01DCE7-ED9B-4B8E-B341-A23EBB4674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701116F-B443-47ED-81AE-70ED5E8E73A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4680" y="4680"/>
            <a:ext cx="12372840" cy="6657840"/>
          </a:xfrm>
          <a:custGeom>
            <a:avLst/>
            <a:gdLst/>
            <a:ahLst/>
            <a:rect l="0" t="0" r="r" b="b"/>
            <a:pathLst>
              <a:path w="34369" h="18494">
                <a:moveTo>
                  <a:pt x="0" y="0"/>
                </a:moveTo>
                <a:lnTo>
                  <a:pt x="34369" y="0"/>
                </a:lnTo>
                <a:lnTo>
                  <a:pt x="34369" y="18494"/>
                </a:lnTo>
                <a:lnTo>
                  <a:pt x="0" y="184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3045600" y="171000"/>
            <a:ext cx="62622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80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different interfaces may compress detail; none may change the study</a:t>
            </a:r>
            <a:endParaRPr b="0" i="1" lang="en-US" sz="180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671040" y="879840"/>
            <a:ext cx="3997440" cy="1255320"/>
          </a:xfrm>
          <a:custGeom>
            <a:avLst/>
            <a:gdLst/>
            <a:ahLst/>
            <a:rect l="0" t="0" r="r" b="b"/>
            <a:pathLst>
              <a:path w="11104" h="3487">
                <a:moveTo>
                  <a:pt x="5552" y="3487"/>
                </a:moveTo>
                <a:lnTo>
                  <a:pt x="10628" y="3487"/>
                </a:lnTo>
                <a:cubicBezTo>
                  <a:pt x="10891" y="3487"/>
                  <a:pt x="11104" y="3275"/>
                  <a:pt x="11104" y="3012"/>
                </a:cubicBezTo>
                <a:lnTo>
                  <a:pt x="11104" y="476"/>
                </a:lnTo>
                <a:cubicBezTo>
                  <a:pt x="11104" y="213"/>
                  <a:pt x="10891" y="0"/>
                  <a:pt x="10628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3012"/>
                </a:lnTo>
                <a:cubicBezTo>
                  <a:pt x="0" y="3275"/>
                  <a:pt x="213" y="3487"/>
                  <a:pt x="476" y="3487"/>
                </a:cubicBezTo>
                <a:lnTo>
                  <a:pt x="5552" y="3487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671040" y="879840"/>
            <a:ext cx="3997440" cy="1255320"/>
          </a:xfrm>
          <a:custGeom>
            <a:avLst/>
            <a:gdLst/>
            <a:ahLst/>
            <a:rect l="0" t="0" r="r" b="b"/>
            <a:pathLst>
              <a:path w="11104" h="3487">
                <a:moveTo>
                  <a:pt x="5552" y="3487"/>
                </a:moveTo>
                <a:lnTo>
                  <a:pt x="10628" y="3487"/>
                </a:lnTo>
                <a:cubicBezTo>
                  <a:pt x="10891" y="3487"/>
                  <a:pt x="11104" y="3275"/>
                  <a:pt x="11104" y="3012"/>
                </a:cubicBezTo>
                <a:lnTo>
                  <a:pt x="11104" y="476"/>
                </a:lnTo>
                <a:cubicBezTo>
                  <a:pt x="11104" y="213"/>
                  <a:pt x="10891" y="0"/>
                  <a:pt x="10628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3012"/>
                </a:lnTo>
                <a:cubicBezTo>
                  <a:pt x="0" y="3275"/>
                  <a:pt x="213" y="3487"/>
                  <a:pt x="476" y="3487"/>
                </a:cubicBezTo>
                <a:lnTo>
                  <a:pt x="5552" y="3487"/>
                </a:lnTo>
                <a:close/>
              </a:path>
            </a:pathLst>
          </a:custGeom>
          <a:noFill/>
          <a:ln w="28440">
            <a:solidFill>
              <a:srgbClr val="284d7a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1427760" y="1103400"/>
            <a:ext cx="2521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7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INSTITUTIONAL RECORD</a:t>
            </a:r>
            <a:endParaRPr b="1" lang="en-US" sz="157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970280" y="1502640"/>
            <a:ext cx="1465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0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official artefacts · forms</a:t>
            </a:r>
            <a:endParaRPr b="0" i="1" lang="en-US" sz="120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732320" y="1778760"/>
            <a:ext cx="183708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2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title · identity · reviewed content</a:t>
            </a:r>
            <a:endParaRPr b="0" i="1" lang="en-US" sz="112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7713720" y="879840"/>
            <a:ext cx="3997440" cy="1255320"/>
          </a:xfrm>
          <a:custGeom>
            <a:avLst/>
            <a:gdLst/>
            <a:ahLst/>
            <a:rect l="0" t="0" r="r" b="b"/>
            <a:pathLst>
              <a:path w="11104" h="3487">
                <a:moveTo>
                  <a:pt x="5552" y="3487"/>
                </a:moveTo>
                <a:lnTo>
                  <a:pt x="10628" y="3487"/>
                </a:lnTo>
                <a:cubicBezTo>
                  <a:pt x="10891" y="3487"/>
                  <a:pt x="11104" y="3275"/>
                  <a:pt x="11104" y="3012"/>
                </a:cubicBezTo>
                <a:lnTo>
                  <a:pt x="11104" y="476"/>
                </a:lnTo>
                <a:cubicBezTo>
                  <a:pt x="11104" y="213"/>
                  <a:pt x="10891" y="0"/>
                  <a:pt x="10628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3012"/>
                </a:lnTo>
                <a:cubicBezTo>
                  <a:pt x="0" y="3275"/>
                  <a:pt x="213" y="3487"/>
                  <a:pt x="476" y="3487"/>
                </a:cubicBezTo>
                <a:lnTo>
                  <a:pt x="5552" y="3487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7713720" y="879840"/>
            <a:ext cx="3997440" cy="1255320"/>
          </a:xfrm>
          <a:custGeom>
            <a:avLst/>
            <a:gdLst/>
            <a:ahLst/>
            <a:rect l="0" t="0" r="r" b="b"/>
            <a:pathLst>
              <a:path w="11104" h="3487">
                <a:moveTo>
                  <a:pt x="5552" y="3487"/>
                </a:moveTo>
                <a:lnTo>
                  <a:pt x="10628" y="3487"/>
                </a:lnTo>
                <a:cubicBezTo>
                  <a:pt x="10891" y="3487"/>
                  <a:pt x="11104" y="3275"/>
                  <a:pt x="11104" y="3012"/>
                </a:cubicBezTo>
                <a:lnTo>
                  <a:pt x="11104" y="476"/>
                </a:lnTo>
                <a:cubicBezTo>
                  <a:pt x="11104" y="213"/>
                  <a:pt x="10891" y="0"/>
                  <a:pt x="10628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3012"/>
                </a:lnTo>
                <a:cubicBezTo>
                  <a:pt x="0" y="3275"/>
                  <a:pt x="213" y="3487"/>
                  <a:pt x="476" y="3487"/>
                </a:cubicBezTo>
                <a:lnTo>
                  <a:pt x="5552" y="3487"/>
                </a:lnTo>
                <a:close/>
              </a:path>
            </a:pathLst>
          </a:custGeom>
          <a:noFill/>
          <a:ln w="28440">
            <a:solidFill>
              <a:srgbClr val="284d7a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8232480" y="1103400"/>
            <a:ext cx="2997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7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PRIVATE EVIDENCE PACKAGE</a:t>
            </a:r>
            <a:endParaRPr b="1" lang="en-US" sz="157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8832240" y="1502640"/>
            <a:ext cx="1783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0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release · corpus · provenance</a:t>
            </a:r>
            <a:endParaRPr b="0" i="1" lang="en-US" sz="120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8984520" y="1778760"/>
            <a:ext cx="141948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2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access · rights · recovery</a:t>
            </a:r>
            <a:endParaRPr b="0" i="1" lang="en-US" sz="112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671040" y="4094280"/>
            <a:ext cx="3997440" cy="1255680"/>
          </a:xfrm>
          <a:custGeom>
            <a:avLst/>
            <a:gdLst/>
            <a:ahLst/>
            <a:rect l="0" t="0" r="r" b="b"/>
            <a:pathLst>
              <a:path w="11104" h="3488">
                <a:moveTo>
                  <a:pt x="5552" y="3488"/>
                </a:moveTo>
                <a:lnTo>
                  <a:pt x="10628" y="3488"/>
                </a:lnTo>
                <a:cubicBezTo>
                  <a:pt x="10891" y="3488"/>
                  <a:pt x="11104" y="3275"/>
                  <a:pt x="11104" y="3012"/>
                </a:cubicBezTo>
                <a:lnTo>
                  <a:pt x="11104" y="476"/>
                </a:lnTo>
                <a:cubicBezTo>
                  <a:pt x="11104" y="213"/>
                  <a:pt x="10891" y="0"/>
                  <a:pt x="10628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3012"/>
                </a:lnTo>
                <a:cubicBezTo>
                  <a:pt x="0" y="3275"/>
                  <a:pt x="213" y="3488"/>
                  <a:pt x="476" y="3488"/>
                </a:cubicBezTo>
                <a:lnTo>
                  <a:pt x="5552" y="3488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671040" y="4094280"/>
            <a:ext cx="3997440" cy="1255680"/>
          </a:xfrm>
          <a:custGeom>
            <a:avLst/>
            <a:gdLst/>
            <a:ahLst/>
            <a:rect l="0" t="0" r="r" b="b"/>
            <a:pathLst>
              <a:path w="11104" h="3488">
                <a:moveTo>
                  <a:pt x="5552" y="3488"/>
                </a:moveTo>
                <a:lnTo>
                  <a:pt x="10628" y="3488"/>
                </a:lnTo>
                <a:cubicBezTo>
                  <a:pt x="10891" y="3488"/>
                  <a:pt x="11104" y="3275"/>
                  <a:pt x="11104" y="3012"/>
                </a:cubicBezTo>
                <a:lnTo>
                  <a:pt x="11104" y="476"/>
                </a:lnTo>
                <a:cubicBezTo>
                  <a:pt x="11104" y="213"/>
                  <a:pt x="10891" y="0"/>
                  <a:pt x="10628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3012"/>
                </a:lnTo>
                <a:cubicBezTo>
                  <a:pt x="0" y="3275"/>
                  <a:pt x="213" y="3488"/>
                  <a:pt x="476" y="3488"/>
                </a:cubicBezTo>
                <a:lnTo>
                  <a:pt x="5552" y="3488"/>
                </a:lnTo>
                <a:close/>
              </a:path>
            </a:pathLst>
          </a:custGeom>
          <a:noFill/>
          <a:ln w="28440">
            <a:solidFill>
              <a:srgbClr val="284d7a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323000" y="4317840"/>
            <a:ext cx="2721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7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DEMONSTRATION + SLIDES</a:t>
            </a:r>
            <a:endParaRPr b="1" lang="en-US" sz="157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951200" y="4717440"/>
            <a:ext cx="1498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0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selected evidential paths</a:t>
            </a:r>
            <a:endParaRPr b="0" i="1" lang="en-US" sz="120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798920" y="4993200"/>
            <a:ext cx="169452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2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same units · result · boundary</a:t>
            </a:r>
            <a:endParaRPr b="0" i="1" lang="en-US" sz="112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7713720" y="4094280"/>
            <a:ext cx="3997440" cy="1255680"/>
          </a:xfrm>
          <a:custGeom>
            <a:avLst/>
            <a:gdLst/>
            <a:ahLst/>
            <a:rect l="0" t="0" r="r" b="b"/>
            <a:pathLst>
              <a:path w="11104" h="3488">
                <a:moveTo>
                  <a:pt x="5552" y="3488"/>
                </a:moveTo>
                <a:lnTo>
                  <a:pt x="10628" y="3488"/>
                </a:lnTo>
                <a:cubicBezTo>
                  <a:pt x="10891" y="3488"/>
                  <a:pt x="11104" y="3275"/>
                  <a:pt x="11104" y="3012"/>
                </a:cubicBezTo>
                <a:lnTo>
                  <a:pt x="11104" y="476"/>
                </a:lnTo>
                <a:cubicBezTo>
                  <a:pt x="11104" y="213"/>
                  <a:pt x="10891" y="0"/>
                  <a:pt x="10628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3012"/>
                </a:lnTo>
                <a:cubicBezTo>
                  <a:pt x="0" y="3275"/>
                  <a:pt x="213" y="3488"/>
                  <a:pt x="476" y="3488"/>
                </a:cubicBezTo>
                <a:lnTo>
                  <a:pt x="5552" y="3488"/>
                </a:lnTo>
                <a:close/>
              </a:path>
            </a:pathLst>
          </a:custGeom>
          <a:solidFill>
            <a:srgbClr val="e7eef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7713720" y="4094280"/>
            <a:ext cx="3997440" cy="1255680"/>
          </a:xfrm>
          <a:custGeom>
            <a:avLst/>
            <a:gdLst/>
            <a:ahLst/>
            <a:rect l="0" t="0" r="r" b="b"/>
            <a:pathLst>
              <a:path w="11104" h="3488">
                <a:moveTo>
                  <a:pt x="5552" y="3488"/>
                </a:moveTo>
                <a:lnTo>
                  <a:pt x="10628" y="3488"/>
                </a:lnTo>
                <a:cubicBezTo>
                  <a:pt x="10891" y="3488"/>
                  <a:pt x="11104" y="3275"/>
                  <a:pt x="11104" y="3012"/>
                </a:cubicBezTo>
                <a:lnTo>
                  <a:pt x="11104" y="476"/>
                </a:lnTo>
                <a:cubicBezTo>
                  <a:pt x="11104" y="213"/>
                  <a:pt x="10891" y="0"/>
                  <a:pt x="10628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3012"/>
                </a:lnTo>
                <a:cubicBezTo>
                  <a:pt x="0" y="3275"/>
                  <a:pt x="213" y="3488"/>
                  <a:pt x="476" y="3488"/>
                </a:cubicBezTo>
                <a:lnTo>
                  <a:pt x="5552" y="3488"/>
                </a:lnTo>
                <a:close/>
              </a:path>
            </a:pathLst>
          </a:custGeom>
          <a:noFill/>
          <a:ln w="28440">
            <a:solidFill>
              <a:srgbClr val="284d7a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8927280" y="4317840"/>
            <a:ext cx="1598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7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ORAL ANSWERS</a:t>
            </a:r>
            <a:endParaRPr b="1" lang="en-US" sz="157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8898840" y="4717440"/>
            <a:ext cx="1659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0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judgement under challenge</a:t>
            </a:r>
            <a:endParaRPr b="0" i="1" lang="en-US" sz="120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8698680" y="4993200"/>
            <a:ext cx="196056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2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evidence · uncertainty · correction</a:t>
            </a:r>
            <a:endParaRPr b="0" i="1" lang="en-US" sz="112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4525560" y="2477880"/>
            <a:ext cx="3331080" cy="1711440"/>
          </a:xfrm>
          <a:custGeom>
            <a:avLst/>
            <a:gdLst/>
            <a:ahLst/>
            <a:rect l="0" t="0" r="r" b="b"/>
            <a:pathLst>
              <a:path w="9253" h="4754">
                <a:moveTo>
                  <a:pt x="4627" y="4754"/>
                </a:moveTo>
                <a:lnTo>
                  <a:pt x="8512" y="4754"/>
                </a:lnTo>
                <a:cubicBezTo>
                  <a:pt x="8921" y="4754"/>
                  <a:pt x="9253" y="4423"/>
                  <a:pt x="9253" y="4015"/>
                </a:cubicBezTo>
                <a:lnTo>
                  <a:pt x="9253" y="739"/>
                </a:lnTo>
                <a:cubicBezTo>
                  <a:pt x="9253" y="331"/>
                  <a:pt x="8921" y="0"/>
                  <a:pt x="8512" y="0"/>
                </a:cubicBezTo>
                <a:lnTo>
                  <a:pt x="741" y="0"/>
                </a:lnTo>
                <a:cubicBezTo>
                  <a:pt x="332" y="0"/>
                  <a:pt x="0" y="331"/>
                  <a:pt x="0" y="739"/>
                </a:cubicBezTo>
                <a:lnTo>
                  <a:pt x="0" y="4015"/>
                </a:lnTo>
                <a:cubicBezTo>
                  <a:pt x="0" y="4423"/>
                  <a:pt x="332" y="4754"/>
                  <a:pt x="741" y="4754"/>
                </a:cubicBezTo>
                <a:lnTo>
                  <a:pt x="4627" y="4754"/>
                </a:lnTo>
                <a:close/>
              </a:path>
            </a:pathLst>
          </a:custGeom>
          <a:solidFill>
            <a:srgbClr val="eaf4e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4525560" y="2477880"/>
            <a:ext cx="3331080" cy="1711440"/>
          </a:xfrm>
          <a:custGeom>
            <a:avLst/>
            <a:gdLst/>
            <a:ahLst/>
            <a:rect l="0" t="0" r="r" b="b"/>
            <a:pathLst>
              <a:path w="9253" h="4754">
                <a:moveTo>
                  <a:pt x="4627" y="4754"/>
                </a:moveTo>
                <a:lnTo>
                  <a:pt x="8512" y="4754"/>
                </a:lnTo>
                <a:cubicBezTo>
                  <a:pt x="8921" y="4754"/>
                  <a:pt x="9253" y="4423"/>
                  <a:pt x="9253" y="4015"/>
                </a:cubicBezTo>
                <a:lnTo>
                  <a:pt x="9253" y="739"/>
                </a:lnTo>
                <a:cubicBezTo>
                  <a:pt x="9253" y="331"/>
                  <a:pt x="8921" y="0"/>
                  <a:pt x="8512" y="0"/>
                </a:cubicBezTo>
                <a:lnTo>
                  <a:pt x="741" y="0"/>
                </a:lnTo>
                <a:cubicBezTo>
                  <a:pt x="332" y="0"/>
                  <a:pt x="0" y="331"/>
                  <a:pt x="0" y="739"/>
                </a:cubicBezTo>
                <a:lnTo>
                  <a:pt x="0" y="4015"/>
                </a:lnTo>
                <a:cubicBezTo>
                  <a:pt x="0" y="4423"/>
                  <a:pt x="332" y="4754"/>
                  <a:pt x="741" y="4754"/>
                </a:cubicBezTo>
                <a:lnTo>
                  <a:pt x="4627" y="4754"/>
                </a:lnTo>
                <a:close/>
              </a:path>
            </a:pathLst>
          </a:custGeom>
          <a:noFill/>
          <a:ln w="38160">
            <a:solidFill>
              <a:srgbClr val="3b7650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5320440" y="2701440"/>
            <a:ext cx="17694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2d5a3e"/>
                </a:solidFill>
                <a:effectLst/>
                <a:uFillTx/>
                <a:latin typeface="Times New Roman"/>
              </a:rPr>
              <a:t>ONE BOUNDED</a:t>
            </a:r>
            <a:endParaRPr b="1" lang="en-US" sz="1870" strike="noStrike" u="none">
              <a:solidFill>
                <a:srgbClr val="2d5a3e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5253840" y="3015360"/>
            <a:ext cx="189324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2d5a3e"/>
                </a:solidFill>
                <a:effectLst/>
                <a:uFillTx/>
                <a:latin typeface="Times New Roman"/>
              </a:rPr>
              <a:t>CONTRIBUTION</a:t>
            </a:r>
            <a:endParaRPr b="1" lang="en-US" sz="1870" strike="noStrike" u="none">
              <a:solidFill>
                <a:srgbClr val="2d5a3e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5253840" y="3442680"/>
            <a:ext cx="1913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00" strike="noStrike" u="none">
                <a:solidFill>
                  <a:srgbClr val="2d5a3e"/>
                </a:solidFill>
                <a:effectLst/>
                <a:uFillTx/>
                <a:latin typeface="Times New Roman"/>
              </a:rPr>
              <a:t>question · evidence · judgement</a:t>
            </a:r>
            <a:endParaRPr b="0" i="1" lang="en-US" sz="1200" strike="noStrike" u="none">
              <a:solidFill>
                <a:srgbClr val="2d5a3e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5158440" y="3728160"/>
            <a:ext cx="2142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00" strike="noStrike" u="none">
                <a:solidFill>
                  <a:srgbClr val="2d5a3e"/>
                </a:solidFill>
                <a:effectLst/>
                <a:uFillTx/>
                <a:latin typeface="Times New Roman"/>
              </a:rPr>
              <a:t>uncertainty · limitation · assistance</a:t>
            </a:r>
            <a:endParaRPr b="0" i="1" lang="en-US" sz="1200" strike="noStrike" u="none">
              <a:solidFill>
                <a:srgbClr val="2d5a3e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2669760" y="2135160"/>
            <a:ext cx="2665080" cy="342720"/>
          </a:xfrm>
          <a:prstGeom prst="line">
            <a:avLst/>
          </a:prstGeom>
          <a:ln w="2844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061600" y="2303640"/>
            <a:ext cx="301320" cy="282960"/>
          </a:xfrm>
          <a:custGeom>
            <a:avLst/>
            <a:gdLst/>
            <a:ahLst/>
            <a:rect l="0" t="0" r="r" b="b"/>
            <a:pathLst>
              <a:path w="837" h="786">
                <a:moveTo>
                  <a:pt x="101" y="0"/>
                </a:moveTo>
                <a:lnTo>
                  <a:pt x="837" y="494"/>
                </a:lnTo>
                <a:lnTo>
                  <a:pt x="0" y="786"/>
                </a:lnTo>
                <a:lnTo>
                  <a:pt x="101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 flipH="1">
            <a:off x="7047360" y="2135160"/>
            <a:ext cx="2665080" cy="342720"/>
          </a:xfrm>
          <a:prstGeom prst="line">
            <a:avLst/>
          </a:prstGeom>
          <a:ln w="2844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7019280" y="2303640"/>
            <a:ext cx="301320" cy="282960"/>
          </a:xfrm>
          <a:custGeom>
            <a:avLst/>
            <a:gdLst/>
            <a:ahLst/>
            <a:rect l="0" t="0" r="r" b="b"/>
            <a:pathLst>
              <a:path w="837" h="786">
                <a:moveTo>
                  <a:pt x="837" y="786"/>
                </a:moveTo>
                <a:lnTo>
                  <a:pt x="0" y="494"/>
                </a:lnTo>
                <a:lnTo>
                  <a:pt x="736" y="0"/>
                </a:lnTo>
                <a:lnTo>
                  <a:pt x="837" y="786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7019280" y="2303640"/>
            <a:ext cx="301320" cy="282960"/>
          </a:xfrm>
          <a:custGeom>
            <a:avLst/>
            <a:gdLst/>
            <a:ahLst/>
            <a:rect l="0" t="0" r="r" b="b"/>
            <a:pathLst>
              <a:path w="837" h="786">
                <a:moveTo>
                  <a:pt x="837" y="786"/>
                </a:moveTo>
                <a:lnTo>
                  <a:pt x="0" y="494"/>
                </a:lnTo>
                <a:lnTo>
                  <a:pt x="736" y="0"/>
                </a:lnTo>
                <a:lnTo>
                  <a:pt x="837" y="786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2669760" y="4094280"/>
            <a:ext cx="2665080" cy="95040"/>
          </a:xfrm>
          <a:prstGeom prst="line">
            <a:avLst/>
          </a:prstGeom>
          <a:ln w="2844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36000" bIns="36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5072760" y="4037760"/>
            <a:ext cx="290520" cy="285120"/>
          </a:xfrm>
          <a:custGeom>
            <a:avLst/>
            <a:gdLst/>
            <a:ahLst/>
            <a:rect l="0" t="0" r="r" b="b"/>
            <a:pathLst>
              <a:path w="807" h="792">
                <a:moveTo>
                  <a:pt x="28" y="0"/>
                </a:moveTo>
                <a:lnTo>
                  <a:pt x="807" y="424"/>
                </a:lnTo>
                <a:lnTo>
                  <a:pt x="0" y="792"/>
                </a:lnTo>
                <a:lnTo>
                  <a:pt x="28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072760" y="4037760"/>
            <a:ext cx="290520" cy="285120"/>
          </a:xfrm>
          <a:custGeom>
            <a:avLst/>
            <a:gdLst/>
            <a:ahLst/>
            <a:rect l="0" t="0" r="r" b="b"/>
            <a:pathLst>
              <a:path w="807" h="792">
                <a:moveTo>
                  <a:pt x="28" y="0"/>
                </a:moveTo>
                <a:lnTo>
                  <a:pt x="807" y="424"/>
                </a:lnTo>
                <a:lnTo>
                  <a:pt x="0" y="792"/>
                </a:lnTo>
                <a:lnTo>
                  <a:pt x="28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5072760" y="4037760"/>
            <a:ext cx="290520" cy="285120"/>
          </a:xfrm>
          <a:custGeom>
            <a:avLst/>
            <a:gdLst/>
            <a:ahLst/>
            <a:rect l="0" t="0" r="r" b="b"/>
            <a:pathLst>
              <a:path w="807" h="792">
                <a:moveTo>
                  <a:pt x="28" y="0"/>
                </a:moveTo>
                <a:lnTo>
                  <a:pt x="807" y="424"/>
                </a:lnTo>
                <a:lnTo>
                  <a:pt x="0" y="792"/>
                </a:lnTo>
                <a:lnTo>
                  <a:pt x="28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 flipH="1">
            <a:off x="7047360" y="4094280"/>
            <a:ext cx="2665080" cy="95040"/>
          </a:xfrm>
          <a:prstGeom prst="line">
            <a:avLst/>
          </a:prstGeom>
          <a:ln w="28440">
            <a:solidFill>
              <a:srgbClr val="284d7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36000" bIns="36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7018920" y="4037760"/>
            <a:ext cx="290520" cy="285120"/>
          </a:xfrm>
          <a:custGeom>
            <a:avLst/>
            <a:gdLst/>
            <a:ahLst/>
            <a:rect l="0" t="0" r="r" b="b"/>
            <a:pathLst>
              <a:path w="807" h="792">
                <a:moveTo>
                  <a:pt x="807" y="792"/>
                </a:moveTo>
                <a:lnTo>
                  <a:pt x="0" y="424"/>
                </a:lnTo>
                <a:lnTo>
                  <a:pt x="779" y="0"/>
                </a:lnTo>
                <a:lnTo>
                  <a:pt x="807" y="792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7018920" y="4037760"/>
            <a:ext cx="290520" cy="285120"/>
          </a:xfrm>
          <a:custGeom>
            <a:avLst/>
            <a:gdLst/>
            <a:ahLst/>
            <a:rect l="0" t="0" r="r" b="b"/>
            <a:pathLst>
              <a:path w="807" h="792">
                <a:moveTo>
                  <a:pt x="807" y="792"/>
                </a:moveTo>
                <a:lnTo>
                  <a:pt x="0" y="424"/>
                </a:lnTo>
                <a:lnTo>
                  <a:pt x="779" y="0"/>
                </a:lnTo>
                <a:lnTo>
                  <a:pt x="807" y="792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7018920" y="4037760"/>
            <a:ext cx="290520" cy="285120"/>
          </a:xfrm>
          <a:custGeom>
            <a:avLst/>
            <a:gdLst/>
            <a:ahLst/>
            <a:rect l="0" t="0" r="r" b="b"/>
            <a:pathLst>
              <a:path w="807" h="792">
                <a:moveTo>
                  <a:pt x="807" y="792"/>
                </a:moveTo>
                <a:lnTo>
                  <a:pt x="0" y="424"/>
                </a:lnTo>
                <a:lnTo>
                  <a:pt x="779" y="0"/>
                </a:lnTo>
                <a:lnTo>
                  <a:pt x="807" y="792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7018920" y="4037760"/>
            <a:ext cx="290520" cy="285120"/>
          </a:xfrm>
          <a:custGeom>
            <a:avLst/>
            <a:gdLst/>
            <a:ahLst/>
            <a:rect l="0" t="0" r="r" b="b"/>
            <a:pathLst>
              <a:path w="807" h="792">
                <a:moveTo>
                  <a:pt x="807" y="792"/>
                </a:moveTo>
                <a:lnTo>
                  <a:pt x="0" y="424"/>
                </a:lnTo>
                <a:lnTo>
                  <a:pt x="779" y="0"/>
                </a:lnTo>
                <a:lnTo>
                  <a:pt x="807" y="792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1194480" y="5730480"/>
            <a:ext cx="9993240" cy="589680"/>
          </a:xfrm>
          <a:custGeom>
            <a:avLst/>
            <a:gdLst/>
            <a:ahLst/>
            <a:rect l="0" t="0" r="r" b="b"/>
            <a:pathLst>
              <a:path w="27759" h="1638">
                <a:moveTo>
                  <a:pt x="13880" y="1638"/>
                </a:moveTo>
                <a:lnTo>
                  <a:pt x="27389" y="1638"/>
                </a:lnTo>
                <a:cubicBezTo>
                  <a:pt x="27593" y="1638"/>
                  <a:pt x="27759" y="1472"/>
                  <a:pt x="27759" y="1268"/>
                </a:cubicBezTo>
                <a:lnTo>
                  <a:pt x="27759" y="369"/>
                </a:lnTo>
                <a:cubicBezTo>
                  <a:pt x="27759" y="165"/>
                  <a:pt x="27593" y="0"/>
                  <a:pt x="27389" y="0"/>
                </a:cubicBezTo>
                <a:lnTo>
                  <a:pt x="370" y="0"/>
                </a:lnTo>
                <a:cubicBezTo>
                  <a:pt x="166" y="0"/>
                  <a:pt x="0" y="165"/>
                  <a:pt x="0" y="369"/>
                </a:cubicBezTo>
                <a:lnTo>
                  <a:pt x="0" y="1268"/>
                </a:lnTo>
                <a:cubicBezTo>
                  <a:pt x="0" y="1472"/>
                  <a:pt x="166" y="1638"/>
                  <a:pt x="370" y="1638"/>
                </a:cubicBezTo>
                <a:lnTo>
                  <a:pt x="13880" y="1638"/>
                </a:lnTo>
                <a:close/>
              </a:path>
            </a:pathLst>
          </a:custGeom>
          <a:solidFill>
            <a:srgbClr val="fff7f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194480" y="5730480"/>
            <a:ext cx="9993240" cy="589680"/>
          </a:xfrm>
          <a:custGeom>
            <a:avLst/>
            <a:gdLst/>
            <a:ahLst/>
            <a:rect l="0" t="0" r="r" b="b"/>
            <a:pathLst>
              <a:path w="27759" h="1638">
                <a:moveTo>
                  <a:pt x="13880" y="1638"/>
                </a:moveTo>
                <a:lnTo>
                  <a:pt x="27389" y="1638"/>
                </a:lnTo>
                <a:cubicBezTo>
                  <a:pt x="27593" y="1638"/>
                  <a:pt x="27759" y="1472"/>
                  <a:pt x="27759" y="1268"/>
                </a:cubicBezTo>
                <a:lnTo>
                  <a:pt x="27759" y="369"/>
                </a:lnTo>
                <a:cubicBezTo>
                  <a:pt x="27759" y="165"/>
                  <a:pt x="27593" y="0"/>
                  <a:pt x="27389" y="0"/>
                </a:cubicBezTo>
                <a:lnTo>
                  <a:pt x="370" y="0"/>
                </a:lnTo>
                <a:cubicBezTo>
                  <a:pt x="166" y="0"/>
                  <a:pt x="0" y="165"/>
                  <a:pt x="0" y="369"/>
                </a:cubicBezTo>
                <a:lnTo>
                  <a:pt x="0" y="1268"/>
                </a:lnTo>
                <a:cubicBezTo>
                  <a:pt x="0" y="1472"/>
                  <a:pt x="166" y="1638"/>
                  <a:pt x="370" y="1638"/>
                </a:cubicBezTo>
                <a:lnTo>
                  <a:pt x="13880" y="1638"/>
                </a:lnTo>
                <a:close/>
              </a:path>
            </a:pathLst>
          </a:custGeom>
          <a:noFill/>
          <a:ln w="28440">
            <a:solidFill>
              <a:srgbClr val="9a3d35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015880" y="5839560"/>
            <a:ext cx="2359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7b302a"/>
                </a:solidFill>
                <a:effectLst/>
                <a:uFillTx/>
                <a:latin typeface="Times New Roman"/>
              </a:rPr>
              <a:t>NON-COMPENSATION RULE</a:t>
            </a:r>
            <a:endParaRPr b="1" lang="en-US" sz="1350" strike="noStrike" u="none">
              <a:solidFill>
                <a:srgbClr val="7b302a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3321720" y="6096600"/>
            <a:ext cx="551376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20" strike="noStrike" u="none">
                <a:solidFill>
                  <a:srgbClr val="6f2c27"/>
                </a:solidFill>
                <a:effectLst/>
                <a:uFillTx/>
                <a:latin typeface="Times New Roman"/>
              </a:rPr>
              <a:t>a strong performance cannot repair an inaccurate record, unsafe package or unsupported claim</a:t>
            </a:r>
            <a:endParaRPr b="0" i="1" lang="en-US" sz="1120" strike="noStrike" u="none">
              <a:solidFill>
                <a:srgbClr val="6f2c27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2026-08-19T10:50:04Z</dcterms:created>
  <dc:creator>Antonio Clim and Martino Aldrigo</dc:creator>
  <dc:description>One bounded contribution is surrounded by four controlled interfaces: the institutional record, private evidence package, demonstration and slides and oral answers. Every interface preserves the same question, evidence, judgement, uncertainty, limitation and assistance record. A non-compensation rule states that strong performance cannot repair an inaccurate record, unsafe package or unsupported claim. Native-object PPTX generated from the canonical SVG; all text, boxes, lines, arrows and colours remain separately editable.</dc:description>
  <dc:language>en-US</dc:language>
  <cp:lastModifiedBy/>
  <dcterms:modified xsi:type="dcterms:W3CDTF">2026-08-19T10:50:05Z</dcterms:modified>
  <cp:revision>1</cp:revision>
  <dc:subject>Fully editable native drawing objects</dc:subject>
  <dc:title>Figure 9.2. One bounded contribution across institutional, evidence and defence interfaces</dc:title>
</cp:coreProperties>
</file>