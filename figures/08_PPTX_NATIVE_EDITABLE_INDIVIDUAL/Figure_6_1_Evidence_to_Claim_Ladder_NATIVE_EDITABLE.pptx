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3335000" cy="7239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DE6CC-D19C-4DFB-95AA-8B707DD7E4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DA77FE-70E3-4A1F-9BB0-1E52B4C1F12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3325400" cy="7229160"/>
          </a:xfrm>
          <a:custGeom>
            <a:avLst/>
            <a:gdLst/>
            <a:ahLst/>
            <a:rect l="0" t="0" r="r" b="b"/>
            <a:pathLst>
              <a:path w="37015" h="20081">
                <a:moveTo>
                  <a:pt x="0" y="0"/>
                </a:moveTo>
                <a:lnTo>
                  <a:pt x="37015" y="0"/>
                </a:lnTo>
                <a:lnTo>
                  <a:pt x="37015" y="20081"/>
                </a:lnTo>
                <a:lnTo>
                  <a:pt x="0" y="200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682880" y="152280"/>
            <a:ext cx="3949200" cy="275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950" strike="noStrike" u="none">
                <a:solidFill>
                  <a:srgbClr val="4c6078"/>
                </a:solidFill>
                <a:effectLst/>
                <a:uFillTx/>
                <a:latin typeface="Times New Roman"/>
              </a:rPr>
              <a:t>evidence is a relationship, not an object</a:t>
            </a:r>
            <a:endParaRPr b="0" i="1" lang="en-US" sz="1950" strike="noStrike" u="none">
              <a:solidFill>
                <a:srgbClr val="4c607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271440" y="879840"/>
            <a:ext cx="2303280" cy="1255680"/>
          </a:xfrm>
          <a:custGeom>
            <a:avLst/>
            <a:gdLst/>
            <a:ahLst/>
            <a:rect l="0" t="0" r="r" b="b"/>
            <a:pathLst>
              <a:path w="6398" h="3488">
                <a:moveTo>
                  <a:pt x="3199" y="3488"/>
                </a:moveTo>
                <a:lnTo>
                  <a:pt x="6028" y="3488"/>
                </a:lnTo>
                <a:cubicBezTo>
                  <a:pt x="6232" y="3488"/>
                  <a:pt x="6398" y="3322"/>
                  <a:pt x="6398" y="3118"/>
                </a:cubicBezTo>
                <a:lnTo>
                  <a:pt x="6398" y="370"/>
                </a:lnTo>
                <a:cubicBezTo>
                  <a:pt x="6398" y="166"/>
                  <a:pt x="6232" y="0"/>
                  <a:pt x="602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5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71440" y="879840"/>
            <a:ext cx="2303280" cy="1255680"/>
          </a:xfrm>
          <a:custGeom>
            <a:avLst/>
            <a:gdLst/>
            <a:ahLst/>
            <a:rect l="0" t="0" r="r" b="b"/>
            <a:pathLst>
              <a:path w="6398" h="3488">
                <a:moveTo>
                  <a:pt x="3199" y="3488"/>
                </a:moveTo>
                <a:lnTo>
                  <a:pt x="6028" y="3488"/>
                </a:lnTo>
                <a:cubicBezTo>
                  <a:pt x="6232" y="3488"/>
                  <a:pt x="6398" y="3322"/>
                  <a:pt x="6398" y="3118"/>
                </a:cubicBezTo>
                <a:lnTo>
                  <a:pt x="6398" y="370"/>
                </a:lnTo>
                <a:cubicBezTo>
                  <a:pt x="6398" y="166"/>
                  <a:pt x="6232" y="0"/>
                  <a:pt x="602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5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04360" y="101772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1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13880" y="1303200"/>
            <a:ext cx="14562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ACCEPTED WORK</a:t>
            </a:r>
            <a:endParaRPr b="1" lang="en-US" sz="12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218240" y="1512360"/>
            <a:ext cx="427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UNIT</a:t>
            </a:r>
            <a:endParaRPr b="1" lang="en-US" sz="13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66360" y="1807200"/>
            <a:ext cx="14806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identified output admitted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860200" y="879840"/>
            <a:ext cx="2303640" cy="1255680"/>
          </a:xfrm>
          <a:custGeom>
            <a:avLst/>
            <a:gdLst/>
            <a:ahLst/>
            <a:rect l="0" t="0" r="r" b="b"/>
            <a:pathLst>
              <a:path w="6399" h="3488">
                <a:moveTo>
                  <a:pt x="3199" y="3488"/>
                </a:moveTo>
                <a:lnTo>
                  <a:pt x="6028" y="3488"/>
                </a:lnTo>
                <a:cubicBezTo>
                  <a:pt x="6233" y="3488"/>
                  <a:pt x="6399" y="3322"/>
                  <a:pt x="6399" y="3118"/>
                </a:cubicBezTo>
                <a:lnTo>
                  <a:pt x="6399" y="370"/>
                </a:lnTo>
                <a:cubicBezTo>
                  <a:pt x="6399" y="166"/>
                  <a:pt x="6233" y="0"/>
                  <a:pt x="602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860200" y="879840"/>
            <a:ext cx="2303640" cy="1255680"/>
          </a:xfrm>
          <a:custGeom>
            <a:avLst/>
            <a:gdLst/>
            <a:ahLst/>
            <a:rect l="0" t="0" r="r" b="b"/>
            <a:pathLst>
              <a:path w="6399" h="3488">
                <a:moveTo>
                  <a:pt x="3199" y="3488"/>
                </a:moveTo>
                <a:lnTo>
                  <a:pt x="6028" y="3488"/>
                </a:lnTo>
                <a:cubicBezTo>
                  <a:pt x="6233" y="3488"/>
                  <a:pt x="6399" y="3322"/>
                  <a:pt x="6399" y="3118"/>
                </a:cubicBezTo>
                <a:lnTo>
                  <a:pt x="6399" y="370"/>
                </a:lnTo>
                <a:cubicBezTo>
                  <a:pt x="6399" y="166"/>
                  <a:pt x="6233" y="0"/>
                  <a:pt x="602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93480" y="101772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2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340800" y="1350720"/>
            <a:ext cx="1363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OBSERVATION</a:t>
            </a:r>
            <a:endParaRPr b="1" lang="en-US" sz="15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255120" y="1712160"/>
            <a:ext cx="1535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relevant feature recorded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5449320" y="879840"/>
            <a:ext cx="2302920" cy="1255680"/>
          </a:xfrm>
          <a:custGeom>
            <a:avLst/>
            <a:gdLst/>
            <a:ahLst/>
            <a:rect l="0" t="0" r="r" b="b"/>
            <a:pathLst>
              <a:path w="6397" h="3488">
                <a:moveTo>
                  <a:pt x="3199" y="3488"/>
                </a:moveTo>
                <a:lnTo>
                  <a:pt x="6027" y="3488"/>
                </a:lnTo>
                <a:cubicBezTo>
                  <a:pt x="6231" y="3488"/>
                  <a:pt x="6397" y="3322"/>
                  <a:pt x="6397" y="3118"/>
                </a:cubicBezTo>
                <a:lnTo>
                  <a:pt x="6397" y="370"/>
                </a:lnTo>
                <a:cubicBezTo>
                  <a:pt x="6397" y="166"/>
                  <a:pt x="6231" y="0"/>
                  <a:pt x="6027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5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449320" y="879840"/>
            <a:ext cx="2302920" cy="1255680"/>
          </a:xfrm>
          <a:custGeom>
            <a:avLst/>
            <a:gdLst/>
            <a:ahLst/>
            <a:rect l="0" t="0" r="r" b="b"/>
            <a:pathLst>
              <a:path w="6397" h="3488">
                <a:moveTo>
                  <a:pt x="3199" y="3488"/>
                </a:moveTo>
                <a:lnTo>
                  <a:pt x="6027" y="3488"/>
                </a:lnTo>
                <a:cubicBezTo>
                  <a:pt x="6231" y="3488"/>
                  <a:pt x="6397" y="3322"/>
                  <a:pt x="6397" y="3118"/>
                </a:cubicBezTo>
                <a:lnTo>
                  <a:pt x="6397" y="370"/>
                </a:lnTo>
                <a:cubicBezTo>
                  <a:pt x="6397" y="166"/>
                  <a:pt x="6231" y="0"/>
                  <a:pt x="6027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5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682240" y="101772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3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139440" y="1303200"/>
            <a:ext cx="95112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METRIC OR</a:t>
            </a:r>
            <a:endParaRPr b="1" lang="en-US" sz="12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158160" y="1512360"/>
            <a:ext cx="893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ESTIMATE</a:t>
            </a:r>
            <a:endParaRPr b="1" lang="en-US" sz="13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67920" y="1807200"/>
            <a:ext cx="16120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rule applied to observations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8037720" y="879840"/>
            <a:ext cx="2303640" cy="1255680"/>
          </a:xfrm>
          <a:custGeom>
            <a:avLst/>
            <a:gdLst/>
            <a:ahLst/>
            <a:rect l="0" t="0" r="r" b="b"/>
            <a:pathLst>
              <a:path w="6399" h="3488">
                <a:moveTo>
                  <a:pt x="3200" y="3488"/>
                </a:moveTo>
                <a:lnTo>
                  <a:pt x="6029" y="3488"/>
                </a:lnTo>
                <a:cubicBezTo>
                  <a:pt x="6233" y="3488"/>
                  <a:pt x="6399" y="3322"/>
                  <a:pt x="6399" y="3118"/>
                </a:cubicBezTo>
                <a:lnTo>
                  <a:pt x="6399" y="370"/>
                </a:lnTo>
                <a:cubicBezTo>
                  <a:pt x="6399" y="166"/>
                  <a:pt x="6233" y="0"/>
                  <a:pt x="602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200" y="3488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037720" y="879840"/>
            <a:ext cx="2303640" cy="1255680"/>
          </a:xfrm>
          <a:custGeom>
            <a:avLst/>
            <a:gdLst/>
            <a:ahLst/>
            <a:rect l="0" t="0" r="r" b="b"/>
            <a:pathLst>
              <a:path w="6399" h="3488">
                <a:moveTo>
                  <a:pt x="3200" y="3488"/>
                </a:moveTo>
                <a:lnTo>
                  <a:pt x="6029" y="3488"/>
                </a:lnTo>
                <a:cubicBezTo>
                  <a:pt x="6233" y="3488"/>
                  <a:pt x="6399" y="3322"/>
                  <a:pt x="6399" y="3118"/>
                </a:cubicBezTo>
                <a:lnTo>
                  <a:pt x="6399" y="370"/>
                </a:lnTo>
                <a:cubicBezTo>
                  <a:pt x="6399" y="166"/>
                  <a:pt x="6233" y="0"/>
                  <a:pt x="602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200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271000" y="101772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4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508960" y="1303200"/>
            <a:ext cx="13986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COMPARISON OR</a:t>
            </a:r>
            <a:endParaRPr b="1" lang="en-US" sz="12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689680" y="1512360"/>
            <a:ext cx="1008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INFERENCE</a:t>
            </a:r>
            <a:endParaRPr b="1" lang="en-US" sz="13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470800" y="1807200"/>
            <a:ext cx="140760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reference + assumptions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0626840" y="879840"/>
            <a:ext cx="2303280" cy="1255680"/>
          </a:xfrm>
          <a:custGeom>
            <a:avLst/>
            <a:gdLst/>
            <a:ahLst/>
            <a:rect l="0" t="0" r="r" b="b"/>
            <a:pathLst>
              <a:path w="6398" h="3488">
                <a:moveTo>
                  <a:pt x="3199" y="3488"/>
                </a:moveTo>
                <a:lnTo>
                  <a:pt x="6028" y="3488"/>
                </a:lnTo>
                <a:cubicBezTo>
                  <a:pt x="6233" y="3488"/>
                  <a:pt x="6398" y="3322"/>
                  <a:pt x="6398" y="3118"/>
                </a:cubicBezTo>
                <a:lnTo>
                  <a:pt x="6398" y="370"/>
                </a:lnTo>
                <a:cubicBezTo>
                  <a:pt x="6398" y="166"/>
                  <a:pt x="6233" y="0"/>
                  <a:pt x="602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0626840" y="879840"/>
            <a:ext cx="2303280" cy="1255680"/>
          </a:xfrm>
          <a:custGeom>
            <a:avLst/>
            <a:gdLst/>
            <a:ahLst/>
            <a:rect l="0" t="0" r="r" b="b"/>
            <a:pathLst>
              <a:path w="6398" h="3488">
                <a:moveTo>
                  <a:pt x="3199" y="3488"/>
                </a:moveTo>
                <a:lnTo>
                  <a:pt x="6028" y="3488"/>
                </a:lnTo>
                <a:cubicBezTo>
                  <a:pt x="6233" y="3488"/>
                  <a:pt x="6398" y="3322"/>
                  <a:pt x="6398" y="3118"/>
                </a:cubicBezTo>
                <a:lnTo>
                  <a:pt x="6398" y="370"/>
                </a:lnTo>
                <a:cubicBezTo>
                  <a:pt x="6398" y="166"/>
                  <a:pt x="6233" y="0"/>
                  <a:pt x="602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8"/>
                </a:lnTo>
                <a:cubicBezTo>
                  <a:pt x="0" y="3322"/>
                  <a:pt x="166" y="3488"/>
                  <a:pt x="370" y="3488"/>
                </a:cubicBezTo>
                <a:lnTo>
                  <a:pt x="3199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860120" y="101772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5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1297880" y="1350720"/>
            <a:ext cx="1008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EVIDENCE</a:t>
            </a:r>
            <a:endParaRPr b="1" lang="en-US" sz="15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278800" y="1712160"/>
            <a:ext cx="1020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bears on a claim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612880" y="1507680"/>
            <a:ext cx="18072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45088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201640" y="1507680"/>
            <a:ext cx="18108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040000" y="131760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040000" y="131760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790400" y="1507680"/>
            <a:ext cx="18072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62840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62840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62840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0379160" y="1507680"/>
            <a:ext cx="18108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021752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021752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021752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0217520" y="131760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8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1378880" y="2173680"/>
            <a:ext cx="399600" cy="922680"/>
          </a:xfrm>
          <a:custGeom>
            <a:avLst/>
            <a:gdLst/>
            <a:ahLst/>
            <a:rect l="0" t="0" r="r" b="b"/>
            <a:pathLst>
              <a:path fill="none" w="1110" h="2563">
                <a:moveTo>
                  <a:pt x="1110" y="0"/>
                </a:moveTo>
                <a:cubicBezTo>
                  <a:pt x="1110" y="1109"/>
                  <a:pt x="0" y="1744"/>
                  <a:pt x="0" y="2563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1188440" y="275364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0"/>
                </a:moveTo>
                <a:lnTo>
                  <a:pt x="529" y="1057"/>
                </a:lnTo>
                <a:lnTo>
                  <a:pt x="0" y="0"/>
                </a:lnTo>
                <a:lnTo>
                  <a:pt x="105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1188440" y="275364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0"/>
                </a:moveTo>
                <a:lnTo>
                  <a:pt x="529" y="1057"/>
                </a:lnTo>
                <a:lnTo>
                  <a:pt x="0" y="0"/>
                </a:lnTo>
                <a:lnTo>
                  <a:pt x="105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1188440" y="275364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0"/>
                </a:moveTo>
                <a:lnTo>
                  <a:pt x="529" y="1057"/>
                </a:lnTo>
                <a:lnTo>
                  <a:pt x="0" y="0"/>
                </a:lnTo>
                <a:lnTo>
                  <a:pt x="105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1188440" y="275364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0"/>
                </a:moveTo>
                <a:lnTo>
                  <a:pt x="529" y="1057"/>
                </a:lnTo>
                <a:lnTo>
                  <a:pt x="0" y="0"/>
                </a:lnTo>
                <a:lnTo>
                  <a:pt x="105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1188440" y="275364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0"/>
                </a:moveTo>
                <a:lnTo>
                  <a:pt x="529" y="1057"/>
                </a:lnTo>
                <a:lnTo>
                  <a:pt x="0" y="0"/>
                </a:lnTo>
                <a:lnTo>
                  <a:pt x="105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009368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70" y="3487"/>
                </a:moveTo>
                <a:lnTo>
                  <a:pt x="6769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70" y="3487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009368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70" y="3487"/>
                </a:moveTo>
                <a:lnTo>
                  <a:pt x="6769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70" y="3487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326960" y="347148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6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545840" y="3804480"/>
            <a:ext cx="1708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INTERPRETATION</a:t>
            </a:r>
            <a:endParaRPr b="1" lang="en-US" sz="15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564920" y="4165920"/>
            <a:ext cx="1676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meaning under alternatives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048080" y="3333960"/>
            <a:ext cx="2569680" cy="1255320"/>
          </a:xfrm>
          <a:custGeom>
            <a:avLst/>
            <a:gdLst/>
            <a:ahLst/>
            <a:rect l="0" t="0" r="r" b="b"/>
            <a:pathLst>
              <a:path w="7138" h="3487">
                <a:moveTo>
                  <a:pt x="3569" y="3487"/>
                </a:moveTo>
                <a:lnTo>
                  <a:pt x="6768" y="3487"/>
                </a:lnTo>
                <a:cubicBezTo>
                  <a:pt x="6973" y="3487"/>
                  <a:pt x="7138" y="3322"/>
                  <a:pt x="7138" y="3117"/>
                </a:cubicBezTo>
                <a:lnTo>
                  <a:pt x="7138" y="370"/>
                </a:lnTo>
                <a:cubicBezTo>
                  <a:pt x="7138" y="166"/>
                  <a:pt x="6973" y="0"/>
                  <a:pt x="676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5" y="3487"/>
                  <a:pt x="370" y="3487"/>
                </a:cubicBezTo>
                <a:lnTo>
                  <a:pt x="3569" y="3487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048080" y="3333960"/>
            <a:ext cx="2569680" cy="1255320"/>
          </a:xfrm>
          <a:custGeom>
            <a:avLst/>
            <a:gdLst/>
            <a:ahLst/>
            <a:rect l="0" t="0" r="r" b="b"/>
            <a:pathLst>
              <a:path w="7138" h="3487">
                <a:moveTo>
                  <a:pt x="3569" y="3487"/>
                </a:moveTo>
                <a:lnTo>
                  <a:pt x="6768" y="3487"/>
                </a:lnTo>
                <a:cubicBezTo>
                  <a:pt x="6973" y="3487"/>
                  <a:pt x="7138" y="3322"/>
                  <a:pt x="7138" y="3117"/>
                </a:cubicBezTo>
                <a:lnTo>
                  <a:pt x="7138" y="370"/>
                </a:lnTo>
                <a:cubicBezTo>
                  <a:pt x="7138" y="166"/>
                  <a:pt x="6973" y="0"/>
                  <a:pt x="676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5" y="3487"/>
                  <a:pt x="370" y="3487"/>
                </a:cubicBezTo>
                <a:lnTo>
                  <a:pt x="3569" y="3487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281000" y="347148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7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452360" y="3804480"/>
            <a:ext cx="1798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CLAIM BOUNDARY</a:t>
            </a:r>
            <a:endParaRPr b="1" lang="en-US" sz="15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452360" y="4165920"/>
            <a:ext cx="1800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uncertainty + excluded scope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400248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69" y="3487"/>
                </a:moveTo>
                <a:lnTo>
                  <a:pt x="6768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69" y="3487"/>
                </a:lnTo>
                <a:close/>
              </a:path>
            </a:pathLst>
          </a:custGeom>
          <a:solidFill>
            <a:srgbClr val="dce7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00248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69" y="3487"/>
                </a:moveTo>
                <a:lnTo>
                  <a:pt x="6768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69" y="3487"/>
                </a:lnTo>
                <a:close/>
              </a:path>
            </a:pathLst>
          </a:custGeom>
          <a:noFill/>
          <a:ln w="28440">
            <a:solidFill>
              <a:srgbClr val="476b4f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235760" y="347148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8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483080" y="3804480"/>
            <a:ext cx="1657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31523a"/>
                </a:solidFill>
                <a:effectLst/>
                <a:uFillTx/>
                <a:latin typeface="Times New Roman"/>
              </a:rPr>
              <a:t>BOUNDED CLAIM</a:t>
            </a:r>
            <a:endParaRPr b="1" lang="en-US" sz="1500" strike="noStrike" u="none">
              <a:solidFill>
                <a:srgbClr val="31523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416480" y="4165920"/>
            <a:ext cx="1789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strongest warranted sentence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5652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70" y="3487"/>
                </a:moveTo>
                <a:lnTo>
                  <a:pt x="6769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70" y="3487"/>
                </a:lnTo>
                <a:close/>
              </a:path>
            </a:pathLst>
          </a:custGeom>
          <a:solidFill>
            <a:srgbClr val="dce7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56520" y="3333960"/>
            <a:ext cx="2570040" cy="1255320"/>
          </a:xfrm>
          <a:custGeom>
            <a:avLst/>
            <a:gdLst/>
            <a:ahLst/>
            <a:rect l="0" t="0" r="r" b="b"/>
            <a:pathLst>
              <a:path w="7139" h="3487">
                <a:moveTo>
                  <a:pt x="3570" y="3487"/>
                </a:moveTo>
                <a:lnTo>
                  <a:pt x="6769" y="3487"/>
                </a:lnTo>
                <a:cubicBezTo>
                  <a:pt x="6973" y="3487"/>
                  <a:pt x="7139" y="3322"/>
                  <a:pt x="7139" y="3117"/>
                </a:cubicBezTo>
                <a:lnTo>
                  <a:pt x="7139" y="370"/>
                </a:lnTo>
                <a:cubicBezTo>
                  <a:pt x="7139" y="166"/>
                  <a:pt x="6973" y="0"/>
                  <a:pt x="6769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3117"/>
                </a:lnTo>
                <a:cubicBezTo>
                  <a:pt x="0" y="3322"/>
                  <a:pt x="166" y="3487"/>
                  <a:pt x="370" y="3487"/>
                </a:cubicBezTo>
                <a:lnTo>
                  <a:pt x="3570" y="3487"/>
                </a:lnTo>
                <a:close/>
              </a:path>
            </a:pathLst>
          </a:custGeom>
          <a:noFill/>
          <a:ln w="28440">
            <a:solidFill>
              <a:srgbClr val="476b4f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89800" y="3471480"/>
            <a:ext cx="86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9</a:t>
            </a:r>
            <a:endParaRPr b="1" lang="en-US" sz="135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503720" y="3804480"/>
            <a:ext cx="15145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31523a"/>
                </a:solidFill>
                <a:effectLst/>
                <a:uFillTx/>
                <a:latin typeface="Times New Roman"/>
              </a:rPr>
              <a:t>CONTRIBUTION</a:t>
            </a:r>
            <a:endParaRPr b="1" lang="en-US" sz="1500" strike="noStrike" u="none">
              <a:solidFill>
                <a:srgbClr val="31523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522800" y="4165920"/>
            <a:ext cx="1476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what remains defensible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7" name=""/>
          <p:cNvSpPr/>
          <p:nvPr/>
        </p:nvSpPr>
        <p:spPr>
          <a:xfrm flipH="1">
            <a:off x="9684360" y="3961440"/>
            <a:ext cx="37152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6465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6639120" y="3961440"/>
            <a:ext cx="37080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600960" y="37713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1057" y="1057"/>
                </a:moveTo>
                <a:lnTo>
                  <a:pt x="0" y="528"/>
                </a:lnTo>
                <a:lnTo>
                  <a:pt x="1057" y="0"/>
                </a:lnTo>
                <a:lnTo>
                  <a:pt x="1057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H="1">
            <a:off x="3593160" y="3961440"/>
            <a:ext cx="371160" cy="0"/>
          </a:xfrm>
          <a:prstGeom prst="line">
            <a:avLst/>
          </a:prstGeom>
          <a:ln w="381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555000" y="37713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1058" y="1057"/>
                </a:moveTo>
                <a:lnTo>
                  <a:pt x="0" y="528"/>
                </a:lnTo>
                <a:lnTo>
                  <a:pt x="1058" y="0"/>
                </a:lnTo>
                <a:lnTo>
                  <a:pt x="1058" y="105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193840" y="5283720"/>
            <a:ext cx="8947080" cy="875160"/>
          </a:xfrm>
          <a:custGeom>
            <a:avLst/>
            <a:gdLst/>
            <a:ahLst/>
            <a:rect l="0" t="0" r="r" b="b"/>
            <a:pathLst>
              <a:path w="24853" h="2431">
                <a:moveTo>
                  <a:pt x="12427" y="2431"/>
                </a:moveTo>
                <a:lnTo>
                  <a:pt x="24377" y="2431"/>
                </a:lnTo>
                <a:cubicBezTo>
                  <a:pt x="24640" y="2431"/>
                  <a:pt x="24853" y="2218"/>
                  <a:pt x="24853" y="1955"/>
                </a:cubicBezTo>
                <a:lnTo>
                  <a:pt x="24853" y="476"/>
                </a:lnTo>
                <a:cubicBezTo>
                  <a:pt x="24853" y="213"/>
                  <a:pt x="24640" y="0"/>
                  <a:pt x="2437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1955"/>
                </a:lnTo>
                <a:cubicBezTo>
                  <a:pt x="0" y="2218"/>
                  <a:pt x="213" y="2431"/>
                  <a:pt x="476" y="2431"/>
                </a:cubicBezTo>
                <a:lnTo>
                  <a:pt x="12427" y="2431"/>
                </a:lnTo>
                <a:close/>
              </a:path>
            </a:pathLst>
          </a:custGeom>
          <a:solidFill>
            <a:srgbClr val="fff1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193840" y="5283720"/>
            <a:ext cx="8947080" cy="875160"/>
          </a:xfrm>
          <a:custGeom>
            <a:avLst/>
            <a:gdLst/>
            <a:ahLst/>
            <a:rect l="0" t="0" r="r" b="b"/>
            <a:pathLst>
              <a:path w="24853" h="2431">
                <a:moveTo>
                  <a:pt x="12427" y="2431"/>
                </a:moveTo>
                <a:lnTo>
                  <a:pt x="24377" y="2431"/>
                </a:lnTo>
                <a:cubicBezTo>
                  <a:pt x="24640" y="2431"/>
                  <a:pt x="24853" y="2218"/>
                  <a:pt x="24853" y="1955"/>
                </a:cubicBezTo>
                <a:lnTo>
                  <a:pt x="24853" y="476"/>
                </a:lnTo>
                <a:cubicBezTo>
                  <a:pt x="24853" y="213"/>
                  <a:pt x="24640" y="0"/>
                  <a:pt x="2437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1955"/>
                </a:lnTo>
                <a:cubicBezTo>
                  <a:pt x="0" y="2218"/>
                  <a:pt x="213" y="2431"/>
                  <a:pt x="476" y="2431"/>
                </a:cubicBezTo>
                <a:lnTo>
                  <a:pt x="12427" y="2431"/>
                </a:lnTo>
                <a:close/>
              </a:path>
            </a:pathLst>
          </a:custGeom>
          <a:noFill/>
          <a:ln w="38160">
            <a:solidFill>
              <a:srgbClr val="9b3b2f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206680" y="5431320"/>
            <a:ext cx="29498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FORBIDDEN SHORTCUTS</a:t>
            </a:r>
            <a:endParaRPr b="1" lang="en-US" sz="187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673520" y="5773680"/>
            <a:ext cx="3968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accepted output → claim | metric → contribution</a:t>
            </a:r>
            <a:endParaRPr b="0" i="1" lang="en-US" sz="157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521880" y="6544080"/>
            <a:ext cx="627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c6078"/>
                </a:solidFill>
                <a:effectLst/>
                <a:uFillTx/>
                <a:latin typeface="Times New Roman"/>
              </a:rPr>
              <a:t>conditions · uncertainty · alternatives · excluded scope govern every transition</a:t>
            </a:r>
            <a:endParaRPr b="0" i="1" lang="en-US" sz="1570" strike="noStrike" u="none">
              <a:solidFill>
                <a:srgbClr val="4c6078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2026-08-19T10:49:57Z</dcterms:created>
  <dc:creator>Antonio Clim and Martino Aldrigo</dc:creator>
  <dc:description>Nine numbered boxes form a compressed, snake-shaped evidence-to-claim ladder: executed output, observation, metric or estimate, comparison or inference, evidence, interpretation, claim boundary, bounded claim and contribution. A red panel prohibits direct jumps from output to claim and from metric to contribution. The figure states that conditions, uncertainty, alternatives and excluded scope govern every transition. Native-object PPTX generated from the canonical SVG; all text, boxes, lines, arrows and colours remain separately editable.</dc:description>
  <dc:language>en-US</dc:language>
  <cp:lastModifiedBy/>
  <dcterms:modified xsi:type="dcterms:W3CDTF">2026-08-19T10:49:58Z</dcterms:modified>
  <cp:revision>1</cp:revision>
  <dc:subject>Fully editable native drawing objects</dc:subject>
  <dc:title>Figure 6.1. The compressed evidence-to-claim ladder and forbidden shortcuts</dc:title>
</cp:coreProperties>
</file>