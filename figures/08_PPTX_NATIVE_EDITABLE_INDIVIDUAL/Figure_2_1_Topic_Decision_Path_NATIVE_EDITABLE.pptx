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7145000" cy="5905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EA7F5C-0187-4F3A-A3D5-CD1E1F0F59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BB67ED-822F-4F77-BFFE-DDA308FFD91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7135640" cy="5896080"/>
          </a:xfrm>
          <a:custGeom>
            <a:avLst/>
            <a:gdLst/>
            <a:ahLst/>
            <a:rect l="0" t="0" r="r" b="b"/>
            <a:pathLst>
              <a:path w="47599" h="16378">
                <a:moveTo>
                  <a:pt x="0" y="0"/>
                </a:moveTo>
                <a:lnTo>
                  <a:pt x="47599" y="0"/>
                </a:lnTo>
                <a:lnTo>
                  <a:pt x="47599" y="16378"/>
                </a:lnTo>
                <a:lnTo>
                  <a:pt x="0" y="163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863760" y="114120"/>
            <a:ext cx="3445920" cy="34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evidence-tested commitment</a:t>
            </a:r>
            <a:endParaRPr b="0" i="1" lang="en-US" sz="2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24264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6" y="4359"/>
                </a:moveTo>
                <a:lnTo>
                  <a:pt x="6188" y="4359"/>
                </a:lnTo>
                <a:cubicBezTo>
                  <a:pt x="6422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2" y="0"/>
                  <a:pt x="6188" y="0"/>
                </a:cubicBezTo>
                <a:lnTo>
                  <a:pt x="423" y="0"/>
                </a:lnTo>
                <a:cubicBezTo>
                  <a:pt x="190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90" y="4359"/>
                  <a:pt x="423" y="4359"/>
                </a:cubicBezTo>
                <a:lnTo>
                  <a:pt x="3306" y="4359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4264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6" y="4359"/>
                </a:moveTo>
                <a:lnTo>
                  <a:pt x="6188" y="4359"/>
                </a:lnTo>
                <a:cubicBezTo>
                  <a:pt x="6422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2" y="0"/>
                  <a:pt x="6188" y="0"/>
                </a:cubicBezTo>
                <a:lnTo>
                  <a:pt x="423" y="0"/>
                </a:lnTo>
                <a:cubicBezTo>
                  <a:pt x="190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90" y="4359"/>
                  <a:pt x="423" y="4359"/>
                </a:cubicBezTo>
                <a:lnTo>
                  <a:pt x="3306" y="4359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61600" y="1045800"/>
            <a:ext cx="177048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CANDIDATE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990000" y="1540440"/>
            <a:ext cx="9039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IDEAS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698920" y="1455120"/>
            <a:ext cx="21888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44188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04164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5" y="4359"/>
                </a:moveTo>
                <a:lnTo>
                  <a:pt x="6188" y="4359"/>
                </a:lnTo>
                <a:cubicBezTo>
                  <a:pt x="6421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1" y="0"/>
                  <a:pt x="6188" y="0"/>
                </a:cubicBezTo>
                <a:lnTo>
                  <a:pt x="423" y="0"/>
                </a:lnTo>
                <a:cubicBezTo>
                  <a:pt x="189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89" y="4359"/>
                  <a:pt x="423" y="4359"/>
                </a:cubicBezTo>
                <a:lnTo>
                  <a:pt x="3305" y="4359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04164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5" y="4359"/>
                </a:moveTo>
                <a:lnTo>
                  <a:pt x="6188" y="4359"/>
                </a:lnTo>
                <a:cubicBezTo>
                  <a:pt x="6421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1" y="0"/>
                  <a:pt x="6188" y="0"/>
                </a:cubicBezTo>
                <a:lnTo>
                  <a:pt x="423" y="0"/>
                </a:lnTo>
                <a:cubicBezTo>
                  <a:pt x="189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89" y="4359"/>
                  <a:pt x="423" y="4359"/>
                </a:cubicBezTo>
                <a:lnTo>
                  <a:pt x="3305" y="4359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779280" y="1045800"/>
            <a:ext cx="93240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TOPIC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46080" y="1540440"/>
            <a:ext cx="11991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SCREEN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5497560" y="1455120"/>
            <a:ext cx="21888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240520" y="116964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0" y="0"/>
                </a:moveTo>
                <a:lnTo>
                  <a:pt x="1587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240520" y="116964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0" y="0"/>
                </a:moveTo>
                <a:lnTo>
                  <a:pt x="1587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84028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6" y="4359"/>
                </a:moveTo>
                <a:lnTo>
                  <a:pt x="6188" y="4359"/>
                </a:lnTo>
                <a:cubicBezTo>
                  <a:pt x="6422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2" y="0"/>
                  <a:pt x="6188" y="0"/>
                </a:cubicBezTo>
                <a:lnTo>
                  <a:pt x="423" y="0"/>
                </a:lnTo>
                <a:cubicBezTo>
                  <a:pt x="190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90" y="4359"/>
                  <a:pt x="423" y="4359"/>
                </a:cubicBezTo>
                <a:lnTo>
                  <a:pt x="3306" y="4359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84028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6" y="4359"/>
                </a:moveTo>
                <a:lnTo>
                  <a:pt x="6188" y="4359"/>
                </a:lnTo>
                <a:cubicBezTo>
                  <a:pt x="6422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2" y="0"/>
                  <a:pt x="6188" y="0"/>
                </a:cubicBezTo>
                <a:lnTo>
                  <a:pt x="423" y="0"/>
                </a:lnTo>
                <a:cubicBezTo>
                  <a:pt x="190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90" y="4359"/>
                  <a:pt x="423" y="4359"/>
                </a:cubicBezTo>
                <a:lnTo>
                  <a:pt x="3306" y="4359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549480" y="1045800"/>
            <a:ext cx="9813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SCOPE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501960" y="1540440"/>
            <a:ext cx="108504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FRAME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8296560" y="1455120"/>
            <a:ext cx="21888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803952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03952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03952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863928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5" y="4359"/>
                </a:moveTo>
                <a:lnTo>
                  <a:pt x="6187" y="4359"/>
                </a:lnTo>
                <a:cubicBezTo>
                  <a:pt x="6421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1" y="0"/>
                  <a:pt x="6187" y="0"/>
                </a:cubicBezTo>
                <a:lnTo>
                  <a:pt x="423" y="0"/>
                </a:lnTo>
                <a:cubicBezTo>
                  <a:pt x="189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89" y="4359"/>
                  <a:pt x="423" y="4359"/>
                </a:cubicBezTo>
                <a:lnTo>
                  <a:pt x="3305" y="4359"/>
                </a:lnTo>
                <a:close/>
              </a:path>
            </a:pathLst>
          </a:custGeom>
          <a:solidFill>
            <a:srgbClr val="e2e2e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63928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5" y="4359"/>
                </a:moveTo>
                <a:lnTo>
                  <a:pt x="6187" y="4359"/>
                </a:lnTo>
                <a:cubicBezTo>
                  <a:pt x="6421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1" y="0"/>
                  <a:pt x="6187" y="0"/>
                </a:cubicBezTo>
                <a:lnTo>
                  <a:pt x="423" y="0"/>
                </a:lnTo>
                <a:cubicBezTo>
                  <a:pt x="189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89" y="4359"/>
                  <a:pt x="423" y="4359"/>
                </a:cubicBezTo>
                <a:lnTo>
                  <a:pt x="3305" y="4359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9100800" y="1045800"/>
            <a:ext cx="147528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CRITICAL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453240" y="1540440"/>
            <a:ext cx="7527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TEST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1095200" y="1455120"/>
            <a:ext cx="21888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0838160" y="116964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0" y="0"/>
                </a:moveTo>
                <a:lnTo>
                  <a:pt x="1587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0838160" y="116964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0" y="0"/>
                </a:moveTo>
                <a:lnTo>
                  <a:pt x="1587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0838160" y="116964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0" y="0"/>
                </a:moveTo>
                <a:lnTo>
                  <a:pt x="1587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0838160" y="116964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0" y="0"/>
                </a:moveTo>
                <a:lnTo>
                  <a:pt x="1587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143792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5" y="4359"/>
                </a:moveTo>
                <a:lnTo>
                  <a:pt x="6188" y="4359"/>
                </a:lnTo>
                <a:cubicBezTo>
                  <a:pt x="6422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2" y="0"/>
                  <a:pt x="6188" y="0"/>
                </a:cubicBezTo>
                <a:lnTo>
                  <a:pt x="423" y="0"/>
                </a:lnTo>
                <a:cubicBezTo>
                  <a:pt x="189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89" y="4359"/>
                  <a:pt x="423" y="4359"/>
                </a:cubicBezTo>
                <a:lnTo>
                  <a:pt x="3305" y="4359"/>
                </a:lnTo>
                <a:close/>
              </a:path>
            </a:pathLst>
          </a:custGeom>
          <a:solidFill>
            <a:srgbClr val="dcdcd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143792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5" y="4359"/>
                </a:moveTo>
                <a:lnTo>
                  <a:pt x="6188" y="4359"/>
                </a:lnTo>
                <a:cubicBezTo>
                  <a:pt x="6422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2" y="0"/>
                  <a:pt x="6188" y="0"/>
                </a:cubicBezTo>
                <a:lnTo>
                  <a:pt x="423" y="0"/>
                </a:lnTo>
                <a:cubicBezTo>
                  <a:pt x="189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89" y="4359"/>
                  <a:pt x="423" y="4359"/>
                </a:cubicBezTo>
                <a:lnTo>
                  <a:pt x="3305" y="4359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1795040" y="1045800"/>
            <a:ext cx="16941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RECORDED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909160" y="1540440"/>
            <a:ext cx="145620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DECISION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3893840" y="1455120"/>
            <a:ext cx="21924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363716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363716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363716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363716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3637160" y="1169640"/>
            <a:ext cx="570960" cy="570600"/>
          </a:xfrm>
          <a:custGeom>
            <a:avLst/>
            <a:gdLst/>
            <a:ahLst/>
            <a:rect l="0" t="0" r="r" b="b"/>
            <a:pathLst>
              <a:path w="1586" h="1585">
                <a:moveTo>
                  <a:pt x="0" y="0"/>
                </a:moveTo>
                <a:lnTo>
                  <a:pt x="1586" y="793"/>
                </a:lnTo>
                <a:lnTo>
                  <a:pt x="0" y="1585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423656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6" y="4359"/>
                </a:moveTo>
                <a:lnTo>
                  <a:pt x="6188" y="4359"/>
                </a:lnTo>
                <a:cubicBezTo>
                  <a:pt x="6422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2" y="0"/>
                  <a:pt x="6188" y="0"/>
                </a:cubicBezTo>
                <a:lnTo>
                  <a:pt x="424" y="0"/>
                </a:lnTo>
                <a:cubicBezTo>
                  <a:pt x="190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90" y="4359"/>
                  <a:pt x="424" y="4359"/>
                </a:cubicBezTo>
                <a:lnTo>
                  <a:pt x="3306" y="4359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4236560" y="670320"/>
            <a:ext cx="2379960" cy="1569240"/>
          </a:xfrm>
          <a:custGeom>
            <a:avLst/>
            <a:gdLst/>
            <a:ahLst/>
            <a:rect l="0" t="0" r="r" b="b"/>
            <a:pathLst>
              <a:path w="6611" h="4359">
                <a:moveTo>
                  <a:pt x="3306" y="4359"/>
                </a:moveTo>
                <a:lnTo>
                  <a:pt x="6188" y="4359"/>
                </a:lnTo>
                <a:cubicBezTo>
                  <a:pt x="6422" y="4359"/>
                  <a:pt x="6611" y="4170"/>
                  <a:pt x="6611" y="3936"/>
                </a:cubicBezTo>
                <a:lnTo>
                  <a:pt x="6611" y="423"/>
                </a:lnTo>
                <a:cubicBezTo>
                  <a:pt x="6611" y="190"/>
                  <a:pt x="6422" y="0"/>
                  <a:pt x="6188" y="0"/>
                </a:cubicBezTo>
                <a:lnTo>
                  <a:pt x="424" y="0"/>
                </a:lnTo>
                <a:cubicBezTo>
                  <a:pt x="190" y="0"/>
                  <a:pt x="0" y="190"/>
                  <a:pt x="0" y="423"/>
                </a:cubicBezTo>
                <a:lnTo>
                  <a:pt x="0" y="3936"/>
                </a:lnTo>
                <a:cubicBezTo>
                  <a:pt x="0" y="4170"/>
                  <a:pt x="190" y="4359"/>
                  <a:pt x="424" y="4359"/>
                </a:cubicBezTo>
                <a:lnTo>
                  <a:pt x="3306" y="4359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4689080" y="1045800"/>
            <a:ext cx="14943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PROBLEM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5022080" y="1540440"/>
            <a:ext cx="81828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2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2627720" y="2343960"/>
            <a:ext cx="0" cy="43776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2342240" y="230616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1587" y="0"/>
                </a:moveTo>
                <a:lnTo>
                  <a:pt x="793" y="1585"/>
                </a:lnTo>
                <a:lnTo>
                  <a:pt x="0" y="0"/>
                </a:lnTo>
                <a:lnTo>
                  <a:pt x="1587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2342240" y="230616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1587" y="0"/>
                </a:moveTo>
                <a:lnTo>
                  <a:pt x="793" y="1585"/>
                </a:lnTo>
                <a:lnTo>
                  <a:pt x="0" y="0"/>
                </a:lnTo>
                <a:lnTo>
                  <a:pt x="1587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2342240" y="230616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1587" y="0"/>
                </a:moveTo>
                <a:lnTo>
                  <a:pt x="793" y="1585"/>
                </a:lnTo>
                <a:lnTo>
                  <a:pt x="0" y="0"/>
                </a:lnTo>
                <a:lnTo>
                  <a:pt x="1587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2342240" y="230616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1587" y="0"/>
                </a:moveTo>
                <a:lnTo>
                  <a:pt x="793" y="1585"/>
                </a:lnTo>
                <a:lnTo>
                  <a:pt x="0" y="0"/>
                </a:lnTo>
                <a:lnTo>
                  <a:pt x="1587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2342240" y="230616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1587" y="0"/>
                </a:moveTo>
                <a:lnTo>
                  <a:pt x="793" y="1585"/>
                </a:lnTo>
                <a:lnTo>
                  <a:pt x="0" y="0"/>
                </a:lnTo>
                <a:lnTo>
                  <a:pt x="1587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2342240" y="2306160"/>
            <a:ext cx="571320" cy="570600"/>
          </a:xfrm>
          <a:custGeom>
            <a:avLst/>
            <a:gdLst/>
            <a:ahLst/>
            <a:rect l="0" t="0" r="r" b="b"/>
            <a:pathLst>
              <a:path w="1587" h="1585">
                <a:moveTo>
                  <a:pt x="1587" y="0"/>
                </a:moveTo>
                <a:lnTo>
                  <a:pt x="793" y="1585"/>
                </a:lnTo>
                <a:lnTo>
                  <a:pt x="0" y="0"/>
                </a:lnTo>
                <a:lnTo>
                  <a:pt x="1587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714960" y="2952720"/>
            <a:ext cx="6330600" cy="951120"/>
          </a:xfrm>
          <a:custGeom>
            <a:avLst/>
            <a:gdLst/>
            <a:ahLst/>
            <a:rect l="0" t="0" r="r" b="b"/>
            <a:pathLst>
              <a:path w="17585" h="2642">
                <a:moveTo>
                  <a:pt x="8792" y="2642"/>
                </a:moveTo>
                <a:lnTo>
                  <a:pt x="17162" y="2642"/>
                </a:lnTo>
                <a:cubicBezTo>
                  <a:pt x="17395" y="2642"/>
                  <a:pt x="17585" y="2452"/>
                  <a:pt x="17585" y="2219"/>
                </a:cubicBezTo>
                <a:lnTo>
                  <a:pt x="17585" y="423"/>
                </a:lnTo>
                <a:cubicBezTo>
                  <a:pt x="17585" y="189"/>
                  <a:pt x="17395" y="0"/>
                  <a:pt x="17162" y="0"/>
                </a:cubicBezTo>
                <a:lnTo>
                  <a:pt x="423" y="0"/>
                </a:lnTo>
                <a:cubicBezTo>
                  <a:pt x="189" y="0"/>
                  <a:pt x="0" y="189"/>
                  <a:pt x="0" y="423"/>
                </a:cubicBezTo>
                <a:lnTo>
                  <a:pt x="0" y="2219"/>
                </a:lnTo>
                <a:cubicBezTo>
                  <a:pt x="0" y="2452"/>
                  <a:pt x="189" y="2642"/>
                  <a:pt x="423" y="2642"/>
                </a:cubicBezTo>
                <a:lnTo>
                  <a:pt x="8792" y="2642"/>
                </a:lnTo>
                <a:close/>
              </a:path>
            </a:pathLst>
          </a:custGeom>
          <a:solidFill>
            <a:srgbClr val="f6f6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714960" y="2952720"/>
            <a:ext cx="6330600" cy="951120"/>
          </a:xfrm>
          <a:custGeom>
            <a:avLst/>
            <a:gdLst/>
            <a:ahLst/>
            <a:rect l="0" t="0" r="r" b="b"/>
            <a:pathLst>
              <a:path w="17585" h="2642">
                <a:moveTo>
                  <a:pt x="8792" y="2642"/>
                </a:moveTo>
                <a:lnTo>
                  <a:pt x="17162" y="2642"/>
                </a:lnTo>
                <a:cubicBezTo>
                  <a:pt x="17395" y="2642"/>
                  <a:pt x="17585" y="2452"/>
                  <a:pt x="17585" y="2219"/>
                </a:cubicBezTo>
                <a:lnTo>
                  <a:pt x="17585" y="423"/>
                </a:lnTo>
                <a:cubicBezTo>
                  <a:pt x="17585" y="189"/>
                  <a:pt x="17395" y="0"/>
                  <a:pt x="17162" y="0"/>
                </a:cubicBezTo>
                <a:lnTo>
                  <a:pt x="423" y="0"/>
                </a:lnTo>
                <a:cubicBezTo>
                  <a:pt x="189" y="0"/>
                  <a:pt x="0" y="189"/>
                  <a:pt x="0" y="423"/>
                </a:cubicBezTo>
                <a:lnTo>
                  <a:pt x="0" y="2219"/>
                </a:lnTo>
                <a:cubicBezTo>
                  <a:pt x="0" y="2452"/>
                  <a:pt x="189" y="2642"/>
                  <a:pt x="423" y="2642"/>
                </a:cubicBezTo>
                <a:lnTo>
                  <a:pt x="8792" y="2642"/>
                </a:lnTo>
                <a:close/>
              </a:path>
            </a:pathLst>
          </a:custGeom>
          <a:noFill/>
          <a:ln w="28440">
            <a:solidFill>
              <a:srgbClr val="555555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0414440" y="3099960"/>
            <a:ext cx="49500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CONTINUE | NARROW | PIVOT | STOP</a:t>
            </a:r>
            <a:endParaRPr b="1" lang="en-US" sz="21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1090520" y="3508920"/>
            <a:ext cx="35424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trigger evidence and decision recorded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7030440" y="2401200"/>
            <a:ext cx="3636360" cy="2359800"/>
          </a:xfrm>
          <a:custGeom>
            <a:avLst/>
            <a:gdLst/>
            <a:ahLst/>
            <a:rect l="0" t="0" r="r" b="b"/>
            <a:pathLst>
              <a:path fill="none" w="10101" h="6555">
                <a:moveTo>
                  <a:pt x="10101" y="4543"/>
                </a:moveTo>
                <a:cubicBezTo>
                  <a:pt x="6928" y="7740"/>
                  <a:pt x="1375" y="7740"/>
                  <a:pt x="0" y="0"/>
                </a:cubicBezTo>
              </a:path>
            </a:pathLst>
          </a:custGeom>
          <a:ln w="38160">
            <a:solidFill>
              <a:srgbClr val="777777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872040" y="2326320"/>
            <a:ext cx="449640" cy="489240"/>
          </a:xfrm>
          <a:custGeom>
            <a:avLst/>
            <a:gdLst/>
            <a:ahLst/>
            <a:rect l="0" t="0" r="r" b="b"/>
            <a:pathLst>
              <a:path w="1249" h="1359">
                <a:moveTo>
                  <a:pt x="0" y="1359"/>
                </a:moveTo>
                <a:lnTo>
                  <a:pt x="403" y="0"/>
                </a:lnTo>
                <a:lnTo>
                  <a:pt x="1249" y="1137"/>
                </a:lnTo>
                <a:lnTo>
                  <a:pt x="0" y="135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872040" y="2326320"/>
            <a:ext cx="449640" cy="489240"/>
          </a:xfrm>
          <a:custGeom>
            <a:avLst/>
            <a:gdLst/>
            <a:ahLst/>
            <a:rect l="0" t="0" r="r" b="b"/>
            <a:pathLst>
              <a:path w="1249" h="1359">
                <a:moveTo>
                  <a:pt x="0" y="1359"/>
                </a:moveTo>
                <a:lnTo>
                  <a:pt x="403" y="0"/>
                </a:lnTo>
                <a:lnTo>
                  <a:pt x="1249" y="1137"/>
                </a:lnTo>
                <a:lnTo>
                  <a:pt x="0" y="135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872040" y="2326320"/>
            <a:ext cx="449640" cy="489240"/>
          </a:xfrm>
          <a:custGeom>
            <a:avLst/>
            <a:gdLst/>
            <a:ahLst/>
            <a:rect l="0" t="0" r="r" b="b"/>
            <a:pathLst>
              <a:path w="1249" h="1359">
                <a:moveTo>
                  <a:pt x="0" y="1359"/>
                </a:moveTo>
                <a:lnTo>
                  <a:pt x="403" y="0"/>
                </a:lnTo>
                <a:lnTo>
                  <a:pt x="1249" y="1137"/>
                </a:lnTo>
                <a:lnTo>
                  <a:pt x="0" y="135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872040" y="2326320"/>
            <a:ext cx="449640" cy="489240"/>
          </a:xfrm>
          <a:custGeom>
            <a:avLst/>
            <a:gdLst/>
            <a:ahLst/>
            <a:rect l="0" t="0" r="r" b="b"/>
            <a:pathLst>
              <a:path w="1249" h="1359">
                <a:moveTo>
                  <a:pt x="0" y="1359"/>
                </a:moveTo>
                <a:lnTo>
                  <a:pt x="403" y="0"/>
                </a:lnTo>
                <a:lnTo>
                  <a:pt x="1249" y="1137"/>
                </a:lnTo>
                <a:lnTo>
                  <a:pt x="0" y="135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872040" y="2326320"/>
            <a:ext cx="449640" cy="489240"/>
          </a:xfrm>
          <a:custGeom>
            <a:avLst/>
            <a:gdLst/>
            <a:ahLst/>
            <a:rect l="0" t="0" r="r" b="b"/>
            <a:pathLst>
              <a:path w="1249" h="1359">
                <a:moveTo>
                  <a:pt x="0" y="1359"/>
                </a:moveTo>
                <a:lnTo>
                  <a:pt x="403" y="0"/>
                </a:lnTo>
                <a:lnTo>
                  <a:pt x="1249" y="1137"/>
                </a:lnTo>
                <a:lnTo>
                  <a:pt x="0" y="135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72040" y="2326320"/>
            <a:ext cx="449640" cy="489240"/>
          </a:xfrm>
          <a:custGeom>
            <a:avLst/>
            <a:gdLst/>
            <a:ahLst/>
            <a:rect l="0" t="0" r="r" b="b"/>
            <a:pathLst>
              <a:path w="1249" h="1359">
                <a:moveTo>
                  <a:pt x="0" y="1359"/>
                </a:moveTo>
                <a:lnTo>
                  <a:pt x="403" y="0"/>
                </a:lnTo>
                <a:lnTo>
                  <a:pt x="1249" y="1137"/>
                </a:lnTo>
                <a:lnTo>
                  <a:pt x="0" y="135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872040" y="2326320"/>
            <a:ext cx="449640" cy="489240"/>
          </a:xfrm>
          <a:custGeom>
            <a:avLst/>
            <a:gdLst/>
            <a:ahLst/>
            <a:rect l="0" t="0" r="r" b="b"/>
            <a:pathLst>
              <a:path w="1249" h="1359">
                <a:moveTo>
                  <a:pt x="0" y="1359"/>
                </a:moveTo>
                <a:lnTo>
                  <a:pt x="403" y="0"/>
                </a:lnTo>
                <a:lnTo>
                  <a:pt x="1249" y="1137"/>
                </a:lnTo>
                <a:lnTo>
                  <a:pt x="0" y="135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540120" y="5106600"/>
            <a:ext cx="46357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1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narrow or pivot: revise SCOPE and retest</a:t>
            </a:r>
            <a:endParaRPr b="0" i="1" lang="en-US" sz="21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2026-08-19T10:49:48Z</dcterms:created>
  <dc:creator>Antonio Clim and Martino Aldrigo</dc:creator>
  <dc:description>A six-step decision path moves from candidate ideas through topic screening, SCOPE framing and a critical-assumption test to a recorded decision and the Problem Gate. The decision must be continue, narrow, pivot or stop. A dashed feedback path returns narrowed or pivoted work to SCOPE; only supported continuation reaches the gate. Native-object PPTX generated from the canonical SVG; all text, boxes, lines, arrows and colours remain separately editable.</dc:description>
  <dc:language>en-US</dc:language>
  <cp:lastModifiedBy/>
  <dcterms:modified xsi:type="dcterms:W3CDTF">2026-08-19T10:49:49Z</dcterms:modified>
  <cp:revision>1</cp:revision>
  <dc:subject>Fully editable native drawing objects</dc:subject>
  <dc:title>Figure 2.1. From candidate ideas to the Problem Gate</dc:title>
</cp:coreProperties>
</file>