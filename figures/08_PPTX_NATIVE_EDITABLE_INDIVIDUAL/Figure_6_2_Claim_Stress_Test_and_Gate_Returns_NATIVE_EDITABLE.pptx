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382500" cy="7239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8649E2F-DB0A-47B6-AC5D-5EBE537C038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1777324-4880-41B4-A0C9-398110ECC52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4680" y="4680"/>
            <a:ext cx="12372840" cy="7229160"/>
          </a:xfrm>
          <a:custGeom>
            <a:avLst/>
            <a:gdLst/>
            <a:ahLst/>
            <a:rect l="0" t="0" r="r" b="b"/>
            <a:pathLst>
              <a:path w="34369" h="20081">
                <a:moveTo>
                  <a:pt x="0" y="0"/>
                </a:moveTo>
                <a:lnTo>
                  <a:pt x="34369" y="0"/>
                </a:lnTo>
                <a:lnTo>
                  <a:pt x="34369" y="20081"/>
                </a:lnTo>
                <a:lnTo>
                  <a:pt x="0" y="200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4240080" y="2525400"/>
            <a:ext cx="3902040" cy="1949760"/>
          </a:xfrm>
          <a:custGeom>
            <a:avLst/>
            <a:gdLst/>
            <a:ahLst/>
            <a:rect l="0" t="0" r="r" b="b"/>
            <a:pathLst>
              <a:path w="10839" h="5416">
                <a:moveTo>
                  <a:pt x="5420" y="5416"/>
                </a:moveTo>
                <a:lnTo>
                  <a:pt x="10204" y="5416"/>
                </a:lnTo>
                <a:cubicBezTo>
                  <a:pt x="10555" y="5416"/>
                  <a:pt x="10839" y="5132"/>
                  <a:pt x="10839" y="4782"/>
                </a:cubicBezTo>
                <a:lnTo>
                  <a:pt x="10839" y="634"/>
                </a:lnTo>
                <a:cubicBezTo>
                  <a:pt x="10839" y="284"/>
                  <a:pt x="10555" y="0"/>
                  <a:pt x="10204" y="0"/>
                </a:cubicBezTo>
                <a:lnTo>
                  <a:pt x="635" y="0"/>
                </a:lnTo>
                <a:cubicBezTo>
                  <a:pt x="284" y="0"/>
                  <a:pt x="0" y="284"/>
                  <a:pt x="0" y="634"/>
                </a:cubicBezTo>
                <a:lnTo>
                  <a:pt x="0" y="4782"/>
                </a:lnTo>
                <a:cubicBezTo>
                  <a:pt x="0" y="5132"/>
                  <a:pt x="284" y="5416"/>
                  <a:pt x="635" y="5416"/>
                </a:cubicBezTo>
                <a:lnTo>
                  <a:pt x="5420" y="5416"/>
                </a:lnTo>
                <a:close/>
              </a:path>
            </a:pathLst>
          </a:custGeom>
          <a:solidFill>
            <a:srgbClr val="edf0f3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4240080" y="2525400"/>
            <a:ext cx="3902040" cy="1949760"/>
          </a:xfrm>
          <a:custGeom>
            <a:avLst/>
            <a:gdLst/>
            <a:ahLst/>
            <a:rect l="0" t="0" r="r" b="b"/>
            <a:pathLst>
              <a:path w="10839" h="5416">
                <a:moveTo>
                  <a:pt x="5420" y="5416"/>
                </a:moveTo>
                <a:lnTo>
                  <a:pt x="10204" y="5416"/>
                </a:lnTo>
                <a:cubicBezTo>
                  <a:pt x="10555" y="5416"/>
                  <a:pt x="10839" y="5132"/>
                  <a:pt x="10839" y="4782"/>
                </a:cubicBezTo>
                <a:lnTo>
                  <a:pt x="10839" y="634"/>
                </a:lnTo>
                <a:cubicBezTo>
                  <a:pt x="10839" y="284"/>
                  <a:pt x="10555" y="0"/>
                  <a:pt x="10204" y="0"/>
                </a:cubicBezTo>
                <a:lnTo>
                  <a:pt x="635" y="0"/>
                </a:lnTo>
                <a:cubicBezTo>
                  <a:pt x="284" y="0"/>
                  <a:pt x="0" y="284"/>
                  <a:pt x="0" y="634"/>
                </a:cubicBezTo>
                <a:lnTo>
                  <a:pt x="0" y="4782"/>
                </a:lnTo>
                <a:cubicBezTo>
                  <a:pt x="0" y="5132"/>
                  <a:pt x="284" y="5416"/>
                  <a:pt x="635" y="5416"/>
                </a:cubicBezTo>
                <a:lnTo>
                  <a:pt x="5420" y="5416"/>
                </a:lnTo>
                <a:close/>
              </a:path>
            </a:pathLst>
          </a:custGeom>
          <a:noFill/>
          <a:ln w="38160">
            <a:solidFill>
              <a:srgbClr val="3d4b58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4520880" y="2806200"/>
            <a:ext cx="3379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170" strike="noStrike" u="none">
                <a:solidFill>
                  <a:srgbClr val="303e4b"/>
                </a:solidFill>
                <a:effectLst/>
                <a:uFillTx/>
                <a:latin typeface="Times New Roman"/>
              </a:rPr>
              <a:t>MINIMUM MEANINGFUL</a:t>
            </a:r>
            <a:endParaRPr b="1" lang="en-US" sz="2170" strike="noStrike" u="none">
              <a:solidFill>
                <a:srgbClr val="303e4b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5691600" y="3129480"/>
            <a:ext cx="1017720" cy="332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320" strike="noStrike" u="none">
                <a:solidFill>
                  <a:srgbClr val="303e4b"/>
                </a:solidFill>
                <a:effectLst/>
                <a:uFillTx/>
                <a:latin typeface="Times New Roman"/>
              </a:rPr>
              <a:t>CLAIM</a:t>
            </a:r>
            <a:endParaRPr b="1" lang="en-US" sz="2320" strike="noStrike" u="none">
              <a:solidFill>
                <a:srgbClr val="303e4b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4882680" y="3614040"/>
            <a:ext cx="262620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500" strike="noStrike" u="none">
                <a:solidFill>
                  <a:srgbClr val="52616f"/>
                </a:solidFill>
                <a:effectLst/>
                <a:uFillTx/>
                <a:latin typeface="Times New Roman"/>
              </a:rPr>
              <a:t>candidate wording + consequence</a:t>
            </a:r>
            <a:endParaRPr b="0" i="1" lang="en-US" sz="1500" strike="noStrike" u="none">
              <a:solidFill>
                <a:srgbClr val="52616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015880" y="3947040"/>
            <a:ext cx="2332440" cy="210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500" strike="noStrike" u="none">
                <a:solidFill>
                  <a:srgbClr val="52616f"/>
                </a:solidFill>
                <a:effectLst/>
                <a:uFillTx/>
                <a:latin typeface="Times New Roman"/>
              </a:rPr>
              <a:t>strongest non-trivial boundary</a:t>
            </a:r>
            <a:endParaRPr b="0" i="1" lang="en-US" sz="1500" strike="noStrike" u="none">
              <a:solidFill>
                <a:srgbClr val="52616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4002120" y="432720"/>
            <a:ext cx="4377960" cy="1189080"/>
          </a:xfrm>
          <a:custGeom>
            <a:avLst/>
            <a:gdLst/>
            <a:ahLst/>
            <a:rect l="0" t="0" r="r" b="b"/>
            <a:pathLst>
              <a:path w="12161" h="3303">
                <a:moveTo>
                  <a:pt x="6081" y="3303"/>
                </a:moveTo>
                <a:lnTo>
                  <a:pt x="11791" y="3303"/>
                </a:lnTo>
                <a:cubicBezTo>
                  <a:pt x="11995" y="3303"/>
                  <a:pt x="12161" y="3138"/>
                  <a:pt x="12161" y="2933"/>
                </a:cubicBezTo>
                <a:lnTo>
                  <a:pt x="12161" y="370"/>
                </a:lnTo>
                <a:cubicBezTo>
                  <a:pt x="12161" y="166"/>
                  <a:pt x="11995" y="0"/>
                  <a:pt x="11791" y="0"/>
                </a:cubicBezTo>
                <a:lnTo>
                  <a:pt x="370" y="0"/>
                </a:lnTo>
                <a:cubicBezTo>
                  <a:pt x="166" y="0"/>
                  <a:pt x="0" y="166"/>
                  <a:pt x="0" y="370"/>
                </a:cubicBezTo>
                <a:lnTo>
                  <a:pt x="0" y="2933"/>
                </a:lnTo>
                <a:cubicBezTo>
                  <a:pt x="0" y="3138"/>
                  <a:pt x="166" y="3303"/>
                  <a:pt x="370" y="3303"/>
                </a:cubicBezTo>
                <a:lnTo>
                  <a:pt x="6081" y="3303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4002120" y="432720"/>
            <a:ext cx="4377960" cy="1189080"/>
          </a:xfrm>
          <a:custGeom>
            <a:avLst/>
            <a:gdLst/>
            <a:ahLst/>
            <a:rect l="0" t="0" r="r" b="b"/>
            <a:pathLst>
              <a:path w="12161" h="3303">
                <a:moveTo>
                  <a:pt x="6081" y="3303"/>
                </a:moveTo>
                <a:lnTo>
                  <a:pt x="11791" y="3303"/>
                </a:lnTo>
                <a:cubicBezTo>
                  <a:pt x="11995" y="3303"/>
                  <a:pt x="12161" y="3138"/>
                  <a:pt x="12161" y="2933"/>
                </a:cubicBezTo>
                <a:lnTo>
                  <a:pt x="12161" y="370"/>
                </a:lnTo>
                <a:cubicBezTo>
                  <a:pt x="12161" y="166"/>
                  <a:pt x="11995" y="0"/>
                  <a:pt x="11791" y="0"/>
                </a:cubicBezTo>
                <a:lnTo>
                  <a:pt x="370" y="0"/>
                </a:lnTo>
                <a:cubicBezTo>
                  <a:pt x="166" y="0"/>
                  <a:pt x="0" y="166"/>
                  <a:pt x="0" y="370"/>
                </a:cubicBezTo>
                <a:lnTo>
                  <a:pt x="0" y="2933"/>
                </a:lnTo>
                <a:cubicBezTo>
                  <a:pt x="0" y="3138"/>
                  <a:pt x="166" y="3303"/>
                  <a:pt x="370" y="3303"/>
                </a:cubicBezTo>
                <a:lnTo>
                  <a:pt x="6081" y="3303"/>
                </a:lnTo>
                <a:close/>
              </a:path>
            </a:pathLst>
          </a:custGeom>
          <a:noFill/>
          <a:ln w="28440">
            <a:solidFill>
              <a:srgbClr val="284d7a"/>
            </a:solidFill>
            <a:miter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5177520" y="704160"/>
            <a:ext cx="2036160" cy="237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5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1 BOUND WORDING</a:t>
            </a:r>
            <a:endParaRPr b="1" lang="en-US" sz="165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4758840" y="1103400"/>
            <a:ext cx="2759400" cy="18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7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object · property · context · excluded scope</a:t>
            </a:r>
            <a:endParaRPr b="0" i="1" lang="en-US" sz="127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8713080" y="1384200"/>
            <a:ext cx="3141000" cy="1188720"/>
          </a:xfrm>
          <a:custGeom>
            <a:avLst/>
            <a:gdLst/>
            <a:ahLst/>
            <a:rect l="0" t="0" r="r" b="b"/>
            <a:pathLst>
              <a:path w="8725" h="3302">
                <a:moveTo>
                  <a:pt x="4362" y="3302"/>
                </a:moveTo>
                <a:lnTo>
                  <a:pt x="8355" y="3302"/>
                </a:lnTo>
                <a:cubicBezTo>
                  <a:pt x="8559" y="3302"/>
                  <a:pt x="8725" y="3137"/>
                  <a:pt x="8725" y="2933"/>
                </a:cubicBezTo>
                <a:lnTo>
                  <a:pt x="8725" y="369"/>
                </a:lnTo>
                <a:cubicBezTo>
                  <a:pt x="8725" y="165"/>
                  <a:pt x="8559" y="0"/>
                  <a:pt x="8355" y="0"/>
                </a:cubicBezTo>
                <a:lnTo>
                  <a:pt x="370" y="0"/>
                </a:lnTo>
                <a:cubicBezTo>
                  <a:pt x="166" y="0"/>
                  <a:pt x="0" y="165"/>
                  <a:pt x="0" y="369"/>
                </a:cubicBezTo>
                <a:lnTo>
                  <a:pt x="0" y="2933"/>
                </a:lnTo>
                <a:cubicBezTo>
                  <a:pt x="0" y="3137"/>
                  <a:pt x="166" y="3302"/>
                  <a:pt x="370" y="3302"/>
                </a:cubicBezTo>
                <a:lnTo>
                  <a:pt x="4362" y="3302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8713080" y="1384200"/>
            <a:ext cx="3141000" cy="1188720"/>
          </a:xfrm>
          <a:custGeom>
            <a:avLst/>
            <a:gdLst/>
            <a:ahLst/>
            <a:rect l="0" t="0" r="r" b="b"/>
            <a:pathLst>
              <a:path w="8725" h="3302">
                <a:moveTo>
                  <a:pt x="4362" y="3302"/>
                </a:moveTo>
                <a:lnTo>
                  <a:pt x="8355" y="3302"/>
                </a:lnTo>
                <a:cubicBezTo>
                  <a:pt x="8559" y="3302"/>
                  <a:pt x="8725" y="3137"/>
                  <a:pt x="8725" y="2933"/>
                </a:cubicBezTo>
                <a:lnTo>
                  <a:pt x="8725" y="369"/>
                </a:lnTo>
                <a:cubicBezTo>
                  <a:pt x="8725" y="165"/>
                  <a:pt x="8559" y="0"/>
                  <a:pt x="8355" y="0"/>
                </a:cubicBezTo>
                <a:lnTo>
                  <a:pt x="370" y="0"/>
                </a:lnTo>
                <a:cubicBezTo>
                  <a:pt x="166" y="0"/>
                  <a:pt x="0" y="165"/>
                  <a:pt x="0" y="369"/>
                </a:cubicBezTo>
                <a:lnTo>
                  <a:pt x="0" y="2933"/>
                </a:lnTo>
                <a:cubicBezTo>
                  <a:pt x="0" y="3137"/>
                  <a:pt x="166" y="3302"/>
                  <a:pt x="370" y="3302"/>
                </a:cubicBezTo>
                <a:lnTo>
                  <a:pt x="4362" y="3302"/>
                </a:lnTo>
                <a:close/>
              </a:path>
            </a:pathLst>
          </a:custGeom>
          <a:noFill/>
          <a:ln w="28440">
            <a:solidFill>
              <a:srgbClr val="284d7a"/>
            </a:solidFill>
            <a:miter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9412560" y="1655280"/>
            <a:ext cx="1740960" cy="237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5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2 MATCH ROUTE</a:t>
            </a:r>
            <a:endParaRPr b="1" lang="en-US" sz="165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9165240" y="2054880"/>
            <a:ext cx="2178720" cy="18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7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comparison · oracle · review path</a:t>
            </a:r>
            <a:endParaRPr b="0" i="1" lang="en-US" sz="127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8856000" y="4475160"/>
            <a:ext cx="2998080" cy="1189080"/>
          </a:xfrm>
          <a:custGeom>
            <a:avLst/>
            <a:gdLst/>
            <a:ahLst/>
            <a:rect l="0" t="0" r="r" b="b"/>
            <a:pathLst>
              <a:path w="8328" h="3303">
                <a:moveTo>
                  <a:pt x="4164" y="3303"/>
                </a:moveTo>
                <a:lnTo>
                  <a:pt x="7958" y="3303"/>
                </a:lnTo>
                <a:cubicBezTo>
                  <a:pt x="8162" y="3303"/>
                  <a:pt x="8328" y="3137"/>
                  <a:pt x="8328" y="2933"/>
                </a:cubicBezTo>
                <a:lnTo>
                  <a:pt x="8328" y="370"/>
                </a:lnTo>
                <a:cubicBezTo>
                  <a:pt x="8328" y="166"/>
                  <a:pt x="8162" y="0"/>
                  <a:pt x="7958" y="0"/>
                </a:cubicBezTo>
                <a:lnTo>
                  <a:pt x="370" y="0"/>
                </a:lnTo>
                <a:cubicBezTo>
                  <a:pt x="165" y="0"/>
                  <a:pt x="0" y="166"/>
                  <a:pt x="0" y="370"/>
                </a:cubicBezTo>
                <a:lnTo>
                  <a:pt x="0" y="2933"/>
                </a:lnTo>
                <a:cubicBezTo>
                  <a:pt x="0" y="3137"/>
                  <a:pt x="165" y="3303"/>
                  <a:pt x="370" y="3303"/>
                </a:cubicBezTo>
                <a:lnTo>
                  <a:pt x="4164" y="3303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"/>
          <p:cNvSpPr/>
          <p:nvPr/>
        </p:nvSpPr>
        <p:spPr>
          <a:xfrm>
            <a:off x="8856000" y="4475160"/>
            <a:ext cx="2998080" cy="1189080"/>
          </a:xfrm>
          <a:custGeom>
            <a:avLst/>
            <a:gdLst/>
            <a:ahLst/>
            <a:rect l="0" t="0" r="r" b="b"/>
            <a:pathLst>
              <a:path w="8328" h="3303">
                <a:moveTo>
                  <a:pt x="4164" y="3303"/>
                </a:moveTo>
                <a:lnTo>
                  <a:pt x="7958" y="3303"/>
                </a:lnTo>
                <a:cubicBezTo>
                  <a:pt x="8162" y="3303"/>
                  <a:pt x="8328" y="3137"/>
                  <a:pt x="8328" y="2933"/>
                </a:cubicBezTo>
                <a:lnTo>
                  <a:pt x="8328" y="370"/>
                </a:lnTo>
                <a:cubicBezTo>
                  <a:pt x="8328" y="166"/>
                  <a:pt x="8162" y="0"/>
                  <a:pt x="7958" y="0"/>
                </a:cubicBezTo>
                <a:lnTo>
                  <a:pt x="370" y="0"/>
                </a:lnTo>
                <a:cubicBezTo>
                  <a:pt x="165" y="0"/>
                  <a:pt x="0" y="166"/>
                  <a:pt x="0" y="370"/>
                </a:cubicBezTo>
                <a:lnTo>
                  <a:pt x="0" y="2933"/>
                </a:lnTo>
                <a:cubicBezTo>
                  <a:pt x="0" y="3137"/>
                  <a:pt x="165" y="3303"/>
                  <a:pt x="370" y="3303"/>
                </a:cubicBezTo>
                <a:lnTo>
                  <a:pt x="4164" y="3303"/>
                </a:lnTo>
                <a:close/>
              </a:path>
            </a:pathLst>
          </a:custGeom>
          <a:noFill/>
          <a:ln w="28440">
            <a:solidFill>
              <a:srgbClr val="284d7a"/>
            </a:solidFill>
            <a:miter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9431640" y="4746600"/>
            <a:ext cx="1845720" cy="237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5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3 CHARACTERISE</a:t>
            </a:r>
            <a:endParaRPr b="1" lang="en-US" sz="165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9193680" y="5145840"/>
            <a:ext cx="2235960" cy="18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7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uncertainty · credibility · variation</a:t>
            </a:r>
            <a:endParaRPr b="0" i="1" lang="en-US" sz="127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4002120" y="5664240"/>
            <a:ext cx="4377960" cy="1189080"/>
          </a:xfrm>
          <a:custGeom>
            <a:avLst/>
            <a:gdLst/>
            <a:ahLst/>
            <a:rect l="0" t="0" r="r" b="b"/>
            <a:pathLst>
              <a:path w="12161" h="3303">
                <a:moveTo>
                  <a:pt x="6081" y="3303"/>
                </a:moveTo>
                <a:lnTo>
                  <a:pt x="11791" y="3303"/>
                </a:lnTo>
                <a:cubicBezTo>
                  <a:pt x="11995" y="3303"/>
                  <a:pt x="12161" y="3137"/>
                  <a:pt x="12161" y="2933"/>
                </a:cubicBezTo>
                <a:lnTo>
                  <a:pt x="12161" y="370"/>
                </a:lnTo>
                <a:cubicBezTo>
                  <a:pt x="12161" y="166"/>
                  <a:pt x="11995" y="0"/>
                  <a:pt x="11791" y="0"/>
                </a:cubicBezTo>
                <a:lnTo>
                  <a:pt x="370" y="0"/>
                </a:lnTo>
                <a:cubicBezTo>
                  <a:pt x="166" y="0"/>
                  <a:pt x="0" y="166"/>
                  <a:pt x="0" y="370"/>
                </a:cubicBezTo>
                <a:lnTo>
                  <a:pt x="0" y="2933"/>
                </a:lnTo>
                <a:cubicBezTo>
                  <a:pt x="0" y="3137"/>
                  <a:pt x="166" y="3303"/>
                  <a:pt x="370" y="3303"/>
                </a:cubicBezTo>
                <a:lnTo>
                  <a:pt x="6081" y="3303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4002120" y="5664240"/>
            <a:ext cx="4377960" cy="1189080"/>
          </a:xfrm>
          <a:custGeom>
            <a:avLst/>
            <a:gdLst/>
            <a:ahLst/>
            <a:rect l="0" t="0" r="r" b="b"/>
            <a:pathLst>
              <a:path w="12161" h="3303">
                <a:moveTo>
                  <a:pt x="6081" y="3303"/>
                </a:moveTo>
                <a:lnTo>
                  <a:pt x="11791" y="3303"/>
                </a:lnTo>
                <a:cubicBezTo>
                  <a:pt x="11995" y="3303"/>
                  <a:pt x="12161" y="3137"/>
                  <a:pt x="12161" y="2933"/>
                </a:cubicBezTo>
                <a:lnTo>
                  <a:pt x="12161" y="370"/>
                </a:lnTo>
                <a:cubicBezTo>
                  <a:pt x="12161" y="166"/>
                  <a:pt x="11995" y="0"/>
                  <a:pt x="11791" y="0"/>
                </a:cubicBezTo>
                <a:lnTo>
                  <a:pt x="370" y="0"/>
                </a:lnTo>
                <a:cubicBezTo>
                  <a:pt x="166" y="0"/>
                  <a:pt x="0" y="166"/>
                  <a:pt x="0" y="370"/>
                </a:cubicBezTo>
                <a:lnTo>
                  <a:pt x="0" y="2933"/>
                </a:lnTo>
                <a:cubicBezTo>
                  <a:pt x="0" y="3137"/>
                  <a:pt x="166" y="3303"/>
                  <a:pt x="370" y="3303"/>
                </a:cubicBezTo>
                <a:lnTo>
                  <a:pt x="6081" y="3303"/>
                </a:lnTo>
                <a:close/>
              </a:path>
            </a:pathLst>
          </a:custGeom>
          <a:noFill/>
          <a:ln w="28440">
            <a:solidFill>
              <a:srgbClr val="284d7a"/>
            </a:solidFill>
            <a:miter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5444280" y="5935320"/>
            <a:ext cx="1493640" cy="237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5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4 CHALLENGE</a:t>
            </a:r>
            <a:endParaRPr b="1" lang="en-US" sz="165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29" name=""/>
          <p:cNvSpPr txBox="1"/>
          <p:nvPr/>
        </p:nvSpPr>
        <p:spPr>
          <a:xfrm>
            <a:off x="4825440" y="6334920"/>
            <a:ext cx="2645280" cy="18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7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assumptions · counter-evidence · failures</a:t>
            </a:r>
            <a:endParaRPr b="0" i="1" lang="en-US" sz="127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528120" y="4475160"/>
            <a:ext cx="2998080" cy="1189080"/>
          </a:xfrm>
          <a:custGeom>
            <a:avLst/>
            <a:gdLst/>
            <a:ahLst/>
            <a:rect l="0" t="0" r="r" b="b"/>
            <a:pathLst>
              <a:path w="8328" h="3303">
                <a:moveTo>
                  <a:pt x="4164" y="3303"/>
                </a:moveTo>
                <a:lnTo>
                  <a:pt x="7958" y="3303"/>
                </a:lnTo>
                <a:cubicBezTo>
                  <a:pt x="8163" y="3303"/>
                  <a:pt x="8328" y="3137"/>
                  <a:pt x="8328" y="2933"/>
                </a:cubicBezTo>
                <a:lnTo>
                  <a:pt x="8328" y="370"/>
                </a:lnTo>
                <a:cubicBezTo>
                  <a:pt x="8328" y="166"/>
                  <a:pt x="8163" y="0"/>
                  <a:pt x="7958" y="0"/>
                </a:cubicBezTo>
                <a:lnTo>
                  <a:pt x="370" y="0"/>
                </a:lnTo>
                <a:cubicBezTo>
                  <a:pt x="166" y="0"/>
                  <a:pt x="0" y="166"/>
                  <a:pt x="0" y="370"/>
                </a:cubicBezTo>
                <a:lnTo>
                  <a:pt x="0" y="2933"/>
                </a:lnTo>
                <a:cubicBezTo>
                  <a:pt x="0" y="3137"/>
                  <a:pt x="166" y="3303"/>
                  <a:pt x="370" y="3303"/>
                </a:cubicBezTo>
                <a:lnTo>
                  <a:pt x="4164" y="3303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"/>
          <p:cNvSpPr/>
          <p:nvPr/>
        </p:nvSpPr>
        <p:spPr>
          <a:xfrm>
            <a:off x="528120" y="4475160"/>
            <a:ext cx="2998080" cy="1189080"/>
          </a:xfrm>
          <a:custGeom>
            <a:avLst/>
            <a:gdLst/>
            <a:ahLst/>
            <a:rect l="0" t="0" r="r" b="b"/>
            <a:pathLst>
              <a:path w="8328" h="3303">
                <a:moveTo>
                  <a:pt x="4164" y="3303"/>
                </a:moveTo>
                <a:lnTo>
                  <a:pt x="7958" y="3303"/>
                </a:lnTo>
                <a:cubicBezTo>
                  <a:pt x="8163" y="3303"/>
                  <a:pt x="8328" y="3137"/>
                  <a:pt x="8328" y="2933"/>
                </a:cubicBezTo>
                <a:lnTo>
                  <a:pt x="8328" y="370"/>
                </a:lnTo>
                <a:cubicBezTo>
                  <a:pt x="8328" y="166"/>
                  <a:pt x="8163" y="0"/>
                  <a:pt x="7958" y="0"/>
                </a:cubicBezTo>
                <a:lnTo>
                  <a:pt x="370" y="0"/>
                </a:lnTo>
                <a:cubicBezTo>
                  <a:pt x="166" y="0"/>
                  <a:pt x="0" y="166"/>
                  <a:pt x="0" y="370"/>
                </a:cubicBezTo>
                <a:lnTo>
                  <a:pt x="0" y="2933"/>
                </a:lnTo>
                <a:cubicBezTo>
                  <a:pt x="0" y="3137"/>
                  <a:pt x="166" y="3303"/>
                  <a:pt x="370" y="3303"/>
                </a:cubicBezTo>
                <a:lnTo>
                  <a:pt x="4164" y="3303"/>
                </a:lnTo>
                <a:close/>
              </a:path>
            </a:pathLst>
          </a:custGeom>
          <a:noFill/>
          <a:ln w="28440">
            <a:solidFill>
              <a:srgbClr val="284d7a"/>
            </a:solidFill>
            <a:miter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1284840" y="4746600"/>
            <a:ext cx="1483920" cy="237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5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5 REPRODUCE</a:t>
            </a:r>
            <a:endParaRPr b="1" lang="en-US" sz="165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942120" y="5145840"/>
            <a:ext cx="2112120" cy="18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7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reimplement · audit · reconstruct</a:t>
            </a:r>
            <a:endParaRPr b="0" i="1" lang="en-US" sz="127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528120" y="1384200"/>
            <a:ext cx="3141000" cy="1188720"/>
          </a:xfrm>
          <a:custGeom>
            <a:avLst/>
            <a:gdLst/>
            <a:ahLst/>
            <a:rect l="0" t="0" r="r" b="b"/>
            <a:pathLst>
              <a:path w="8725" h="3302">
                <a:moveTo>
                  <a:pt x="4363" y="3302"/>
                </a:moveTo>
                <a:lnTo>
                  <a:pt x="8355" y="3302"/>
                </a:lnTo>
                <a:cubicBezTo>
                  <a:pt x="8559" y="3302"/>
                  <a:pt x="8725" y="3137"/>
                  <a:pt x="8725" y="2933"/>
                </a:cubicBezTo>
                <a:lnTo>
                  <a:pt x="8725" y="369"/>
                </a:lnTo>
                <a:cubicBezTo>
                  <a:pt x="8725" y="165"/>
                  <a:pt x="8559" y="0"/>
                  <a:pt x="8355" y="0"/>
                </a:cubicBezTo>
                <a:lnTo>
                  <a:pt x="370" y="0"/>
                </a:lnTo>
                <a:cubicBezTo>
                  <a:pt x="166" y="0"/>
                  <a:pt x="0" y="165"/>
                  <a:pt x="0" y="369"/>
                </a:cubicBezTo>
                <a:lnTo>
                  <a:pt x="0" y="2933"/>
                </a:lnTo>
                <a:cubicBezTo>
                  <a:pt x="0" y="3137"/>
                  <a:pt x="166" y="3302"/>
                  <a:pt x="370" y="3302"/>
                </a:cubicBezTo>
                <a:lnTo>
                  <a:pt x="4363" y="3302"/>
                </a:lnTo>
                <a:close/>
              </a:path>
            </a:pathLst>
          </a:custGeom>
          <a:solidFill>
            <a:srgbClr val="e8eef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528120" y="1384200"/>
            <a:ext cx="3141000" cy="1188720"/>
          </a:xfrm>
          <a:custGeom>
            <a:avLst/>
            <a:gdLst/>
            <a:ahLst/>
            <a:rect l="0" t="0" r="r" b="b"/>
            <a:pathLst>
              <a:path w="8725" h="3302">
                <a:moveTo>
                  <a:pt x="4363" y="3302"/>
                </a:moveTo>
                <a:lnTo>
                  <a:pt x="8355" y="3302"/>
                </a:lnTo>
                <a:cubicBezTo>
                  <a:pt x="8559" y="3302"/>
                  <a:pt x="8725" y="3137"/>
                  <a:pt x="8725" y="2933"/>
                </a:cubicBezTo>
                <a:lnTo>
                  <a:pt x="8725" y="369"/>
                </a:lnTo>
                <a:cubicBezTo>
                  <a:pt x="8725" y="165"/>
                  <a:pt x="8559" y="0"/>
                  <a:pt x="8355" y="0"/>
                </a:cubicBezTo>
                <a:lnTo>
                  <a:pt x="370" y="0"/>
                </a:lnTo>
                <a:cubicBezTo>
                  <a:pt x="166" y="0"/>
                  <a:pt x="0" y="165"/>
                  <a:pt x="0" y="369"/>
                </a:cubicBezTo>
                <a:lnTo>
                  <a:pt x="0" y="2933"/>
                </a:lnTo>
                <a:cubicBezTo>
                  <a:pt x="0" y="3137"/>
                  <a:pt x="166" y="3302"/>
                  <a:pt x="370" y="3302"/>
                </a:cubicBezTo>
                <a:lnTo>
                  <a:pt x="4363" y="3302"/>
                </a:lnTo>
                <a:close/>
              </a:path>
            </a:pathLst>
          </a:custGeom>
          <a:noFill/>
          <a:ln w="28440">
            <a:solidFill>
              <a:srgbClr val="284d7a"/>
            </a:solidFill>
            <a:miter/>
          </a:ln>
        </p:spPr>
        <p:txBody>
          <a:bodyPr lIns="104040" rIns="104040" tIns="59040" bIns="5904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1608480" y="1655280"/>
            <a:ext cx="970200" cy="2372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1650" strike="noStrike" u="none">
                <a:solidFill>
                  <a:srgbClr val="1f3654"/>
                </a:solidFill>
                <a:effectLst/>
                <a:uFillTx/>
                <a:latin typeface="Times New Roman"/>
              </a:rPr>
              <a:t>6 DECIDE</a:t>
            </a:r>
            <a:endParaRPr b="1" lang="en-US" sz="1650" strike="noStrike" u="none">
              <a:solidFill>
                <a:srgbClr val="1f3654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961200" y="2054880"/>
            <a:ext cx="2197800" cy="1800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270" strike="noStrike" u="none">
                <a:solidFill>
                  <a:srgbClr val="52667f"/>
                </a:solidFill>
                <a:effectLst/>
                <a:uFillTx/>
                <a:latin typeface="Times New Roman"/>
              </a:rPr>
              <a:t>strongest claim · fallback · trigger</a:t>
            </a:r>
            <a:endParaRPr b="0" i="1" lang="en-US" sz="1270" strike="noStrike" u="none">
              <a:solidFill>
                <a:srgbClr val="52667f"/>
              </a:solidFill>
              <a:effectLst/>
              <a:uFillTx/>
              <a:latin typeface="Times New Roman"/>
              <a:ea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8380080" y="1028520"/>
            <a:ext cx="1570320" cy="355680"/>
          </a:xfrm>
          <a:custGeom>
            <a:avLst/>
            <a:gdLst/>
            <a:ahLst/>
            <a:rect l="0" t="0" r="r" b="b"/>
            <a:pathLst>
              <a:path fill="none" w="4362" h="988">
                <a:moveTo>
                  <a:pt x="0" y="10"/>
                </a:moveTo>
                <a:cubicBezTo>
                  <a:pt x="1850" y="-69"/>
                  <a:pt x="3437" y="327"/>
                  <a:pt x="4362" y="988"/>
                </a:cubicBezTo>
              </a:path>
            </a:pathLst>
          </a:custGeom>
          <a:ln w="38160">
            <a:solidFill>
              <a:srgbClr val="284d7a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9560880" y="1030320"/>
            <a:ext cx="420480" cy="375840"/>
          </a:xfrm>
          <a:custGeom>
            <a:avLst/>
            <a:gdLst/>
            <a:ahLst/>
            <a:rect l="0" t="0" r="r" b="b"/>
            <a:pathLst>
              <a:path w="1168" h="1044">
                <a:moveTo>
                  <a:pt x="615" y="0"/>
                </a:moveTo>
                <a:lnTo>
                  <a:pt x="1168" y="1044"/>
                </a:lnTo>
                <a:lnTo>
                  <a:pt x="0" y="860"/>
                </a:lnTo>
                <a:lnTo>
                  <a:pt x="615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11044800" y="2572920"/>
            <a:ext cx="381960" cy="1902240"/>
          </a:xfrm>
          <a:custGeom>
            <a:avLst/>
            <a:gdLst/>
            <a:ahLst/>
            <a:rect l="0" t="0" r="r" b="b"/>
            <a:pathLst>
              <a:path fill="none" w="1061" h="5284">
                <a:moveTo>
                  <a:pt x="133" y="0"/>
                </a:moveTo>
                <a:cubicBezTo>
                  <a:pt x="1455" y="1718"/>
                  <a:pt x="1322" y="3699"/>
                  <a:pt x="0" y="5284"/>
                </a:cubicBezTo>
              </a:path>
            </a:pathLst>
          </a:custGeom>
          <a:ln w="38160">
            <a:solidFill>
              <a:srgbClr val="284d7a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"/>
          <p:cNvSpPr/>
          <p:nvPr/>
        </p:nvSpPr>
        <p:spPr>
          <a:xfrm>
            <a:off x="11020680" y="4090320"/>
            <a:ext cx="389880" cy="414000"/>
          </a:xfrm>
          <a:custGeom>
            <a:avLst/>
            <a:gdLst/>
            <a:ahLst/>
            <a:rect l="0" t="0" r="r" b="b"/>
            <a:pathLst>
              <a:path w="1083" h="1150">
                <a:moveTo>
                  <a:pt x="1083" y="677"/>
                </a:moveTo>
                <a:lnTo>
                  <a:pt x="0" y="1150"/>
                </a:lnTo>
                <a:lnTo>
                  <a:pt x="271" y="0"/>
                </a:lnTo>
                <a:lnTo>
                  <a:pt x="1083" y="67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11020680" y="4090320"/>
            <a:ext cx="389880" cy="414000"/>
          </a:xfrm>
          <a:custGeom>
            <a:avLst/>
            <a:gdLst/>
            <a:ahLst/>
            <a:rect l="0" t="0" r="r" b="b"/>
            <a:pathLst>
              <a:path w="1083" h="1150">
                <a:moveTo>
                  <a:pt x="1083" y="677"/>
                </a:moveTo>
                <a:lnTo>
                  <a:pt x="0" y="1150"/>
                </a:lnTo>
                <a:lnTo>
                  <a:pt x="271" y="0"/>
                </a:lnTo>
                <a:lnTo>
                  <a:pt x="1083" y="677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7974720" y="5283720"/>
            <a:ext cx="881280" cy="903600"/>
          </a:xfrm>
          <a:custGeom>
            <a:avLst/>
            <a:gdLst/>
            <a:ahLst/>
            <a:rect l="0" t="0" r="r" b="b"/>
            <a:pathLst>
              <a:path fill="none" w="2448" h="2510">
                <a:moveTo>
                  <a:pt x="2448" y="0"/>
                </a:moveTo>
                <a:cubicBezTo>
                  <a:pt x="597" y="1850"/>
                  <a:pt x="-1254" y="2378"/>
                  <a:pt x="1126" y="2510"/>
                </a:cubicBezTo>
              </a:path>
            </a:pathLst>
          </a:custGeom>
          <a:ln w="38160">
            <a:solidFill>
              <a:srgbClr val="284d7a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"/>
          <p:cNvSpPr/>
          <p:nvPr/>
        </p:nvSpPr>
        <p:spPr>
          <a:xfrm>
            <a:off x="8027280" y="5978520"/>
            <a:ext cx="390600" cy="379800"/>
          </a:xfrm>
          <a:custGeom>
            <a:avLst/>
            <a:gdLst/>
            <a:ahLst/>
            <a:rect l="0" t="0" r="r" b="b"/>
            <a:pathLst>
              <a:path w="1085" h="1055">
                <a:moveTo>
                  <a:pt x="59" y="0"/>
                </a:moveTo>
                <a:lnTo>
                  <a:pt x="1085" y="586"/>
                </a:lnTo>
                <a:lnTo>
                  <a:pt x="0" y="1055"/>
                </a:lnTo>
                <a:lnTo>
                  <a:pt x="59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"/>
          <p:cNvSpPr/>
          <p:nvPr/>
        </p:nvSpPr>
        <p:spPr>
          <a:xfrm>
            <a:off x="8027280" y="5978520"/>
            <a:ext cx="390600" cy="379800"/>
          </a:xfrm>
          <a:custGeom>
            <a:avLst/>
            <a:gdLst/>
            <a:ahLst/>
            <a:rect l="0" t="0" r="r" b="b"/>
            <a:pathLst>
              <a:path w="1085" h="1055">
                <a:moveTo>
                  <a:pt x="59" y="0"/>
                </a:moveTo>
                <a:lnTo>
                  <a:pt x="1085" y="586"/>
                </a:lnTo>
                <a:lnTo>
                  <a:pt x="0" y="1055"/>
                </a:lnTo>
                <a:lnTo>
                  <a:pt x="59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8027280" y="5978520"/>
            <a:ext cx="390600" cy="379800"/>
          </a:xfrm>
          <a:custGeom>
            <a:avLst/>
            <a:gdLst/>
            <a:ahLst/>
            <a:rect l="0" t="0" r="r" b="b"/>
            <a:pathLst>
              <a:path w="1085" h="1055">
                <a:moveTo>
                  <a:pt x="59" y="0"/>
                </a:moveTo>
                <a:lnTo>
                  <a:pt x="1085" y="586"/>
                </a:lnTo>
                <a:lnTo>
                  <a:pt x="0" y="1055"/>
                </a:lnTo>
                <a:lnTo>
                  <a:pt x="59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2336760" y="5664240"/>
            <a:ext cx="1665360" cy="523080"/>
          </a:xfrm>
          <a:custGeom>
            <a:avLst/>
            <a:gdLst/>
            <a:ahLst/>
            <a:rect l="0" t="0" r="r" b="b"/>
            <a:pathLst>
              <a:path fill="none" w="4626" h="1453">
                <a:moveTo>
                  <a:pt x="4626" y="1453"/>
                </a:moveTo>
                <a:cubicBezTo>
                  <a:pt x="2247" y="1321"/>
                  <a:pt x="793" y="661"/>
                  <a:pt x="0" y="0"/>
                </a:cubicBezTo>
              </a:path>
            </a:pathLst>
          </a:custGeom>
          <a:ln w="38160">
            <a:solidFill>
              <a:srgbClr val="284d7a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2307240" y="5639760"/>
            <a:ext cx="414360" cy="389880"/>
          </a:xfrm>
          <a:custGeom>
            <a:avLst/>
            <a:gdLst/>
            <a:ahLst/>
            <a:rect l="0" t="0" r="r" b="b"/>
            <a:pathLst>
              <a:path w="1151" h="1083">
                <a:moveTo>
                  <a:pt x="474" y="1083"/>
                </a:moveTo>
                <a:lnTo>
                  <a:pt x="0" y="0"/>
                </a:lnTo>
                <a:lnTo>
                  <a:pt x="1151" y="271"/>
                </a:lnTo>
                <a:lnTo>
                  <a:pt x="474" y="1083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2307240" y="5639760"/>
            <a:ext cx="414360" cy="389880"/>
          </a:xfrm>
          <a:custGeom>
            <a:avLst/>
            <a:gdLst/>
            <a:ahLst/>
            <a:rect l="0" t="0" r="r" b="b"/>
            <a:pathLst>
              <a:path w="1151" h="1083">
                <a:moveTo>
                  <a:pt x="474" y="1083"/>
                </a:moveTo>
                <a:lnTo>
                  <a:pt x="0" y="0"/>
                </a:lnTo>
                <a:lnTo>
                  <a:pt x="1151" y="271"/>
                </a:lnTo>
                <a:lnTo>
                  <a:pt x="474" y="1083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2307240" y="5639760"/>
            <a:ext cx="414360" cy="389880"/>
          </a:xfrm>
          <a:custGeom>
            <a:avLst/>
            <a:gdLst/>
            <a:ahLst/>
            <a:rect l="0" t="0" r="r" b="b"/>
            <a:pathLst>
              <a:path w="1151" h="1083">
                <a:moveTo>
                  <a:pt x="474" y="1083"/>
                </a:moveTo>
                <a:lnTo>
                  <a:pt x="0" y="0"/>
                </a:lnTo>
                <a:lnTo>
                  <a:pt x="1151" y="271"/>
                </a:lnTo>
                <a:lnTo>
                  <a:pt x="474" y="1083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2307240" y="5639760"/>
            <a:ext cx="414360" cy="389880"/>
          </a:xfrm>
          <a:custGeom>
            <a:avLst/>
            <a:gdLst/>
            <a:ahLst/>
            <a:rect l="0" t="0" r="r" b="b"/>
            <a:pathLst>
              <a:path w="1151" h="1083">
                <a:moveTo>
                  <a:pt x="474" y="1083"/>
                </a:moveTo>
                <a:lnTo>
                  <a:pt x="0" y="0"/>
                </a:lnTo>
                <a:lnTo>
                  <a:pt x="1151" y="271"/>
                </a:lnTo>
                <a:lnTo>
                  <a:pt x="474" y="1083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932400" y="2572920"/>
            <a:ext cx="357120" cy="1902240"/>
          </a:xfrm>
          <a:custGeom>
            <a:avLst/>
            <a:gdLst/>
            <a:ahLst/>
            <a:rect l="0" t="0" r="r" b="b"/>
            <a:pathLst>
              <a:path fill="none" w="992" h="5284">
                <a:moveTo>
                  <a:pt x="992" y="5284"/>
                </a:moveTo>
                <a:cubicBezTo>
                  <a:pt x="-330" y="3567"/>
                  <a:pt x="-330" y="1718"/>
                  <a:pt x="992" y="0"/>
                </a:cubicBezTo>
              </a:path>
            </a:pathLst>
          </a:custGeom>
          <a:ln w="38160">
            <a:solidFill>
              <a:srgbClr val="284d7a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"/>
          <p:cNvSpPr/>
          <p:nvPr/>
        </p:nvSpPr>
        <p:spPr>
          <a:xfrm>
            <a:off x="929880" y="2543040"/>
            <a:ext cx="383040" cy="417600"/>
          </a:xfrm>
          <a:custGeom>
            <a:avLst/>
            <a:gdLst/>
            <a:ahLst/>
            <a:rect l="0" t="0" r="r" b="b"/>
            <a:pathLst>
              <a:path w="1064" h="1160">
                <a:moveTo>
                  <a:pt x="0" y="515"/>
                </a:moveTo>
                <a:lnTo>
                  <a:pt x="1064" y="0"/>
                </a:lnTo>
                <a:lnTo>
                  <a:pt x="838" y="1160"/>
                </a:lnTo>
                <a:lnTo>
                  <a:pt x="0" y="51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929880" y="2543040"/>
            <a:ext cx="383040" cy="417600"/>
          </a:xfrm>
          <a:custGeom>
            <a:avLst/>
            <a:gdLst/>
            <a:ahLst/>
            <a:rect l="0" t="0" r="r" b="b"/>
            <a:pathLst>
              <a:path w="1064" h="1160">
                <a:moveTo>
                  <a:pt x="0" y="515"/>
                </a:moveTo>
                <a:lnTo>
                  <a:pt x="1064" y="0"/>
                </a:lnTo>
                <a:lnTo>
                  <a:pt x="838" y="1160"/>
                </a:lnTo>
                <a:lnTo>
                  <a:pt x="0" y="51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"/>
          <p:cNvSpPr/>
          <p:nvPr/>
        </p:nvSpPr>
        <p:spPr>
          <a:xfrm>
            <a:off x="929880" y="2543040"/>
            <a:ext cx="383040" cy="417600"/>
          </a:xfrm>
          <a:custGeom>
            <a:avLst/>
            <a:gdLst/>
            <a:ahLst/>
            <a:rect l="0" t="0" r="r" b="b"/>
            <a:pathLst>
              <a:path w="1064" h="1160">
                <a:moveTo>
                  <a:pt x="0" y="515"/>
                </a:moveTo>
                <a:lnTo>
                  <a:pt x="1064" y="0"/>
                </a:lnTo>
                <a:lnTo>
                  <a:pt x="838" y="1160"/>
                </a:lnTo>
                <a:lnTo>
                  <a:pt x="0" y="51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929880" y="2543040"/>
            <a:ext cx="383040" cy="417600"/>
          </a:xfrm>
          <a:custGeom>
            <a:avLst/>
            <a:gdLst/>
            <a:ahLst/>
            <a:rect l="0" t="0" r="r" b="b"/>
            <a:pathLst>
              <a:path w="1064" h="1160">
                <a:moveTo>
                  <a:pt x="0" y="515"/>
                </a:moveTo>
                <a:lnTo>
                  <a:pt x="1064" y="0"/>
                </a:lnTo>
                <a:lnTo>
                  <a:pt x="838" y="1160"/>
                </a:lnTo>
                <a:lnTo>
                  <a:pt x="0" y="51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929880" y="2543040"/>
            <a:ext cx="383040" cy="417600"/>
          </a:xfrm>
          <a:custGeom>
            <a:avLst/>
            <a:gdLst/>
            <a:ahLst/>
            <a:rect l="0" t="0" r="r" b="b"/>
            <a:pathLst>
              <a:path w="1064" h="1160">
                <a:moveTo>
                  <a:pt x="0" y="515"/>
                </a:moveTo>
                <a:lnTo>
                  <a:pt x="1064" y="0"/>
                </a:lnTo>
                <a:lnTo>
                  <a:pt x="838" y="1160"/>
                </a:lnTo>
                <a:lnTo>
                  <a:pt x="0" y="515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3669120" y="1028520"/>
            <a:ext cx="1284840" cy="355680"/>
          </a:xfrm>
          <a:custGeom>
            <a:avLst/>
            <a:gdLst/>
            <a:ahLst/>
            <a:rect l="0" t="0" r="r" b="b"/>
            <a:pathLst>
              <a:path fill="none" w="3569" h="988">
                <a:moveTo>
                  <a:pt x="0" y="988"/>
                </a:moveTo>
                <a:cubicBezTo>
                  <a:pt x="925" y="327"/>
                  <a:pt x="2644" y="-69"/>
                  <a:pt x="3569" y="10"/>
                </a:cubicBezTo>
              </a:path>
            </a:pathLst>
          </a:custGeom>
          <a:ln w="38160">
            <a:solidFill>
              <a:srgbClr val="284d7a"/>
            </a:solidFill>
            <a:miter/>
          </a:ln>
        </p:spPr>
        <p:txBody>
          <a:bodyPr lIns="109080" rIns="109080" tIns="64080" bIns="640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"/>
          <p:cNvSpPr/>
          <p:nvPr/>
        </p:nvSpPr>
        <p:spPr>
          <a:xfrm>
            <a:off x="4596480" y="813240"/>
            <a:ext cx="395280" cy="379080"/>
          </a:xfrm>
          <a:custGeom>
            <a:avLst/>
            <a:gdLst/>
            <a:ahLst/>
            <a:rect l="0" t="0" r="r" b="b"/>
            <a:pathLst>
              <a:path w="1098" h="1053">
                <a:moveTo>
                  <a:pt x="90" y="0"/>
                </a:moveTo>
                <a:lnTo>
                  <a:pt x="1098" y="617"/>
                </a:lnTo>
                <a:lnTo>
                  <a:pt x="0" y="1053"/>
                </a:lnTo>
                <a:lnTo>
                  <a:pt x="9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4596480" y="813240"/>
            <a:ext cx="395280" cy="379080"/>
          </a:xfrm>
          <a:custGeom>
            <a:avLst/>
            <a:gdLst/>
            <a:ahLst/>
            <a:rect l="0" t="0" r="r" b="b"/>
            <a:pathLst>
              <a:path w="1098" h="1053">
                <a:moveTo>
                  <a:pt x="90" y="0"/>
                </a:moveTo>
                <a:lnTo>
                  <a:pt x="1098" y="617"/>
                </a:lnTo>
                <a:lnTo>
                  <a:pt x="0" y="1053"/>
                </a:lnTo>
                <a:lnTo>
                  <a:pt x="9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4596480" y="813240"/>
            <a:ext cx="395280" cy="379080"/>
          </a:xfrm>
          <a:custGeom>
            <a:avLst/>
            <a:gdLst/>
            <a:ahLst/>
            <a:rect l="0" t="0" r="r" b="b"/>
            <a:pathLst>
              <a:path w="1098" h="1053">
                <a:moveTo>
                  <a:pt x="90" y="0"/>
                </a:moveTo>
                <a:lnTo>
                  <a:pt x="1098" y="617"/>
                </a:lnTo>
                <a:lnTo>
                  <a:pt x="0" y="1053"/>
                </a:lnTo>
                <a:lnTo>
                  <a:pt x="9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"/>
          <p:cNvSpPr/>
          <p:nvPr/>
        </p:nvSpPr>
        <p:spPr>
          <a:xfrm>
            <a:off x="4596480" y="813240"/>
            <a:ext cx="395280" cy="379080"/>
          </a:xfrm>
          <a:custGeom>
            <a:avLst/>
            <a:gdLst/>
            <a:ahLst/>
            <a:rect l="0" t="0" r="r" b="b"/>
            <a:pathLst>
              <a:path w="1098" h="1053">
                <a:moveTo>
                  <a:pt x="90" y="0"/>
                </a:moveTo>
                <a:lnTo>
                  <a:pt x="1098" y="617"/>
                </a:lnTo>
                <a:lnTo>
                  <a:pt x="0" y="1053"/>
                </a:lnTo>
                <a:lnTo>
                  <a:pt x="9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4596480" y="813240"/>
            <a:ext cx="395280" cy="379080"/>
          </a:xfrm>
          <a:custGeom>
            <a:avLst/>
            <a:gdLst/>
            <a:ahLst/>
            <a:rect l="0" t="0" r="r" b="b"/>
            <a:pathLst>
              <a:path w="1098" h="1053">
                <a:moveTo>
                  <a:pt x="90" y="0"/>
                </a:moveTo>
                <a:lnTo>
                  <a:pt x="1098" y="617"/>
                </a:lnTo>
                <a:lnTo>
                  <a:pt x="0" y="1053"/>
                </a:lnTo>
                <a:lnTo>
                  <a:pt x="9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4596480" y="813240"/>
            <a:ext cx="395280" cy="379080"/>
          </a:xfrm>
          <a:custGeom>
            <a:avLst/>
            <a:gdLst/>
            <a:ahLst/>
            <a:rect l="0" t="0" r="r" b="b"/>
            <a:pathLst>
              <a:path w="1098" h="1053">
                <a:moveTo>
                  <a:pt x="90" y="0"/>
                </a:moveTo>
                <a:lnTo>
                  <a:pt x="1098" y="617"/>
                </a:lnTo>
                <a:lnTo>
                  <a:pt x="0" y="1053"/>
                </a:lnTo>
                <a:lnTo>
                  <a:pt x="90" y="0"/>
                </a:lnTo>
                <a:close/>
              </a:path>
            </a:pathLst>
          </a:custGeom>
          <a:solidFill>
            <a:srgbClr val="284d7a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6191280" y="1621800"/>
            <a:ext cx="0" cy="808560"/>
          </a:xfrm>
          <a:prstGeom prst="line">
            <a:avLst/>
          </a:prstGeom>
          <a:ln w="2376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1880" rIns="101880" tIns="56880" bIns="568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 flipH="1">
            <a:off x="8142120" y="2382840"/>
            <a:ext cx="570960" cy="523080"/>
          </a:xfrm>
          <a:prstGeom prst="line">
            <a:avLst/>
          </a:prstGeom>
          <a:ln w="2376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1880" rIns="101880" tIns="56880" bIns="568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 flipH="1" flipV="1">
            <a:off x="8142120" y="4094640"/>
            <a:ext cx="713880" cy="951120"/>
          </a:xfrm>
          <a:prstGeom prst="line">
            <a:avLst/>
          </a:prstGeom>
          <a:ln w="2376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1880" rIns="101880" tIns="56880" bIns="568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"/>
          <p:cNvSpPr/>
          <p:nvPr/>
        </p:nvSpPr>
        <p:spPr>
          <a:xfrm flipV="1">
            <a:off x="6191280" y="4570200"/>
            <a:ext cx="0" cy="1094040"/>
          </a:xfrm>
          <a:prstGeom prst="line">
            <a:avLst/>
          </a:prstGeom>
          <a:ln w="2376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1880" rIns="101880" tIns="56880" bIns="568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 flipV="1">
            <a:off x="3526200" y="4094640"/>
            <a:ext cx="713880" cy="951120"/>
          </a:xfrm>
          <a:prstGeom prst="line">
            <a:avLst/>
          </a:prstGeom>
          <a:ln w="2376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1880" rIns="101880" tIns="56880" bIns="568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3669120" y="2382840"/>
            <a:ext cx="570960" cy="523080"/>
          </a:xfrm>
          <a:prstGeom prst="line">
            <a:avLst/>
          </a:prstGeom>
          <a:ln w="23760">
            <a:solidFill>
              <a:srgbClr val="8a98a8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101880" rIns="101880" tIns="56880" bIns="5688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1670400" y="6910200"/>
            <a:ext cx="9041400" cy="266400"/>
          </a:xfrm>
          <a:custGeom>
            <a:avLst/>
            <a:gdLst/>
            <a:ahLst/>
            <a:rect l="0" t="0" r="r" b="b"/>
            <a:pathLst>
              <a:path w="25115" h="740">
                <a:moveTo>
                  <a:pt x="12558" y="740"/>
                </a:moveTo>
                <a:lnTo>
                  <a:pt x="24877" y="740"/>
                </a:lnTo>
                <a:cubicBezTo>
                  <a:pt x="25009" y="740"/>
                  <a:pt x="25115" y="634"/>
                  <a:pt x="25115" y="502"/>
                </a:cubicBezTo>
                <a:lnTo>
                  <a:pt x="25115" y="238"/>
                </a:lnTo>
                <a:cubicBezTo>
                  <a:pt x="25115" y="107"/>
                  <a:pt x="25009" y="0"/>
                  <a:pt x="24877" y="0"/>
                </a:cubicBezTo>
                <a:lnTo>
                  <a:pt x="238" y="0"/>
                </a:lnTo>
                <a:cubicBezTo>
                  <a:pt x="106" y="0"/>
                  <a:pt x="0" y="107"/>
                  <a:pt x="0" y="238"/>
                </a:cubicBezTo>
                <a:lnTo>
                  <a:pt x="0" y="502"/>
                </a:lnTo>
                <a:cubicBezTo>
                  <a:pt x="0" y="634"/>
                  <a:pt x="106" y="740"/>
                  <a:pt x="238" y="740"/>
                </a:cubicBezTo>
                <a:lnTo>
                  <a:pt x="12558" y="740"/>
                </a:lnTo>
                <a:close/>
              </a:path>
            </a:pathLst>
          </a:custGeom>
          <a:solidFill>
            <a:srgbClr val="fff1ee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"/>
          <p:cNvSpPr/>
          <p:nvPr/>
        </p:nvSpPr>
        <p:spPr>
          <a:xfrm>
            <a:off x="1670400" y="6910200"/>
            <a:ext cx="9041400" cy="266400"/>
          </a:xfrm>
          <a:custGeom>
            <a:avLst/>
            <a:gdLst/>
            <a:ahLst/>
            <a:rect l="0" t="0" r="r" b="b"/>
            <a:pathLst>
              <a:path w="25115" h="740">
                <a:moveTo>
                  <a:pt x="12558" y="740"/>
                </a:moveTo>
                <a:lnTo>
                  <a:pt x="24877" y="740"/>
                </a:lnTo>
                <a:cubicBezTo>
                  <a:pt x="25009" y="740"/>
                  <a:pt x="25115" y="634"/>
                  <a:pt x="25115" y="502"/>
                </a:cubicBezTo>
                <a:lnTo>
                  <a:pt x="25115" y="238"/>
                </a:lnTo>
                <a:cubicBezTo>
                  <a:pt x="25115" y="107"/>
                  <a:pt x="25009" y="0"/>
                  <a:pt x="24877" y="0"/>
                </a:cubicBezTo>
                <a:lnTo>
                  <a:pt x="238" y="0"/>
                </a:lnTo>
                <a:cubicBezTo>
                  <a:pt x="106" y="0"/>
                  <a:pt x="0" y="107"/>
                  <a:pt x="0" y="238"/>
                </a:cubicBezTo>
                <a:lnTo>
                  <a:pt x="0" y="502"/>
                </a:lnTo>
                <a:cubicBezTo>
                  <a:pt x="0" y="634"/>
                  <a:pt x="106" y="740"/>
                  <a:pt x="238" y="740"/>
                </a:cubicBezTo>
                <a:lnTo>
                  <a:pt x="12558" y="740"/>
                </a:lnTo>
                <a:close/>
              </a:path>
            </a:pathLst>
          </a:custGeom>
          <a:noFill/>
          <a:ln w="19080">
            <a:solidFill>
              <a:srgbClr val="9b3b2f"/>
            </a:solidFill>
            <a:miter/>
          </a:ln>
        </p:spPr>
        <p:txBody>
          <a:bodyPr lIns="99360" rIns="99360" tIns="54360" bIns="54360" anchor="ctr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3721320" y="6981480"/>
            <a:ext cx="4758120" cy="1591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120" strike="noStrike" u="none">
                <a:solidFill>
                  <a:srgbClr val="7c3027"/>
                </a:solidFill>
                <a:effectLst/>
                <a:uFillTx/>
                <a:latin typeface="Times New Roman"/>
              </a:rPr>
              <a:t>repair evaluation · return to execution · reopen an earlier gate · narrow or suspend</a:t>
            </a:r>
            <a:endParaRPr b="0" i="1" lang="en-US" sz="1120" strike="noStrike" u="none">
              <a:solidFill>
                <a:srgbClr val="7c3027"/>
              </a:solidFill>
              <a:effectLst/>
              <a:uFillTx/>
              <a:latin typeface="Times New Roman"/>
              <a:ea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2026-08-19T10:49:58Z</dcterms:created>
  <dc:creator>Antonio Clim and Martino Aldrigo</dc:creator>
  <dc:description>Six operations surround the minimum meaningful claim: bound wording, match route and comparison, characterise uncertainty or credibility, challenge assumptions and counter-evidence, reproduce or audit, then decide the strongest supported boundary. The cycle can repair evaluation, return to execution, reopen design, evidence or problem, or narrow or suspend the claim. Native-object PPTX generated from the canonical SVG; all text, boxes, lines, arrows and colours remain separately editable.</dc:description>
  <dc:language>en-US</dc:language>
  <cp:lastModifiedBy/>
  <dcterms:modified xsi:type="dcterms:W3CDTF">2026-08-19T10:49:59Z</dcterms:modified>
  <cp:revision>1</cp:revision>
  <dc:subject>Fully editable native drawing objects</dc:subject>
  <dc:title>Figure 6.2. The claim stress-test and gate return paths</dc:title>
</cp:coreProperties>
</file>