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7145000" cy="8763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8DCAB04-52E4-4245-88F8-89B6BE1D6BE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A834B7E-1255-42FE-ACBA-2E0A75FAFFBF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/>
          <p:nvPr/>
        </p:nvSpPr>
        <p:spPr>
          <a:xfrm>
            <a:off x="4680" y="4680"/>
            <a:ext cx="17135280" cy="8753400"/>
          </a:xfrm>
          <a:custGeom>
            <a:avLst/>
            <a:gdLst/>
            <a:ahLst/>
            <a:rect l="0" t="0" r="r" b="b"/>
            <a:pathLst>
              <a:path w="47598" h="24315">
                <a:moveTo>
                  <a:pt x="0" y="0"/>
                </a:moveTo>
                <a:lnTo>
                  <a:pt x="47598" y="0"/>
                </a:lnTo>
                <a:lnTo>
                  <a:pt x="47598" y="24315"/>
                </a:lnTo>
                <a:lnTo>
                  <a:pt x="0" y="2431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"/>
          <p:cNvSpPr/>
          <p:nvPr/>
        </p:nvSpPr>
        <p:spPr>
          <a:xfrm>
            <a:off x="5811840" y="242640"/>
            <a:ext cx="5520960" cy="1712520"/>
          </a:xfrm>
          <a:custGeom>
            <a:avLst/>
            <a:gdLst/>
            <a:ahLst/>
            <a:rect l="0" t="0" r="r" b="b"/>
            <a:pathLst>
              <a:path w="15336" h="4757">
                <a:moveTo>
                  <a:pt x="7669" y="4757"/>
                </a:moveTo>
                <a:lnTo>
                  <a:pt x="14807" y="4757"/>
                </a:lnTo>
                <a:cubicBezTo>
                  <a:pt x="15099" y="4757"/>
                  <a:pt x="15336" y="4521"/>
                  <a:pt x="15336" y="4229"/>
                </a:cubicBezTo>
                <a:lnTo>
                  <a:pt x="15336" y="529"/>
                </a:lnTo>
                <a:cubicBezTo>
                  <a:pt x="15336" y="237"/>
                  <a:pt x="15099" y="0"/>
                  <a:pt x="14807" y="0"/>
                </a:cubicBezTo>
                <a:lnTo>
                  <a:pt x="529" y="0"/>
                </a:lnTo>
                <a:cubicBezTo>
                  <a:pt x="237" y="0"/>
                  <a:pt x="0" y="237"/>
                  <a:pt x="0" y="529"/>
                </a:cubicBezTo>
                <a:lnTo>
                  <a:pt x="0" y="4229"/>
                </a:lnTo>
                <a:cubicBezTo>
                  <a:pt x="0" y="4521"/>
                  <a:pt x="237" y="4757"/>
                  <a:pt x="529" y="4757"/>
                </a:cubicBezTo>
                <a:lnTo>
                  <a:pt x="7669" y="4757"/>
                </a:lnTo>
                <a:close/>
              </a:path>
            </a:pathLst>
          </a:custGeom>
          <a:solidFill>
            <a:srgbClr val="eeeee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"/>
          <p:cNvSpPr/>
          <p:nvPr/>
        </p:nvSpPr>
        <p:spPr>
          <a:xfrm>
            <a:off x="5811840" y="242640"/>
            <a:ext cx="5520960" cy="1712520"/>
          </a:xfrm>
          <a:custGeom>
            <a:avLst/>
            <a:gdLst/>
            <a:ahLst/>
            <a:rect l="0" t="0" r="r" b="b"/>
            <a:pathLst>
              <a:path w="15336" h="4757">
                <a:moveTo>
                  <a:pt x="7669" y="4757"/>
                </a:moveTo>
                <a:lnTo>
                  <a:pt x="14807" y="4757"/>
                </a:lnTo>
                <a:cubicBezTo>
                  <a:pt x="15099" y="4757"/>
                  <a:pt x="15336" y="4521"/>
                  <a:pt x="15336" y="4229"/>
                </a:cubicBezTo>
                <a:lnTo>
                  <a:pt x="15336" y="529"/>
                </a:lnTo>
                <a:cubicBezTo>
                  <a:pt x="15336" y="237"/>
                  <a:pt x="15099" y="0"/>
                  <a:pt x="14807" y="0"/>
                </a:cubicBezTo>
                <a:lnTo>
                  <a:pt x="529" y="0"/>
                </a:lnTo>
                <a:cubicBezTo>
                  <a:pt x="237" y="0"/>
                  <a:pt x="0" y="237"/>
                  <a:pt x="0" y="529"/>
                </a:cubicBezTo>
                <a:lnTo>
                  <a:pt x="0" y="4229"/>
                </a:lnTo>
                <a:cubicBezTo>
                  <a:pt x="0" y="4521"/>
                  <a:pt x="237" y="4757"/>
                  <a:pt x="529" y="4757"/>
                </a:cubicBezTo>
                <a:lnTo>
                  <a:pt x="7669" y="4757"/>
                </a:lnTo>
                <a:close/>
              </a:path>
            </a:pathLst>
          </a:custGeom>
          <a:noFill/>
          <a:ln w="38160">
            <a:solidFill>
              <a:srgbClr val="333333"/>
            </a:solidFill>
            <a:miter/>
          </a:ln>
        </p:spPr>
        <p:txBody>
          <a:bodyPr lIns="109080" rIns="109080" tIns="64080" bIns="640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7358760" y="494640"/>
            <a:ext cx="243936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7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 — COLLECT</a:t>
            </a:r>
            <a:endParaRPr b="1" lang="en-US" sz="270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7263360" y="1037160"/>
            <a:ext cx="2613600" cy="28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02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Search Strategy Record</a:t>
            </a:r>
            <a:endParaRPr b="1" lang="en-US" sz="202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7625160" y="1474920"/>
            <a:ext cx="1874520" cy="26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87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search strategically</a:t>
            </a:r>
            <a:endParaRPr b="0" i="1" lang="en-US" sz="187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3" name=""/>
          <p:cNvSpPr/>
          <p:nvPr/>
        </p:nvSpPr>
        <p:spPr>
          <a:xfrm>
            <a:off x="11523240" y="2003040"/>
            <a:ext cx="5140800" cy="1712520"/>
          </a:xfrm>
          <a:custGeom>
            <a:avLst/>
            <a:gdLst/>
            <a:ahLst/>
            <a:rect l="0" t="0" r="r" b="b"/>
            <a:pathLst>
              <a:path w="14280" h="4757">
                <a:moveTo>
                  <a:pt x="7140" y="4757"/>
                </a:moveTo>
                <a:lnTo>
                  <a:pt x="13751" y="4757"/>
                </a:lnTo>
                <a:cubicBezTo>
                  <a:pt x="14043" y="4757"/>
                  <a:pt x="14280" y="4520"/>
                  <a:pt x="14280" y="4228"/>
                </a:cubicBezTo>
                <a:lnTo>
                  <a:pt x="14280" y="528"/>
                </a:lnTo>
                <a:cubicBezTo>
                  <a:pt x="14280" y="236"/>
                  <a:pt x="14043" y="0"/>
                  <a:pt x="13751" y="0"/>
                </a:cubicBezTo>
                <a:lnTo>
                  <a:pt x="529" y="0"/>
                </a:lnTo>
                <a:cubicBezTo>
                  <a:pt x="237" y="0"/>
                  <a:pt x="0" y="236"/>
                  <a:pt x="0" y="528"/>
                </a:cubicBezTo>
                <a:lnTo>
                  <a:pt x="0" y="4228"/>
                </a:lnTo>
                <a:cubicBezTo>
                  <a:pt x="0" y="4520"/>
                  <a:pt x="237" y="4757"/>
                  <a:pt x="529" y="4757"/>
                </a:cubicBezTo>
                <a:lnTo>
                  <a:pt x="7140" y="4757"/>
                </a:lnTo>
                <a:close/>
              </a:path>
            </a:pathLst>
          </a:custGeom>
          <a:solidFill>
            <a:srgbClr val="eeeee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11523240" y="2003040"/>
            <a:ext cx="5140800" cy="1712520"/>
          </a:xfrm>
          <a:custGeom>
            <a:avLst/>
            <a:gdLst/>
            <a:ahLst/>
            <a:rect l="0" t="0" r="r" b="b"/>
            <a:pathLst>
              <a:path w="14280" h="4757">
                <a:moveTo>
                  <a:pt x="7140" y="4757"/>
                </a:moveTo>
                <a:lnTo>
                  <a:pt x="13751" y="4757"/>
                </a:lnTo>
                <a:cubicBezTo>
                  <a:pt x="14043" y="4757"/>
                  <a:pt x="14280" y="4520"/>
                  <a:pt x="14280" y="4228"/>
                </a:cubicBezTo>
                <a:lnTo>
                  <a:pt x="14280" y="528"/>
                </a:lnTo>
                <a:cubicBezTo>
                  <a:pt x="14280" y="236"/>
                  <a:pt x="14043" y="0"/>
                  <a:pt x="13751" y="0"/>
                </a:cubicBezTo>
                <a:lnTo>
                  <a:pt x="529" y="0"/>
                </a:lnTo>
                <a:cubicBezTo>
                  <a:pt x="237" y="0"/>
                  <a:pt x="0" y="236"/>
                  <a:pt x="0" y="528"/>
                </a:cubicBezTo>
                <a:lnTo>
                  <a:pt x="0" y="4228"/>
                </a:lnTo>
                <a:cubicBezTo>
                  <a:pt x="0" y="4520"/>
                  <a:pt x="237" y="4757"/>
                  <a:pt x="529" y="4757"/>
                </a:cubicBezTo>
                <a:lnTo>
                  <a:pt x="7140" y="4757"/>
                </a:lnTo>
                <a:close/>
              </a:path>
            </a:pathLst>
          </a:custGeom>
          <a:noFill/>
          <a:ln w="38160">
            <a:solidFill>
              <a:srgbClr val="333333"/>
            </a:solidFill>
            <a:miter/>
          </a:ln>
        </p:spPr>
        <p:txBody>
          <a:bodyPr lIns="109080" rIns="109080" tIns="64080" bIns="640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12794040" y="2255040"/>
            <a:ext cx="261108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7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O — ORGANISE</a:t>
            </a:r>
            <a:endParaRPr b="1" lang="en-US" sz="270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12461040" y="2797560"/>
            <a:ext cx="3271320" cy="28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02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Source Ledger + identity map</a:t>
            </a:r>
            <a:endParaRPr b="1" lang="en-US" sz="202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13108320" y="3235320"/>
            <a:ext cx="1950840" cy="26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87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record transparently</a:t>
            </a:r>
            <a:endParaRPr b="0" i="1" lang="en-US" sz="187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8" name=""/>
          <p:cNvSpPr/>
          <p:nvPr/>
        </p:nvSpPr>
        <p:spPr>
          <a:xfrm>
            <a:off x="11523240" y="5570640"/>
            <a:ext cx="5140800" cy="1712520"/>
          </a:xfrm>
          <a:custGeom>
            <a:avLst/>
            <a:gdLst/>
            <a:ahLst/>
            <a:rect l="0" t="0" r="r" b="b"/>
            <a:pathLst>
              <a:path w="14280" h="4757">
                <a:moveTo>
                  <a:pt x="7140" y="4757"/>
                </a:moveTo>
                <a:lnTo>
                  <a:pt x="13751" y="4757"/>
                </a:lnTo>
                <a:cubicBezTo>
                  <a:pt x="14043" y="4757"/>
                  <a:pt x="14280" y="4520"/>
                  <a:pt x="14280" y="4229"/>
                </a:cubicBezTo>
                <a:lnTo>
                  <a:pt x="14280" y="528"/>
                </a:lnTo>
                <a:cubicBezTo>
                  <a:pt x="14280" y="236"/>
                  <a:pt x="14043" y="0"/>
                  <a:pt x="13751" y="0"/>
                </a:cubicBezTo>
                <a:lnTo>
                  <a:pt x="529" y="0"/>
                </a:lnTo>
                <a:cubicBezTo>
                  <a:pt x="237" y="0"/>
                  <a:pt x="0" y="236"/>
                  <a:pt x="0" y="528"/>
                </a:cubicBezTo>
                <a:lnTo>
                  <a:pt x="0" y="4229"/>
                </a:lnTo>
                <a:cubicBezTo>
                  <a:pt x="0" y="4520"/>
                  <a:pt x="237" y="4757"/>
                  <a:pt x="529" y="4757"/>
                </a:cubicBezTo>
                <a:lnTo>
                  <a:pt x="7140" y="4757"/>
                </a:lnTo>
                <a:close/>
              </a:path>
            </a:pathLst>
          </a:custGeom>
          <a:solidFill>
            <a:srgbClr val="eeeee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>
            <a:off x="11523240" y="5570640"/>
            <a:ext cx="5140800" cy="1712520"/>
          </a:xfrm>
          <a:custGeom>
            <a:avLst/>
            <a:gdLst/>
            <a:ahLst/>
            <a:rect l="0" t="0" r="r" b="b"/>
            <a:pathLst>
              <a:path w="14280" h="4757">
                <a:moveTo>
                  <a:pt x="7140" y="4757"/>
                </a:moveTo>
                <a:lnTo>
                  <a:pt x="13751" y="4757"/>
                </a:lnTo>
                <a:cubicBezTo>
                  <a:pt x="14043" y="4757"/>
                  <a:pt x="14280" y="4520"/>
                  <a:pt x="14280" y="4229"/>
                </a:cubicBezTo>
                <a:lnTo>
                  <a:pt x="14280" y="528"/>
                </a:lnTo>
                <a:cubicBezTo>
                  <a:pt x="14280" y="236"/>
                  <a:pt x="14043" y="0"/>
                  <a:pt x="13751" y="0"/>
                </a:cubicBezTo>
                <a:lnTo>
                  <a:pt x="529" y="0"/>
                </a:lnTo>
                <a:cubicBezTo>
                  <a:pt x="237" y="0"/>
                  <a:pt x="0" y="236"/>
                  <a:pt x="0" y="528"/>
                </a:cubicBezTo>
                <a:lnTo>
                  <a:pt x="0" y="4229"/>
                </a:lnTo>
                <a:cubicBezTo>
                  <a:pt x="0" y="4520"/>
                  <a:pt x="237" y="4757"/>
                  <a:pt x="529" y="4757"/>
                </a:cubicBezTo>
                <a:lnTo>
                  <a:pt x="7140" y="4757"/>
                </a:lnTo>
                <a:close/>
              </a:path>
            </a:pathLst>
          </a:custGeom>
          <a:noFill/>
          <a:ln w="38160">
            <a:solidFill>
              <a:srgbClr val="333333"/>
            </a:solidFill>
            <a:miter/>
          </a:ln>
        </p:spPr>
        <p:txBody>
          <a:bodyPr lIns="109080" rIns="109080" tIns="64080" bIns="640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13232160" y="5822640"/>
            <a:ext cx="173448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7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R — READ</a:t>
            </a:r>
            <a:endParaRPr b="1" lang="en-US" sz="270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13136760" y="6365160"/>
            <a:ext cx="1936800" cy="28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02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Core Source Note</a:t>
            </a:r>
            <a:endParaRPr b="1" lang="en-US" sz="202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12898800" y="6802920"/>
            <a:ext cx="2362320" cy="26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87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read to evidential weight</a:t>
            </a:r>
            <a:endParaRPr b="0" i="1" lang="en-US" sz="187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5811840" y="6807600"/>
            <a:ext cx="5520960" cy="1712520"/>
          </a:xfrm>
          <a:custGeom>
            <a:avLst/>
            <a:gdLst/>
            <a:ahLst/>
            <a:rect l="0" t="0" r="r" b="b"/>
            <a:pathLst>
              <a:path w="15336" h="4757">
                <a:moveTo>
                  <a:pt x="7669" y="4757"/>
                </a:moveTo>
                <a:lnTo>
                  <a:pt x="14807" y="4757"/>
                </a:lnTo>
                <a:cubicBezTo>
                  <a:pt x="15099" y="4757"/>
                  <a:pt x="15336" y="4520"/>
                  <a:pt x="15336" y="4228"/>
                </a:cubicBezTo>
                <a:lnTo>
                  <a:pt x="15336" y="528"/>
                </a:lnTo>
                <a:cubicBezTo>
                  <a:pt x="15336" y="236"/>
                  <a:pt x="15099" y="0"/>
                  <a:pt x="14807" y="0"/>
                </a:cubicBezTo>
                <a:lnTo>
                  <a:pt x="529" y="0"/>
                </a:lnTo>
                <a:cubicBezTo>
                  <a:pt x="237" y="0"/>
                  <a:pt x="0" y="236"/>
                  <a:pt x="0" y="528"/>
                </a:cubicBezTo>
                <a:lnTo>
                  <a:pt x="0" y="4228"/>
                </a:lnTo>
                <a:cubicBezTo>
                  <a:pt x="0" y="4520"/>
                  <a:pt x="237" y="4757"/>
                  <a:pt x="529" y="4757"/>
                </a:cubicBezTo>
                <a:lnTo>
                  <a:pt x="7669" y="4757"/>
                </a:lnTo>
                <a:close/>
              </a:path>
            </a:pathLst>
          </a:custGeom>
          <a:solidFill>
            <a:srgbClr val="eeeee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>
            <a:off x="5811840" y="6807600"/>
            <a:ext cx="5520960" cy="1712520"/>
          </a:xfrm>
          <a:custGeom>
            <a:avLst/>
            <a:gdLst/>
            <a:ahLst/>
            <a:rect l="0" t="0" r="r" b="b"/>
            <a:pathLst>
              <a:path w="15336" h="4757">
                <a:moveTo>
                  <a:pt x="7669" y="4757"/>
                </a:moveTo>
                <a:lnTo>
                  <a:pt x="14807" y="4757"/>
                </a:lnTo>
                <a:cubicBezTo>
                  <a:pt x="15099" y="4757"/>
                  <a:pt x="15336" y="4520"/>
                  <a:pt x="15336" y="4228"/>
                </a:cubicBezTo>
                <a:lnTo>
                  <a:pt x="15336" y="528"/>
                </a:lnTo>
                <a:cubicBezTo>
                  <a:pt x="15336" y="236"/>
                  <a:pt x="15099" y="0"/>
                  <a:pt x="14807" y="0"/>
                </a:cubicBezTo>
                <a:lnTo>
                  <a:pt x="529" y="0"/>
                </a:lnTo>
                <a:cubicBezTo>
                  <a:pt x="237" y="0"/>
                  <a:pt x="0" y="236"/>
                  <a:pt x="0" y="528"/>
                </a:cubicBezTo>
                <a:lnTo>
                  <a:pt x="0" y="4228"/>
                </a:lnTo>
                <a:cubicBezTo>
                  <a:pt x="0" y="4520"/>
                  <a:pt x="237" y="4757"/>
                  <a:pt x="529" y="4757"/>
                </a:cubicBezTo>
                <a:lnTo>
                  <a:pt x="7669" y="4757"/>
                </a:lnTo>
                <a:close/>
              </a:path>
            </a:pathLst>
          </a:custGeom>
          <a:noFill/>
          <a:ln w="38160">
            <a:solidFill>
              <a:srgbClr val="333333"/>
            </a:solidFill>
            <a:miter/>
          </a:ln>
        </p:spPr>
        <p:txBody>
          <a:bodyPr lIns="109080" rIns="109080" tIns="64080" bIns="640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7634880" y="7059600"/>
            <a:ext cx="188676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7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P — PROBE</a:t>
            </a:r>
            <a:endParaRPr b="1" lang="en-US" sz="270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7596720" y="7602120"/>
            <a:ext cx="1953720" cy="28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02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Appraisal Record</a:t>
            </a:r>
            <a:endParaRPr b="1" lang="en-US" sz="202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7139880" y="8039880"/>
            <a:ext cx="2837160" cy="26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87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check quality and provenance</a:t>
            </a:r>
            <a:endParaRPr b="0" i="1" lang="en-US" sz="187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28" name=""/>
          <p:cNvSpPr/>
          <p:nvPr/>
        </p:nvSpPr>
        <p:spPr>
          <a:xfrm>
            <a:off x="480600" y="5570640"/>
            <a:ext cx="5140800" cy="1712520"/>
          </a:xfrm>
          <a:custGeom>
            <a:avLst/>
            <a:gdLst/>
            <a:ahLst/>
            <a:rect l="0" t="0" r="r" b="b"/>
            <a:pathLst>
              <a:path w="14280" h="4757">
                <a:moveTo>
                  <a:pt x="7140" y="4757"/>
                </a:moveTo>
                <a:lnTo>
                  <a:pt x="13751" y="4757"/>
                </a:lnTo>
                <a:cubicBezTo>
                  <a:pt x="14043" y="4757"/>
                  <a:pt x="14280" y="4520"/>
                  <a:pt x="14280" y="4229"/>
                </a:cubicBezTo>
                <a:lnTo>
                  <a:pt x="14280" y="528"/>
                </a:lnTo>
                <a:cubicBezTo>
                  <a:pt x="14280" y="236"/>
                  <a:pt x="14043" y="0"/>
                  <a:pt x="13751" y="0"/>
                </a:cubicBezTo>
                <a:lnTo>
                  <a:pt x="529" y="0"/>
                </a:lnTo>
                <a:cubicBezTo>
                  <a:pt x="237" y="0"/>
                  <a:pt x="0" y="236"/>
                  <a:pt x="0" y="528"/>
                </a:cubicBezTo>
                <a:lnTo>
                  <a:pt x="0" y="4229"/>
                </a:lnTo>
                <a:cubicBezTo>
                  <a:pt x="0" y="4520"/>
                  <a:pt x="237" y="4757"/>
                  <a:pt x="529" y="4757"/>
                </a:cubicBezTo>
                <a:lnTo>
                  <a:pt x="7140" y="4757"/>
                </a:lnTo>
                <a:close/>
              </a:path>
            </a:pathLst>
          </a:custGeom>
          <a:solidFill>
            <a:srgbClr val="eeeee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480600" y="5570640"/>
            <a:ext cx="5140800" cy="1712520"/>
          </a:xfrm>
          <a:custGeom>
            <a:avLst/>
            <a:gdLst/>
            <a:ahLst/>
            <a:rect l="0" t="0" r="r" b="b"/>
            <a:pathLst>
              <a:path w="14280" h="4757">
                <a:moveTo>
                  <a:pt x="7140" y="4757"/>
                </a:moveTo>
                <a:lnTo>
                  <a:pt x="13751" y="4757"/>
                </a:lnTo>
                <a:cubicBezTo>
                  <a:pt x="14043" y="4757"/>
                  <a:pt x="14280" y="4520"/>
                  <a:pt x="14280" y="4229"/>
                </a:cubicBezTo>
                <a:lnTo>
                  <a:pt x="14280" y="528"/>
                </a:lnTo>
                <a:cubicBezTo>
                  <a:pt x="14280" y="236"/>
                  <a:pt x="14043" y="0"/>
                  <a:pt x="13751" y="0"/>
                </a:cubicBezTo>
                <a:lnTo>
                  <a:pt x="529" y="0"/>
                </a:lnTo>
                <a:cubicBezTo>
                  <a:pt x="237" y="0"/>
                  <a:pt x="0" y="236"/>
                  <a:pt x="0" y="528"/>
                </a:cubicBezTo>
                <a:lnTo>
                  <a:pt x="0" y="4229"/>
                </a:lnTo>
                <a:cubicBezTo>
                  <a:pt x="0" y="4520"/>
                  <a:pt x="237" y="4757"/>
                  <a:pt x="529" y="4757"/>
                </a:cubicBezTo>
                <a:lnTo>
                  <a:pt x="7140" y="4757"/>
                </a:lnTo>
                <a:close/>
              </a:path>
            </a:pathLst>
          </a:custGeom>
          <a:noFill/>
          <a:ln w="38160">
            <a:solidFill>
              <a:srgbClr val="333333"/>
            </a:solidFill>
            <a:miter/>
          </a:ln>
        </p:spPr>
        <p:txBody>
          <a:bodyPr lIns="109080" rIns="109080" tIns="64080" bIns="640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2341800" y="5822640"/>
            <a:ext cx="142992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7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U — USE</a:t>
            </a:r>
            <a:endParaRPr b="1" lang="en-US" sz="270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1856520" y="6365160"/>
            <a:ext cx="2382840" cy="28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02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Claim–Evidence Map</a:t>
            </a:r>
            <a:endParaRPr b="1" lang="en-US" sz="202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32" name=""/>
          <p:cNvSpPr txBox="1"/>
          <p:nvPr/>
        </p:nvSpPr>
        <p:spPr>
          <a:xfrm>
            <a:off x="2084760" y="6802920"/>
            <a:ext cx="1903320" cy="26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87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link proportionately</a:t>
            </a:r>
            <a:endParaRPr b="0" i="1" lang="en-US" sz="187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33" name=""/>
          <p:cNvSpPr/>
          <p:nvPr/>
        </p:nvSpPr>
        <p:spPr>
          <a:xfrm>
            <a:off x="480600" y="2003040"/>
            <a:ext cx="5140800" cy="1712520"/>
          </a:xfrm>
          <a:custGeom>
            <a:avLst/>
            <a:gdLst/>
            <a:ahLst/>
            <a:rect l="0" t="0" r="r" b="b"/>
            <a:pathLst>
              <a:path w="14280" h="4757">
                <a:moveTo>
                  <a:pt x="7140" y="4757"/>
                </a:moveTo>
                <a:lnTo>
                  <a:pt x="13751" y="4757"/>
                </a:lnTo>
                <a:cubicBezTo>
                  <a:pt x="14043" y="4757"/>
                  <a:pt x="14280" y="4520"/>
                  <a:pt x="14280" y="4228"/>
                </a:cubicBezTo>
                <a:lnTo>
                  <a:pt x="14280" y="528"/>
                </a:lnTo>
                <a:cubicBezTo>
                  <a:pt x="14280" y="236"/>
                  <a:pt x="14043" y="0"/>
                  <a:pt x="13751" y="0"/>
                </a:cubicBezTo>
                <a:lnTo>
                  <a:pt x="529" y="0"/>
                </a:lnTo>
                <a:cubicBezTo>
                  <a:pt x="237" y="0"/>
                  <a:pt x="0" y="236"/>
                  <a:pt x="0" y="528"/>
                </a:cubicBezTo>
                <a:lnTo>
                  <a:pt x="0" y="4228"/>
                </a:lnTo>
                <a:cubicBezTo>
                  <a:pt x="0" y="4520"/>
                  <a:pt x="237" y="4757"/>
                  <a:pt x="529" y="4757"/>
                </a:cubicBezTo>
                <a:lnTo>
                  <a:pt x="7140" y="4757"/>
                </a:lnTo>
                <a:close/>
              </a:path>
            </a:pathLst>
          </a:custGeom>
          <a:solidFill>
            <a:srgbClr val="eeeee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480600" y="2003040"/>
            <a:ext cx="5140800" cy="1712520"/>
          </a:xfrm>
          <a:custGeom>
            <a:avLst/>
            <a:gdLst/>
            <a:ahLst/>
            <a:rect l="0" t="0" r="r" b="b"/>
            <a:pathLst>
              <a:path w="14280" h="4757">
                <a:moveTo>
                  <a:pt x="7140" y="4757"/>
                </a:moveTo>
                <a:lnTo>
                  <a:pt x="13751" y="4757"/>
                </a:lnTo>
                <a:cubicBezTo>
                  <a:pt x="14043" y="4757"/>
                  <a:pt x="14280" y="4520"/>
                  <a:pt x="14280" y="4228"/>
                </a:cubicBezTo>
                <a:lnTo>
                  <a:pt x="14280" y="528"/>
                </a:lnTo>
                <a:cubicBezTo>
                  <a:pt x="14280" y="236"/>
                  <a:pt x="14043" y="0"/>
                  <a:pt x="13751" y="0"/>
                </a:cubicBezTo>
                <a:lnTo>
                  <a:pt x="529" y="0"/>
                </a:lnTo>
                <a:cubicBezTo>
                  <a:pt x="237" y="0"/>
                  <a:pt x="0" y="236"/>
                  <a:pt x="0" y="528"/>
                </a:cubicBezTo>
                <a:lnTo>
                  <a:pt x="0" y="4228"/>
                </a:lnTo>
                <a:cubicBezTo>
                  <a:pt x="0" y="4520"/>
                  <a:pt x="237" y="4757"/>
                  <a:pt x="529" y="4757"/>
                </a:cubicBezTo>
                <a:lnTo>
                  <a:pt x="7140" y="4757"/>
                </a:lnTo>
                <a:close/>
              </a:path>
            </a:pathLst>
          </a:custGeom>
          <a:noFill/>
          <a:ln w="38160">
            <a:solidFill>
              <a:srgbClr val="333333"/>
            </a:solidFill>
            <a:miter/>
          </a:ln>
        </p:spPr>
        <p:txBody>
          <a:bodyPr lIns="109080" rIns="109080" tIns="64080" bIns="640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1627920" y="2255040"/>
            <a:ext cx="2859480" cy="381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7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 — SYNTHESISE</a:t>
            </a:r>
            <a:endParaRPr b="1" lang="en-US" sz="270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1018440" y="2797560"/>
            <a:ext cx="4068000" cy="28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02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Synthesis Memo + Corpus Statement</a:t>
            </a:r>
            <a:endParaRPr b="1" lang="en-US" sz="202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1180440" y="3235320"/>
            <a:ext cx="3692880" cy="2638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87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state patterns, contradiction and limits</a:t>
            </a:r>
            <a:endParaRPr b="0" i="1" lang="en-US" sz="187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38" name=""/>
          <p:cNvSpPr/>
          <p:nvPr/>
        </p:nvSpPr>
        <p:spPr>
          <a:xfrm>
            <a:off x="6097320" y="2954520"/>
            <a:ext cx="4950000" cy="2949120"/>
          </a:xfrm>
          <a:custGeom>
            <a:avLst/>
            <a:gdLst/>
            <a:ahLst/>
            <a:rect l="0" t="0" r="r" b="b"/>
            <a:pathLst>
              <a:path w="13750" h="8192">
                <a:moveTo>
                  <a:pt x="13750" y="4095"/>
                </a:moveTo>
                <a:cubicBezTo>
                  <a:pt x="13750" y="4814"/>
                  <a:pt x="13433" y="5521"/>
                  <a:pt x="12829" y="6143"/>
                </a:cubicBezTo>
                <a:cubicBezTo>
                  <a:pt x="12226" y="6766"/>
                  <a:pt x="11357" y="7283"/>
                  <a:pt x="10312" y="7643"/>
                </a:cubicBezTo>
                <a:cubicBezTo>
                  <a:pt x="9267" y="8003"/>
                  <a:pt x="8082" y="8192"/>
                  <a:pt x="6876" y="8192"/>
                </a:cubicBezTo>
                <a:cubicBezTo>
                  <a:pt x="5669" y="8192"/>
                  <a:pt x="4483" y="8003"/>
                  <a:pt x="3438" y="7643"/>
                </a:cubicBezTo>
                <a:cubicBezTo>
                  <a:pt x="2393" y="7283"/>
                  <a:pt x="1524" y="6766"/>
                  <a:pt x="921" y="6143"/>
                </a:cubicBezTo>
                <a:cubicBezTo>
                  <a:pt x="317" y="5521"/>
                  <a:pt x="0" y="4814"/>
                  <a:pt x="0" y="4095"/>
                </a:cubicBezTo>
                <a:cubicBezTo>
                  <a:pt x="0" y="3377"/>
                  <a:pt x="318" y="2671"/>
                  <a:pt x="921" y="2048"/>
                </a:cubicBezTo>
                <a:cubicBezTo>
                  <a:pt x="1525" y="1425"/>
                  <a:pt x="2393" y="907"/>
                  <a:pt x="3438" y="548"/>
                </a:cubicBezTo>
                <a:cubicBezTo>
                  <a:pt x="4483" y="188"/>
                  <a:pt x="5669" y="0"/>
                  <a:pt x="6875" y="0"/>
                </a:cubicBezTo>
                <a:cubicBezTo>
                  <a:pt x="8081" y="0"/>
                  <a:pt x="9267" y="188"/>
                  <a:pt x="10312" y="548"/>
                </a:cubicBezTo>
                <a:cubicBezTo>
                  <a:pt x="11357" y="907"/>
                  <a:pt x="12225" y="1425"/>
                  <a:pt x="12829" y="2048"/>
                </a:cubicBezTo>
                <a:cubicBezTo>
                  <a:pt x="13432" y="2671"/>
                  <a:pt x="13750" y="3377"/>
                  <a:pt x="13750" y="4095"/>
                </a:cubicBezTo>
                <a:close/>
              </a:path>
            </a:pathLst>
          </a:custGeom>
          <a:solidFill>
            <a:srgbClr val="d7d7d7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6097320" y="2954520"/>
            <a:ext cx="4950000" cy="2949120"/>
          </a:xfrm>
          <a:custGeom>
            <a:avLst/>
            <a:gdLst/>
            <a:ahLst/>
            <a:rect l="0" t="0" r="r" b="b"/>
            <a:pathLst>
              <a:path w="13750" h="8192">
                <a:moveTo>
                  <a:pt x="13750" y="4095"/>
                </a:moveTo>
                <a:cubicBezTo>
                  <a:pt x="13750" y="4814"/>
                  <a:pt x="13433" y="5521"/>
                  <a:pt x="12829" y="6143"/>
                </a:cubicBezTo>
                <a:cubicBezTo>
                  <a:pt x="12226" y="6766"/>
                  <a:pt x="11357" y="7283"/>
                  <a:pt x="10312" y="7643"/>
                </a:cubicBezTo>
                <a:cubicBezTo>
                  <a:pt x="9267" y="8003"/>
                  <a:pt x="8082" y="8192"/>
                  <a:pt x="6876" y="8192"/>
                </a:cubicBezTo>
                <a:cubicBezTo>
                  <a:pt x="5669" y="8192"/>
                  <a:pt x="4483" y="8003"/>
                  <a:pt x="3438" y="7643"/>
                </a:cubicBezTo>
                <a:cubicBezTo>
                  <a:pt x="2393" y="7283"/>
                  <a:pt x="1524" y="6766"/>
                  <a:pt x="921" y="6143"/>
                </a:cubicBezTo>
                <a:cubicBezTo>
                  <a:pt x="317" y="5521"/>
                  <a:pt x="0" y="4814"/>
                  <a:pt x="0" y="4095"/>
                </a:cubicBezTo>
                <a:cubicBezTo>
                  <a:pt x="0" y="3377"/>
                  <a:pt x="318" y="2671"/>
                  <a:pt x="921" y="2048"/>
                </a:cubicBezTo>
                <a:cubicBezTo>
                  <a:pt x="1525" y="1425"/>
                  <a:pt x="2393" y="907"/>
                  <a:pt x="3438" y="548"/>
                </a:cubicBezTo>
                <a:cubicBezTo>
                  <a:pt x="4483" y="188"/>
                  <a:pt x="5669" y="0"/>
                  <a:pt x="6875" y="0"/>
                </a:cubicBezTo>
                <a:cubicBezTo>
                  <a:pt x="8081" y="0"/>
                  <a:pt x="9267" y="188"/>
                  <a:pt x="10312" y="548"/>
                </a:cubicBezTo>
                <a:cubicBezTo>
                  <a:pt x="11357" y="907"/>
                  <a:pt x="12226" y="1425"/>
                  <a:pt x="12829" y="2048"/>
                </a:cubicBezTo>
                <a:cubicBezTo>
                  <a:pt x="13433" y="2671"/>
                  <a:pt x="13750" y="3377"/>
                  <a:pt x="13750" y="4095"/>
                </a:cubicBezTo>
                <a:close/>
              </a:path>
            </a:pathLst>
          </a:custGeom>
          <a:noFill/>
          <a:ln w="47520">
            <a:solidFill>
              <a:srgbClr val="333333"/>
            </a:solidFill>
            <a:miter/>
          </a:ln>
        </p:spPr>
        <p:txBody>
          <a:bodyPr lIns="113760" rIns="113760" tIns="68760" bIns="687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6901920" y="3644280"/>
            <a:ext cx="3331080" cy="45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22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EVIDENCE BASE</a:t>
            </a:r>
            <a:endParaRPr b="1" lang="en-US" sz="322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8015760" y="4167360"/>
            <a:ext cx="1132200" cy="453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22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PACK</a:t>
            </a:r>
            <a:endParaRPr b="1" lang="en-US" sz="322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7006680" y="4823640"/>
            <a:ext cx="3076560" cy="286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202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question ↔ claim ↔ decision</a:t>
            </a:r>
            <a:endParaRPr b="0" i="1" lang="en-US" sz="2020" strike="noStrike" u="none">
              <a:solidFill>
                <a:srgbClr val="000000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43" name=""/>
          <p:cNvSpPr/>
          <p:nvPr/>
        </p:nvSpPr>
        <p:spPr>
          <a:xfrm>
            <a:off x="11380320" y="1099080"/>
            <a:ext cx="2617920" cy="789480"/>
          </a:xfrm>
          <a:custGeom>
            <a:avLst/>
            <a:gdLst/>
            <a:ahLst/>
            <a:rect l="0" t="0" r="r" b="b"/>
            <a:pathLst>
              <a:path fill="none" w="7272" h="2193">
                <a:moveTo>
                  <a:pt x="0" y="0"/>
                </a:moveTo>
                <a:cubicBezTo>
                  <a:pt x="3570" y="132"/>
                  <a:pt x="6215" y="925"/>
                  <a:pt x="7272" y="2193"/>
                </a:cubicBezTo>
              </a:path>
            </a:pathLst>
          </a:custGeom>
          <a:ln w="47520">
            <a:solidFill>
              <a:srgbClr val="444444"/>
            </a:solidFill>
            <a:miter/>
          </a:ln>
        </p:spPr>
        <p:txBody>
          <a:bodyPr lIns="113760" rIns="113760" tIns="68760" bIns="687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13425480" y="1288800"/>
            <a:ext cx="633960" cy="672840"/>
          </a:xfrm>
          <a:custGeom>
            <a:avLst/>
            <a:gdLst/>
            <a:ahLst/>
            <a:rect l="0" t="0" r="r" b="b"/>
            <a:pathLst>
              <a:path w="1761" h="1869">
                <a:moveTo>
                  <a:pt x="1321" y="0"/>
                </a:moveTo>
                <a:lnTo>
                  <a:pt x="1761" y="1869"/>
                </a:lnTo>
                <a:lnTo>
                  <a:pt x="0" y="1100"/>
                </a:lnTo>
                <a:lnTo>
                  <a:pt x="1321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15807240" y="3763080"/>
            <a:ext cx="464040" cy="1712160"/>
          </a:xfrm>
          <a:custGeom>
            <a:avLst/>
            <a:gdLst/>
            <a:ahLst/>
            <a:rect l="0" t="0" r="r" b="b"/>
            <a:pathLst>
              <a:path fill="none" w="1289" h="4756">
                <a:moveTo>
                  <a:pt x="0" y="0"/>
                </a:moveTo>
                <a:cubicBezTo>
                  <a:pt x="1719" y="2113"/>
                  <a:pt x="1719" y="3964"/>
                  <a:pt x="0" y="4756"/>
                </a:cubicBezTo>
              </a:path>
            </a:pathLst>
          </a:custGeom>
          <a:ln w="47520">
            <a:solidFill>
              <a:srgbClr val="444444"/>
            </a:solidFill>
            <a:miter/>
          </a:ln>
        </p:spPr>
        <p:txBody>
          <a:bodyPr lIns="113760" rIns="113760" tIns="68760" bIns="687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15720840" y="4975200"/>
            <a:ext cx="691200" cy="561600"/>
          </a:xfrm>
          <a:custGeom>
            <a:avLst/>
            <a:gdLst/>
            <a:ahLst/>
            <a:rect l="0" t="0" r="r" b="b"/>
            <a:pathLst>
              <a:path w="1920" h="1560">
                <a:moveTo>
                  <a:pt x="1920" y="1560"/>
                </a:moveTo>
                <a:lnTo>
                  <a:pt x="0" y="1500"/>
                </a:lnTo>
                <a:lnTo>
                  <a:pt x="1200" y="0"/>
                </a:lnTo>
                <a:lnTo>
                  <a:pt x="1920" y="156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15720840" y="4975200"/>
            <a:ext cx="691200" cy="561600"/>
          </a:xfrm>
          <a:custGeom>
            <a:avLst/>
            <a:gdLst/>
            <a:ahLst/>
            <a:rect l="0" t="0" r="r" b="b"/>
            <a:pathLst>
              <a:path w="1920" h="1560">
                <a:moveTo>
                  <a:pt x="1920" y="1560"/>
                </a:moveTo>
                <a:lnTo>
                  <a:pt x="0" y="1500"/>
                </a:lnTo>
                <a:lnTo>
                  <a:pt x="1200" y="0"/>
                </a:lnTo>
                <a:lnTo>
                  <a:pt x="1920" y="156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10991880" y="6997680"/>
            <a:ext cx="531360" cy="761400"/>
          </a:xfrm>
          <a:custGeom>
            <a:avLst/>
            <a:gdLst/>
            <a:ahLst/>
            <a:rect l="0" t="0" r="r" b="b"/>
            <a:pathLst>
              <a:path fill="none" w="1476" h="2115">
                <a:moveTo>
                  <a:pt x="1476" y="0"/>
                </a:moveTo>
                <a:cubicBezTo>
                  <a:pt x="22" y="1586"/>
                  <a:pt x="-772" y="2115"/>
                  <a:pt x="1079" y="2115"/>
                </a:cubicBezTo>
              </a:path>
            </a:pathLst>
          </a:custGeom>
          <a:ln w="47520">
            <a:solidFill>
              <a:srgbClr val="444444"/>
            </a:solidFill>
            <a:miter/>
          </a:ln>
        </p:spPr>
        <p:txBody>
          <a:bodyPr lIns="113760" rIns="113760" tIns="68760" bIns="687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10856880" y="7449840"/>
            <a:ext cx="618840" cy="618480"/>
          </a:xfrm>
          <a:custGeom>
            <a:avLst/>
            <a:gdLst/>
            <a:ahLst/>
            <a:rect l="0" t="0" r="r" b="b"/>
            <a:pathLst>
              <a:path w="1719" h="1718">
                <a:moveTo>
                  <a:pt x="0" y="0"/>
                </a:moveTo>
                <a:lnTo>
                  <a:pt x="1719" y="859"/>
                </a:lnTo>
                <a:lnTo>
                  <a:pt x="0" y="1718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10856880" y="7449840"/>
            <a:ext cx="618840" cy="618480"/>
          </a:xfrm>
          <a:custGeom>
            <a:avLst/>
            <a:gdLst/>
            <a:ahLst/>
            <a:rect l="0" t="0" r="r" b="b"/>
            <a:pathLst>
              <a:path w="1719" h="1718">
                <a:moveTo>
                  <a:pt x="0" y="0"/>
                </a:moveTo>
                <a:lnTo>
                  <a:pt x="1719" y="859"/>
                </a:lnTo>
                <a:lnTo>
                  <a:pt x="0" y="1718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10856880" y="7449840"/>
            <a:ext cx="618840" cy="618480"/>
          </a:xfrm>
          <a:custGeom>
            <a:avLst/>
            <a:gdLst/>
            <a:ahLst/>
            <a:rect l="0" t="0" r="r" b="b"/>
            <a:pathLst>
              <a:path w="1719" h="1718">
                <a:moveTo>
                  <a:pt x="0" y="0"/>
                </a:moveTo>
                <a:lnTo>
                  <a:pt x="1719" y="859"/>
                </a:lnTo>
                <a:lnTo>
                  <a:pt x="0" y="1718"/>
                </a:lnTo>
                <a:lnTo>
                  <a:pt x="0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>
            <a:off x="3146400" y="7283160"/>
            <a:ext cx="2617920" cy="475920"/>
          </a:xfrm>
          <a:custGeom>
            <a:avLst/>
            <a:gdLst/>
            <a:ahLst/>
            <a:rect l="0" t="0" r="r" b="b"/>
            <a:pathLst>
              <a:path fill="none" w="7272" h="1322">
                <a:moveTo>
                  <a:pt x="7272" y="1322"/>
                </a:moveTo>
                <a:cubicBezTo>
                  <a:pt x="3702" y="1189"/>
                  <a:pt x="793" y="529"/>
                  <a:pt x="0" y="0"/>
                </a:cubicBezTo>
              </a:path>
            </a:pathLst>
          </a:custGeom>
          <a:ln w="47520">
            <a:solidFill>
              <a:srgbClr val="444444"/>
            </a:solidFill>
            <a:miter/>
          </a:ln>
        </p:spPr>
        <p:txBody>
          <a:bodyPr lIns="113760" rIns="113760" tIns="68760" bIns="687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>
            <a:off x="3067200" y="7230600"/>
            <a:ext cx="686160" cy="600120"/>
          </a:xfrm>
          <a:custGeom>
            <a:avLst/>
            <a:gdLst/>
            <a:ahLst/>
            <a:rect l="0" t="0" r="r" b="b"/>
            <a:pathLst>
              <a:path w="1906" h="1667">
                <a:moveTo>
                  <a:pt x="953" y="1667"/>
                </a:moveTo>
                <a:lnTo>
                  <a:pt x="0" y="0"/>
                </a:lnTo>
                <a:lnTo>
                  <a:pt x="1906" y="238"/>
                </a:lnTo>
                <a:lnTo>
                  <a:pt x="953" y="1667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3067200" y="7230600"/>
            <a:ext cx="686160" cy="600120"/>
          </a:xfrm>
          <a:custGeom>
            <a:avLst/>
            <a:gdLst/>
            <a:ahLst/>
            <a:rect l="0" t="0" r="r" b="b"/>
            <a:pathLst>
              <a:path w="1906" h="1667">
                <a:moveTo>
                  <a:pt x="953" y="1667"/>
                </a:moveTo>
                <a:lnTo>
                  <a:pt x="0" y="0"/>
                </a:lnTo>
                <a:lnTo>
                  <a:pt x="1906" y="238"/>
                </a:lnTo>
                <a:lnTo>
                  <a:pt x="953" y="1667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3067200" y="7230600"/>
            <a:ext cx="686160" cy="600120"/>
          </a:xfrm>
          <a:custGeom>
            <a:avLst/>
            <a:gdLst/>
            <a:ahLst/>
            <a:rect l="0" t="0" r="r" b="b"/>
            <a:pathLst>
              <a:path w="1906" h="1667">
                <a:moveTo>
                  <a:pt x="953" y="1667"/>
                </a:moveTo>
                <a:lnTo>
                  <a:pt x="0" y="0"/>
                </a:lnTo>
                <a:lnTo>
                  <a:pt x="1906" y="238"/>
                </a:lnTo>
                <a:lnTo>
                  <a:pt x="953" y="1667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3067200" y="7230600"/>
            <a:ext cx="686160" cy="600120"/>
          </a:xfrm>
          <a:custGeom>
            <a:avLst/>
            <a:gdLst/>
            <a:ahLst/>
            <a:rect l="0" t="0" r="r" b="b"/>
            <a:pathLst>
              <a:path w="1906" h="1667">
                <a:moveTo>
                  <a:pt x="953" y="1667"/>
                </a:moveTo>
                <a:lnTo>
                  <a:pt x="0" y="0"/>
                </a:lnTo>
                <a:lnTo>
                  <a:pt x="1906" y="238"/>
                </a:lnTo>
                <a:lnTo>
                  <a:pt x="953" y="1667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>
            <a:off x="873360" y="3810600"/>
            <a:ext cx="464040" cy="1664640"/>
          </a:xfrm>
          <a:custGeom>
            <a:avLst/>
            <a:gdLst/>
            <a:ahLst/>
            <a:rect l="0" t="0" r="r" b="b"/>
            <a:pathLst>
              <a:path fill="none" w="1289" h="4624">
                <a:moveTo>
                  <a:pt x="1289" y="4624"/>
                </a:moveTo>
                <a:cubicBezTo>
                  <a:pt x="-430" y="2642"/>
                  <a:pt x="-430" y="925"/>
                  <a:pt x="1289" y="0"/>
                </a:cubicBezTo>
              </a:path>
            </a:pathLst>
          </a:custGeom>
          <a:ln w="47520">
            <a:solidFill>
              <a:srgbClr val="444444"/>
            </a:solidFill>
            <a:miter/>
          </a:ln>
        </p:spPr>
        <p:txBody>
          <a:bodyPr lIns="113760" rIns="113760" tIns="68760" bIns="687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729720" y="3765600"/>
            <a:ext cx="691560" cy="565560"/>
          </a:xfrm>
          <a:custGeom>
            <a:avLst/>
            <a:gdLst/>
            <a:ahLst/>
            <a:rect l="0" t="0" r="r" b="b"/>
            <a:pathLst>
              <a:path w="1921" h="1571">
                <a:moveTo>
                  <a:pt x="0" y="58"/>
                </a:moveTo>
                <a:lnTo>
                  <a:pt x="1921" y="0"/>
                </a:lnTo>
                <a:lnTo>
                  <a:pt x="815" y="1571"/>
                </a:lnTo>
                <a:lnTo>
                  <a:pt x="0" y="58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729720" y="3765600"/>
            <a:ext cx="691560" cy="565560"/>
          </a:xfrm>
          <a:custGeom>
            <a:avLst/>
            <a:gdLst/>
            <a:ahLst/>
            <a:rect l="0" t="0" r="r" b="b"/>
            <a:pathLst>
              <a:path w="1921" h="1571">
                <a:moveTo>
                  <a:pt x="0" y="58"/>
                </a:moveTo>
                <a:lnTo>
                  <a:pt x="1921" y="0"/>
                </a:lnTo>
                <a:lnTo>
                  <a:pt x="815" y="1571"/>
                </a:lnTo>
                <a:lnTo>
                  <a:pt x="0" y="58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729720" y="3765600"/>
            <a:ext cx="691560" cy="565560"/>
          </a:xfrm>
          <a:custGeom>
            <a:avLst/>
            <a:gdLst/>
            <a:ahLst/>
            <a:rect l="0" t="0" r="r" b="b"/>
            <a:pathLst>
              <a:path w="1921" h="1571">
                <a:moveTo>
                  <a:pt x="0" y="58"/>
                </a:moveTo>
                <a:lnTo>
                  <a:pt x="1921" y="0"/>
                </a:lnTo>
                <a:lnTo>
                  <a:pt x="815" y="1571"/>
                </a:lnTo>
                <a:lnTo>
                  <a:pt x="0" y="58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729720" y="3765600"/>
            <a:ext cx="691560" cy="565560"/>
          </a:xfrm>
          <a:custGeom>
            <a:avLst/>
            <a:gdLst/>
            <a:ahLst/>
            <a:rect l="0" t="0" r="r" b="b"/>
            <a:pathLst>
              <a:path w="1921" h="1571">
                <a:moveTo>
                  <a:pt x="0" y="58"/>
                </a:moveTo>
                <a:lnTo>
                  <a:pt x="1921" y="0"/>
                </a:lnTo>
                <a:lnTo>
                  <a:pt x="815" y="1571"/>
                </a:lnTo>
                <a:lnTo>
                  <a:pt x="0" y="58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729720" y="3765600"/>
            <a:ext cx="691560" cy="565560"/>
          </a:xfrm>
          <a:custGeom>
            <a:avLst/>
            <a:gdLst/>
            <a:ahLst/>
            <a:rect l="0" t="0" r="r" b="b"/>
            <a:pathLst>
              <a:path w="1921" h="1571">
                <a:moveTo>
                  <a:pt x="0" y="58"/>
                </a:moveTo>
                <a:lnTo>
                  <a:pt x="1921" y="0"/>
                </a:lnTo>
                <a:lnTo>
                  <a:pt x="815" y="1571"/>
                </a:lnTo>
                <a:lnTo>
                  <a:pt x="0" y="58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3146400" y="1086480"/>
            <a:ext cx="2570040" cy="916560"/>
          </a:xfrm>
          <a:custGeom>
            <a:avLst/>
            <a:gdLst/>
            <a:ahLst/>
            <a:rect l="0" t="0" r="r" b="b"/>
            <a:pathLst>
              <a:path fill="none" w="7139" h="2546">
                <a:moveTo>
                  <a:pt x="0" y="2546"/>
                </a:moveTo>
                <a:cubicBezTo>
                  <a:pt x="2644" y="35"/>
                  <a:pt x="5288" y="-97"/>
                  <a:pt x="7139" y="35"/>
                </a:cubicBezTo>
              </a:path>
            </a:pathLst>
          </a:custGeom>
          <a:ln w="47520">
            <a:solidFill>
              <a:srgbClr val="444444"/>
            </a:solidFill>
            <a:miter/>
          </a:ln>
        </p:spPr>
        <p:txBody>
          <a:bodyPr lIns="113760" rIns="113760" tIns="68760" bIns="687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5172120" y="753120"/>
            <a:ext cx="639360" cy="617040"/>
          </a:xfrm>
          <a:custGeom>
            <a:avLst/>
            <a:gdLst/>
            <a:ahLst/>
            <a:rect l="0" t="0" r="r" b="b"/>
            <a:pathLst>
              <a:path w="1776" h="1714">
                <a:moveTo>
                  <a:pt x="123" y="0"/>
                </a:moveTo>
                <a:lnTo>
                  <a:pt x="1776" y="979"/>
                </a:lnTo>
                <a:lnTo>
                  <a:pt x="0" y="1714"/>
                </a:lnTo>
                <a:lnTo>
                  <a:pt x="123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5172120" y="753120"/>
            <a:ext cx="639360" cy="617040"/>
          </a:xfrm>
          <a:custGeom>
            <a:avLst/>
            <a:gdLst/>
            <a:ahLst/>
            <a:rect l="0" t="0" r="r" b="b"/>
            <a:pathLst>
              <a:path w="1776" h="1714">
                <a:moveTo>
                  <a:pt x="123" y="0"/>
                </a:moveTo>
                <a:lnTo>
                  <a:pt x="1776" y="979"/>
                </a:lnTo>
                <a:lnTo>
                  <a:pt x="0" y="1714"/>
                </a:lnTo>
                <a:lnTo>
                  <a:pt x="123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5172120" y="753120"/>
            <a:ext cx="639360" cy="617040"/>
          </a:xfrm>
          <a:custGeom>
            <a:avLst/>
            <a:gdLst/>
            <a:ahLst/>
            <a:rect l="0" t="0" r="r" b="b"/>
            <a:pathLst>
              <a:path w="1776" h="1714">
                <a:moveTo>
                  <a:pt x="123" y="0"/>
                </a:moveTo>
                <a:lnTo>
                  <a:pt x="1776" y="979"/>
                </a:lnTo>
                <a:lnTo>
                  <a:pt x="0" y="1714"/>
                </a:lnTo>
                <a:lnTo>
                  <a:pt x="123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5172120" y="753120"/>
            <a:ext cx="639360" cy="617040"/>
          </a:xfrm>
          <a:custGeom>
            <a:avLst/>
            <a:gdLst/>
            <a:ahLst/>
            <a:rect l="0" t="0" r="r" b="b"/>
            <a:pathLst>
              <a:path w="1776" h="1714">
                <a:moveTo>
                  <a:pt x="123" y="0"/>
                </a:moveTo>
                <a:lnTo>
                  <a:pt x="1776" y="979"/>
                </a:lnTo>
                <a:lnTo>
                  <a:pt x="0" y="1714"/>
                </a:lnTo>
                <a:lnTo>
                  <a:pt x="123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5172120" y="753120"/>
            <a:ext cx="639360" cy="617040"/>
          </a:xfrm>
          <a:custGeom>
            <a:avLst/>
            <a:gdLst/>
            <a:ahLst/>
            <a:rect l="0" t="0" r="r" b="b"/>
            <a:pathLst>
              <a:path w="1776" h="1714">
                <a:moveTo>
                  <a:pt x="123" y="0"/>
                </a:moveTo>
                <a:lnTo>
                  <a:pt x="1776" y="979"/>
                </a:lnTo>
                <a:lnTo>
                  <a:pt x="0" y="1714"/>
                </a:lnTo>
                <a:lnTo>
                  <a:pt x="123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5172120" y="753120"/>
            <a:ext cx="639360" cy="617040"/>
          </a:xfrm>
          <a:custGeom>
            <a:avLst/>
            <a:gdLst/>
            <a:ahLst/>
            <a:rect l="0" t="0" r="r" b="b"/>
            <a:pathLst>
              <a:path w="1776" h="1714">
                <a:moveTo>
                  <a:pt x="123" y="0"/>
                </a:moveTo>
                <a:lnTo>
                  <a:pt x="1776" y="979"/>
                </a:lnTo>
                <a:lnTo>
                  <a:pt x="0" y="1714"/>
                </a:lnTo>
                <a:lnTo>
                  <a:pt x="123" y="0"/>
                </a:lnTo>
                <a:close/>
              </a:path>
            </a:pathLst>
          </a:custGeom>
          <a:solidFill>
            <a:srgbClr val="44444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8572680" y="1955160"/>
            <a:ext cx="0" cy="903960"/>
          </a:xfrm>
          <a:prstGeom prst="line">
            <a:avLst/>
          </a:prstGeom>
          <a:ln w="28440">
            <a:solidFill>
              <a:srgbClr val="88888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4040" rIns="104040" tIns="59040" bIns="590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 flipH="1">
            <a:off x="10523520" y="2859120"/>
            <a:ext cx="999720" cy="761400"/>
          </a:xfrm>
          <a:prstGeom prst="line">
            <a:avLst/>
          </a:prstGeom>
          <a:ln w="28440">
            <a:solidFill>
              <a:srgbClr val="88888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4040" rIns="104040" tIns="59040" bIns="590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 flipH="1" flipV="1">
            <a:off x="10523520" y="5237640"/>
            <a:ext cx="999720" cy="1189080"/>
          </a:xfrm>
          <a:prstGeom prst="line">
            <a:avLst/>
          </a:prstGeom>
          <a:ln w="28440">
            <a:solidFill>
              <a:srgbClr val="88888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4040" rIns="104040" tIns="59040" bIns="590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/>
          <p:nvPr/>
        </p:nvSpPr>
        <p:spPr>
          <a:xfrm flipV="1">
            <a:off x="8572680" y="5951160"/>
            <a:ext cx="0" cy="856440"/>
          </a:xfrm>
          <a:prstGeom prst="line">
            <a:avLst/>
          </a:prstGeom>
          <a:ln w="28440">
            <a:solidFill>
              <a:srgbClr val="88888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4040" rIns="104040" tIns="59040" bIns="590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 flipV="1">
            <a:off x="5621400" y="5237640"/>
            <a:ext cx="999720" cy="1189080"/>
          </a:xfrm>
          <a:prstGeom prst="line">
            <a:avLst/>
          </a:prstGeom>
          <a:ln w="28440">
            <a:solidFill>
              <a:srgbClr val="88888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4040" rIns="104040" tIns="59040" bIns="590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5621400" y="2859120"/>
            <a:ext cx="999720" cy="761400"/>
          </a:xfrm>
          <a:prstGeom prst="line">
            <a:avLst/>
          </a:prstGeom>
          <a:ln w="28440">
            <a:solidFill>
              <a:srgbClr val="88888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4040" rIns="104040" tIns="59040" bIns="590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2026-08-19T10:49:51Z</dcterms:created>
  <dc:creator>Antonio Clim and Martino Aldrigo</dc:creator>
  <dc:description>The CORPUS cycle contains six stages around an Evidence Base Pack. Collect produces a Search Strategy Record; Organise produces a Source Ledger and identity map; Read produces a Core Source Note; Probe produces an Appraisal Record; Use produces a Claim–Evidence Map; Synthesise produces a Synthesis Memo and Corpus Statement. Arrows show the iterative cycle and dashed links connect each retained record to the central pack. Native-object PPTX generated from the canonical SVG; all text, boxes, lines, arrows and colours remain separately editable.</dc:description>
  <dc:language>en-US</dc:language>
  <cp:lastModifiedBy/>
  <dcterms:modified xsi:type="dcterms:W3CDTF">2026-08-19T10:49:51Z</dcterms:modified>
  <cp:revision>1</cp:revision>
  <dc:subject>Fully editable native drawing objects</dc:subject>
  <dc:title>Figure 3.2. The CORPUS cycle and its retained evidence records</dc:title>
</cp:coreProperties>
</file>