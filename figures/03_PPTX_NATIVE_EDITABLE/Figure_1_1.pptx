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4608513" cy="287972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F0D561-3C16-44BF-9D70-2C4B4FB4B97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03C2B1B-11DB-4CDB-90BC-955BA9156F29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11_BG_TITLE"/>
          <p:cNvSpPr/>
          <p:nvPr/>
        </p:nvSpPr>
        <p:spPr>
          <a:xfrm>
            <a:off x="0" y="3240"/>
            <a:ext cx="4608000" cy="2592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8" name="F11_CONN_ROUTE_START"/>
          <p:cNvCxnSpPr>
            <a:stCxn id="9" idx="3"/>
            <a:endCxn id="10" idx="1"/>
          </p:cNvCxnSpPr>
          <p:nvPr/>
        </p:nvCxnSpPr>
        <p:spPr>
          <a:xfrm>
            <a:off x="1044000" y="564840"/>
            <a:ext cx="126360" cy="5760"/>
          </a:xfrm>
          <a:prstGeom prst="bentConnector3">
            <a:avLst>
              <a:gd name="adj1" fmla="val 49714"/>
            </a:avLst>
          </a:prstGeom>
          <a:ln w="10800">
            <a:solidFill>
              <a:srgbClr val="666666"/>
            </a:solidFill>
            <a:round/>
            <a:tailEnd len="med" type="triangle" w="med"/>
          </a:ln>
        </p:spPr>
      </p:cxnSp>
      <p:cxnSp>
        <p:nvCxnSpPr>
          <p:cNvPr id="11" name="F11_CONN_START_PROBLEM"/>
          <p:cNvCxnSpPr>
            <a:stCxn id="10" idx="3"/>
            <a:endCxn id="12" idx="1"/>
          </p:cNvCxnSpPr>
          <p:nvPr/>
        </p:nvCxnSpPr>
        <p:spPr>
          <a:xfrm>
            <a:off x="2052000" y="570240"/>
            <a:ext cx="1983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3" name="F11_CONN_PROBLEM_EVIDENCE"/>
          <p:cNvCxnSpPr>
            <a:stCxn id="12" idx="3"/>
            <a:endCxn id="14" idx="1"/>
          </p:cNvCxnSpPr>
          <p:nvPr/>
        </p:nvCxnSpPr>
        <p:spPr>
          <a:xfrm>
            <a:off x="3132000" y="570240"/>
            <a:ext cx="1983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5" name="F11_CONN_EVIDENCE_DESIGN"/>
          <p:cNvCxnSpPr>
            <a:stCxn id="14" idx="2"/>
            <a:endCxn id="16" idx="0"/>
          </p:cNvCxnSpPr>
          <p:nvPr/>
        </p:nvCxnSpPr>
        <p:spPr>
          <a:xfrm rot="16200000">
            <a:off x="3573000" y="957240"/>
            <a:ext cx="3963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7" name="F11_CONN_DESIGN_EXECUTION"/>
          <p:cNvCxnSpPr>
            <a:stCxn id="16" idx="1"/>
            <a:endCxn id="18" idx="3"/>
          </p:cNvCxnSpPr>
          <p:nvPr/>
        </p:nvCxnSpPr>
        <p:spPr>
          <a:xfrm rot="10800000">
            <a:off x="3132000" y="1344240"/>
            <a:ext cx="1983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9" name="F11_CONN_EXECUTION_CLAIM"/>
          <p:cNvCxnSpPr>
            <a:stCxn id="18" idx="1"/>
            <a:endCxn id="20" idx="3"/>
          </p:cNvCxnSpPr>
          <p:nvPr/>
        </p:nvCxnSpPr>
        <p:spPr>
          <a:xfrm rot="10800000">
            <a:off x="2052000" y="1344240"/>
            <a:ext cx="1983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21" name="F11_CONN_CLAIM_ARGUMENT"/>
          <p:cNvCxnSpPr>
            <a:stCxn id="20" idx="2"/>
            <a:endCxn id="22" idx="0"/>
          </p:cNvCxnSpPr>
          <p:nvPr/>
        </p:nvCxnSpPr>
        <p:spPr>
          <a:xfrm rot="16200000">
            <a:off x="1413000" y="1731240"/>
            <a:ext cx="3963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23" name="F11_CONN_ARGUMENT_EDITORIAL"/>
          <p:cNvCxnSpPr>
            <a:stCxn id="22" idx="3"/>
            <a:endCxn id="24" idx="1"/>
          </p:cNvCxnSpPr>
          <p:nvPr/>
        </p:nvCxnSpPr>
        <p:spPr>
          <a:xfrm>
            <a:off x="2052000" y="2118240"/>
            <a:ext cx="1983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25" name="F11_CONN_EDITORIAL_DEFENCE"/>
          <p:cNvCxnSpPr>
            <a:stCxn id="24" idx="3"/>
            <a:endCxn id="26" idx="1"/>
          </p:cNvCxnSpPr>
          <p:nvPr/>
        </p:nvCxnSpPr>
        <p:spPr>
          <a:xfrm>
            <a:off x="3132000" y="2118240"/>
            <a:ext cx="1983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sp>
        <p:nvSpPr>
          <p:cNvPr id="27" name="F11_NODE_ROUTE"/>
          <p:cNvSpPr/>
          <p:nvPr/>
        </p:nvSpPr>
        <p:spPr>
          <a:xfrm>
            <a:off x="126000" y="381240"/>
            <a:ext cx="918000" cy="367200"/>
          </a:xfrm>
          <a:prstGeom prst="rect">
            <a:avLst/>
          </a:prstGeom>
          <a:solidFill>
            <a:srgbClr val="e7e6e6"/>
          </a:solidFill>
          <a:ln w="10800">
            <a:solidFill>
              <a:srgbClr val="666666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F11_NODE_TRACE"/>
          <p:cNvSpPr/>
          <p:nvPr/>
        </p:nvSpPr>
        <p:spPr>
          <a:xfrm>
            <a:off x="126000" y="874440"/>
            <a:ext cx="918000" cy="784800"/>
          </a:xfrm>
          <a:prstGeom prst="rect">
            <a:avLst/>
          </a:prstGeom>
          <a:solidFill>
            <a:srgbClr val="17365d"/>
          </a:solidFill>
          <a:ln w="14400">
            <a:solidFill>
              <a:srgbClr val="17365d"/>
            </a:solidFill>
            <a:round/>
          </a:ln>
        </p:spPr>
        <p:txBody>
          <a:bodyPr lIns="97200" rIns="97200" tIns="52200" bIns="522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F11_NODE_START"/>
          <p:cNvSpPr/>
          <p:nvPr/>
        </p:nvSpPr>
        <p:spPr>
          <a:xfrm>
            <a:off x="1170000" y="381240"/>
            <a:ext cx="882000" cy="3780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F11_NODE_PROBLEM"/>
          <p:cNvSpPr/>
          <p:nvPr/>
        </p:nvSpPr>
        <p:spPr>
          <a:xfrm>
            <a:off x="2250000" y="381240"/>
            <a:ext cx="882000" cy="3780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F11_NODE_EVIDENCE"/>
          <p:cNvSpPr/>
          <p:nvPr/>
        </p:nvSpPr>
        <p:spPr>
          <a:xfrm>
            <a:off x="3330000" y="381240"/>
            <a:ext cx="882000" cy="3780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F11_NODE_DESIGN"/>
          <p:cNvSpPr/>
          <p:nvPr/>
        </p:nvSpPr>
        <p:spPr>
          <a:xfrm>
            <a:off x="3330000" y="1155240"/>
            <a:ext cx="882000" cy="378000"/>
          </a:xfrm>
          <a:prstGeom prst="rect">
            <a:avLst/>
          </a:prstGeom>
          <a:solidFill>
            <a:srgbClr val="fff2cc"/>
          </a:solidFill>
          <a:ln w="12600">
            <a:solidFill>
              <a:srgbClr val="a66a00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F11_NODE_EXECUTION"/>
          <p:cNvSpPr/>
          <p:nvPr/>
        </p:nvSpPr>
        <p:spPr>
          <a:xfrm>
            <a:off x="2250000" y="1155240"/>
            <a:ext cx="882000" cy="3780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F11_NODE_CLAIM"/>
          <p:cNvSpPr/>
          <p:nvPr/>
        </p:nvSpPr>
        <p:spPr>
          <a:xfrm>
            <a:off x="1170000" y="1155240"/>
            <a:ext cx="882000" cy="378000"/>
          </a:xfrm>
          <a:prstGeom prst="rect">
            <a:avLst/>
          </a:prstGeom>
          <a:solidFill>
            <a:srgbClr val="e2f0d9"/>
          </a:solidFill>
          <a:ln w="12600">
            <a:solidFill>
              <a:srgbClr val="548235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F11_NODE_ARGUMENT"/>
          <p:cNvSpPr/>
          <p:nvPr/>
        </p:nvSpPr>
        <p:spPr>
          <a:xfrm>
            <a:off x="1170000" y="1929240"/>
            <a:ext cx="882000" cy="3780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F11_NODE_EDITORIAL"/>
          <p:cNvSpPr/>
          <p:nvPr/>
        </p:nvSpPr>
        <p:spPr>
          <a:xfrm>
            <a:off x="2250000" y="1929240"/>
            <a:ext cx="882000" cy="3780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F11_NODE_DEFENCE"/>
          <p:cNvSpPr/>
          <p:nvPr/>
        </p:nvSpPr>
        <p:spPr>
          <a:xfrm>
            <a:off x="3330000" y="1929240"/>
            <a:ext cx="882000" cy="378000"/>
          </a:xfrm>
          <a:prstGeom prst="rect">
            <a:avLst/>
          </a:prstGeom>
          <a:solidFill>
            <a:srgbClr val="e2f0d9"/>
          </a:solidFill>
          <a:ln w="12600">
            <a:solidFill>
              <a:srgbClr val="548235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F11_NOTE_REOPEN"/>
          <p:cNvSpPr/>
          <p:nvPr/>
        </p:nvSpPr>
        <p:spPr>
          <a:xfrm>
            <a:off x="126000" y="2422440"/>
            <a:ext cx="4356000" cy="259200"/>
          </a:xfrm>
          <a:prstGeom prst="rect">
            <a:avLst/>
          </a:prstGeom>
          <a:solidFill>
            <a:srgbClr val="fce4e4"/>
          </a:solidFill>
          <a:ln w="12600">
            <a:solidFill>
              <a:srgbClr val="b22222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F11_LABEL_TITLE"/>
          <p:cNvSpPr txBox="1"/>
          <p:nvPr/>
        </p:nvSpPr>
        <p:spPr>
          <a:xfrm>
            <a:off x="151200" y="-1800"/>
            <a:ext cx="4305600" cy="269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Figure 1.1 Evidence-to-defence architecture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F11_LABEL_ROUTE"/>
          <p:cNvSpPr txBox="1"/>
          <p:nvPr/>
        </p:nvSpPr>
        <p:spPr>
          <a:xfrm>
            <a:off x="172800" y="312480"/>
            <a:ext cx="824400" cy="504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Inquiry route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one of eight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F11_LABEL_TRACE"/>
          <p:cNvSpPr txBox="1"/>
          <p:nvPr/>
        </p:nvSpPr>
        <p:spPr>
          <a:xfrm>
            <a:off x="187200" y="939240"/>
            <a:ext cx="795600" cy="65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Liberation Sans Narrow"/>
              </a:rPr>
              <a:t>TRACE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ffffff"/>
                </a:solidFill>
                <a:effectLst/>
                <a:uFillTx/>
                <a:latin typeface="Liberation Sans Narrow"/>
              </a:rPr>
              <a:t>AI use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ffffff"/>
                </a:solidFill>
                <a:effectLst/>
                <a:uFillTx/>
                <a:latin typeface="Liberation Sans Narrow"/>
              </a:rPr>
              <a:t>provenance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ffffff"/>
                </a:solidFill>
                <a:effectLst/>
                <a:uFillTx/>
                <a:latin typeface="Liberation Sans Narrow"/>
              </a:rPr>
              <a:t>responsibility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F11_LABEL_START"/>
          <p:cNvSpPr txBox="1"/>
          <p:nvPr/>
        </p:nvSpPr>
        <p:spPr>
          <a:xfrm>
            <a:off x="1206000" y="325080"/>
            <a:ext cx="810000" cy="486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0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Project Start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1" lang="en-US" sz="860" strike="noStrike" u="none">
                <a:solidFill>
                  <a:srgbClr val="17365d"/>
                </a:solidFill>
                <a:effectLst/>
                <a:uFillTx/>
                <a:latin typeface="Arial"/>
              </a:rPr>
              <a:t>Pack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F11_LABEL_PROBLEM"/>
          <p:cNvSpPr txBox="1"/>
          <p:nvPr/>
        </p:nvSpPr>
        <p:spPr>
          <a:xfrm>
            <a:off x="2286000" y="325080"/>
            <a:ext cx="810000" cy="486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0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Problem Gate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1" lang="en-US" sz="860" strike="noStrike" u="none">
                <a:solidFill>
                  <a:srgbClr val="17365d"/>
                </a:solidFill>
                <a:effectLst/>
                <a:uFillTx/>
                <a:latin typeface="Arial"/>
              </a:rPr>
              <a:t>SCOPE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F11_LABEL_EVIDENCE"/>
          <p:cNvSpPr txBox="1"/>
          <p:nvPr/>
        </p:nvSpPr>
        <p:spPr>
          <a:xfrm>
            <a:off x="3366000" y="325080"/>
            <a:ext cx="810000" cy="486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0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Evidence Gate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1" lang="en-US" sz="860" strike="noStrike" u="none">
                <a:solidFill>
                  <a:srgbClr val="17365d"/>
                </a:solidFill>
                <a:effectLst/>
                <a:uFillTx/>
                <a:latin typeface="Arial"/>
              </a:rPr>
              <a:t>CORPUS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F11_LABEL_DESIGN"/>
          <p:cNvSpPr txBox="1"/>
          <p:nvPr/>
        </p:nvSpPr>
        <p:spPr>
          <a:xfrm>
            <a:off x="3366000" y="1099080"/>
            <a:ext cx="810000" cy="486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0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Design Gate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1" lang="en-US" sz="860" strike="noStrike" u="none">
                <a:solidFill>
                  <a:srgbClr val="17365d"/>
                </a:solidFill>
                <a:effectLst/>
                <a:uFillTx/>
                <a:latin typeface="Arial"/>
              </a:rPr>
              <a:t>DECIDE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F11_LABEL_EXECUTION"/>
          <p:cNvSpPr txBox="1"/>
          <p:nvPr/>
        </p:nvSpPr>
        <p:spPr>
          <a:xfrm>
            <a:off x="2286000" y="1162800"/>
            <a:ext cx="810000" cy="358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0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Execution Gate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F11_LABEL_CLAIM"/>
          <p:cNvSpPr txBox="1"/>
          <p:nvPr/>
        </p:nvSpPr>
        <p:spPr>
          <a:xfrm>
            <a:off x="1206000" y="1184040"/>
            <a:ext cx="810000" cy="316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0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Claim Gate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F11_LABEL_ARGUMENT"/>
          <p:cNvSpPr txBox="1"/>
          <p:nvPr/>
        </p:nvSpPr>
        <p:spPr>
          <a:xfrm>
            <a:off x="1206000" y="1936800"/>
            <a:ext cx="810000" cy="358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0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Argument Gate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F11_LABEL_EDITORIAL"/>
          <p:cNvSpPr txBox="1"/>
          <p:nvPr/>
        </p:nvSpPr>
        <p:spPr>
          <a:xfrm>
            <a:off x="2286000" y="1936800"/>
            <a:ext cx="810000" cy="358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0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Editorial Gate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F11_LABEL_DEFENCE"/>
          <p:cNvSpPr txBox="1"/>
          <p:nvPr/>
        </p:nvSpPr>
        <p:spPr>
          <a:xfrm>
            <a:off x="3366000" y="1873080"/>
            <a:ext cx="810000" cy="486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0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Defence readiness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1" lang="en-US" sz="860" strike="noStrike" u="none">
                <a:solidFill>
                  <a:srgbClr val="17365d"/>
                </a:solidFill>
                <a:effectLst/>
                <a:uFillTx/>
                <a:latin typeface="Arial"/>
              </a:rPr>
              <a:t>Gate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F11_LABEL_REOPEN"/>
          <p:cNvSpPr txBox="1"/>
          <p:nvPr/>
        </p:nvSpPr>
        <p:spPr>
          <a:xfrm>
            <a:off x="198000" y="2438280"/>
            <a:ext cx="4212000" cy="21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70" strike="noStrike" u="none">
                <a:solidFill>
                  <a:srgbClr val="b22222"/>
                </a:solidFill>
                <a:effectLst/>
                <a:uFillTx/>
                <a:latin typeface="Arial"/>
              </a:rPr>
              <a:t>A failed condition reopens the responsible earlier gate.</a:t>
            </a:r>
            <a:endParaRPr b="0" lang="en-US" sz="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2026-08-23T19:48:39Z</dcterms:created>
  <dc:creator/>
  <dc:description/>
  <dc:language>en-US</dc:language>
  <cp:lastModifiedBy/>
  <dcterms:modified xsi:type="dcterms:W3CDTF">2026-08-23T19:48:40Z</dcterms:modified>
  <cp:revision>1</cp:revision>
  <dc:subject/>
  <dc:title/>
</cp:coreProperties>
</file>