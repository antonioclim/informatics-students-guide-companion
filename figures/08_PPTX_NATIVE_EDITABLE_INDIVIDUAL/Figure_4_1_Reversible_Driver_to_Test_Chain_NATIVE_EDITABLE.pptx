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7145000" cy="9572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3B4877-E699-4631-8B86-CD98F9795D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9CC0A14-0307-429F-B04E-54D06CEDB92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680" y="4680"/>
            <a:ext cx="17135280" cy="9563040"/>
          </a:xfrm>
          <a:custGeom>
            <a:avLst/>
            <a:gdLst/>
            <a:ahLst/>
            <a:rect l="0" t="0" r="r" b="b"/>
            <a:pathLst>
              <a:path w="47598" h="26564">
                <a:moveTo>
                  <a:pt x="0" y="0"/>
                </a:moveTo>
                <a:lnTo>
                  <a:pt x="47598" y="0"/>
                </a:lnTo>
                <a:lnTo>
                  <a:pt x="47598" y="26564"/>
                </a:lnTo>
                <a:lnTo>
                  <a:pt x="0" y="265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4969440" y="228240"/>
            <a:ext cx="7259040" cy="29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 defensible commitment remains reversible until evidence retains it</a:t>
            </a:r>
            <a:endParaRPr b="0" i="1" lang="en-US" sz="21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95120" y="956160"/>
            <a:ext cx="2855880" cy="1760400"/>
          </a:xfrm>
          <a:custGeom>
            <a:avLst/>
            <a:gdLst/>
            <a:ahLst/>
            <a:rect l="0" t="0" r="r" b="b"/>
            <a:pathLst>
              <a:path w="7933" h="4890">
                <a:moveTo>
                  <a:pt x="3967" y="4890"/>
                </a:moveTo>
                <a:lnTo>
                  <a:pt x="7484" y="4890"/>
                </a:lnTo>
                <a:cubicBezTo>
                  <a:pt x="7732" y="4890"/>
                  <a:pt x="7933" y="4689"/>
                  <a:pt x="7933" y="4441"/>
                </a:cubicBezTo>
                <a:lnTo>
                  <a:pt x="7933" y="450"/>
                </a:lnTo>
                <a:cubicBezTo>
                  <a:pt x="7933" y="202"/>
                  <a:pt x="7732" y="0"/>
                  <a:pt x="7484" y="0"/>
                </a:cubicBezTo>
                <a:lnTo>
                  <a:pt x="450" y="0"/>
                </a:lnTo>
                <a:cubicBezTo>
                  <a:pt x="201" y="0"/>
                  <a:pt x="0" y="202"/>
                  <a:pt x="0" y="450"/>
                </a:cubicBezTo>
                <a:lnTo>
                  <a:pt x="0" y="4441"/>
                </a:lnTo>
                <a:cubicBezTo>
                  <a:pt x="0" y="4689"/>
                  <a:pt x="201" y="4890"/>
                  <a:pt x="450" y="4890"/>
                </a:cubicBezTo>
                <a:lnTo>
                  <a:pt x="3967" y="489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95120" y="956160"/>
            <a:ext cx="2855880" cy="1760400"/>
          </a:xfrm>
          <a:custGeom>
            <a:avLst/>
            <a:gdLst/>
            <a:ahLst/>
            <a:rect l="0" t="0" r="r" b="b"/>
            <a:pathLst>
              <a:path w="7933" h="4890">
                <a:moveTo>
                  <a:pt x="3967" y="4890"/>
                </a:moveTo>
                <a:lnTo>
                  <a:pt x="7484" y="4890"/>
                </a:lnTo>
                <a:cubicBezTo>
                  <a:pt x="7732" y="4890"/>
                  <a:pt x="7933" y="4689"/>
                  <a:pt x="7933" y="4441"/>
                </a:cubicBezTo>
                <a:lnTo>
                  <a:pt x="7933" y="450"/>
                </a:lnTo>
                <a:cubicBezTo>
                  <a:pt x="7933" y="202"/>
                  <a:pt x="7732" y="0"/>
                  <a:pt x="7484" y="0"/>
                </a:cubicBezTo>
                <a:lnTo>
                  <a:pt x="450" y="0"/>
                </a:lnTo>
                <a:cubicBezTo>
                  <a:pt x="201" y="0"/>
                  <a:pt x="0" y="202"/>
                  <a:pt x="0" y="450"/>
                </a:cubicBezTo>
                <a:lnTo>
                  <a:pt x="0" y="4441"/>
                </a:lnTo>
                <a:cubicBezTo>
                  <a:pt x="0" y="4689"/>
                  <a:pt x="201" y="4890"/>
                  <a:pt x="450" y="4890"/>
                </a:cubicBezTo>
                <a:lnTo>
                  <a:pt x="3967" y="4890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904320" y="1274760"/>
            <a:ext cx="145584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EVIDENCE +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894960" y="1589040"/>
            <a:ext cx="14670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AUTHORITY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71320" y="2103120"/>
            <a:ext cx="21060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what is known and permitted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3574800" y="956160"/>
            <a:ext cx="2855880" cy="1760400"/>
          </a:xfrm>
          <a:custGeom>
            <a:avLst/>
            <a:gdLst/>
            <a:ahLst/>
            <a:rect l="0" t="0" r="r" b="b"/>
            <a:pathLst>
              <a:path w="7933" h="4890">
                <a:moveTo>
                  <a:pt x="3966" y="4890"/>
                </a:moveTo>
                <a:lnTo>
                  <a:pt x="7483" y="4890"/>
                </a:lnTo>
                <a:cubicBezTo>
                  <a:pt x="7731" y="4890"/>
                  <a:pt x="7933" y="4689"/>
                  <a:pt x="7933" y="4441"/>
                </a:cubicBezTo>
                <a:lnTo>
                  <a:pt x="7933" y="450"/>
                </a:lnTo>
                <a:cubicBezTo>
                  <a:pt x="7933" y="202"/>
                  <a:pt x="7731" y="0"/>
                  <a:pt x="7483" y="0"/>
                </a:cubicBezTo>
                <a:lnTo>
                  <a:pt x="449" y="0"/>
                </a:lnTo>
                <a:cubicBezTo>
                  <a:pt x="201" y="0"/>
                  <a:pt x="0" y="202"/>
                  <a:pt x="0" y="450"/>
                </a:cubicBezTo>
                <a:lnTo>
                  <a:pt x="0" y="4441"/>
                </a:lnTo>
                <a:cubicBezTo>
                  <a:pt x="0" y="4689"/>
                  <a:pt x="201" y="4890"/>
                  <a:pt x="449" y="4890"/>
                </a:cubicBezTo>
                <a:lnTo>
                  <a:pt x="3966" y="489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3574800" y="956160"/>
            <a:ext cx="2855880" cy="1760400"/>
          </a:xfrm>
          <a:custGeom>
            <a:avLst/>
            <a:gdLst/>
            <a:ahLst/>
            <a:rect l="0" t="0" r="r" b="b"/>
            <a:pathLst>
              <a:path w="7933" h="4890">
                <a:moveTo>
                  <a:pt x="3966" y="4890"/>
                </a:moveTo>
                <a:lnTo>
                  <a:pt x="7483" y="4890"/>
                </a:lnTo>
                <a:cubicBezTo>
                  <a:pt x="7731" y="4890"/>
                  <a:pt x="7933" y="4689"/>
                  <a:pt x="7933" y="4441"/>
                </a:cubicBezTo>
                <a:lnTo>
                  <a:pt x="7933" y="450"/>
                </a:lnTo>
                <a:cubicBezTo>
                  <a:pt x="7933" y="202"/>
                  <a:pt x="7731" y="0"/>
                  <a:pt x="7483" y="0"/>
                </a:cubicBezTo>
                <a:lnTo>
                  <a:pt x="449" y="0"/>
                </a:lnTo>
                <a:cubicBezTo>
                  <a:pt x="201" y="0"/>
                  <a:pt x="0" y="202"/>
                  <a:pt x="0" y="450"/>
                </a:cubicBezTo>
                <a:lnTo>
                  <a:pt x="0" y="4441"/>
                </a:lnTo>
                <a:cubicBezTo>
                  <a:pt x="0" y="4689"/>
                  <a:pt x="201" y="4890"/>
                  <a:pt x="449" y="4890"/>
                </a:cubicBezTo>
                <a:lnTo>
                  <a:pt x="3966" y="4890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4445640" y="1274760"/>
            <a:ext cx="113364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DRIVER +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331520" y="1589040"/>
            <a:ext cx="137016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BOUNDARY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845880" y="2103120"/>
            <a:ext cx="23277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why it matters and what is fixed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6954120" y="956160"/>
            <a:ext cx="2855520" cy="1760400"/>
          </a:xfrm>
          <a:custGeom>
            <a:avLst/>
            <a:gdLst/>
            <a:ahLst/>
            <a:rect l="0" t="0" r="r" b="b"/>
            <a:pathLst>
              <a:path w="7932" h="4890">
                <a:moveTo>
                  <a:pt x="3967" y="4890"/>
                </a:moveTo>
                <a:lnTo>
                  <a:pt x="7483" y="4890"/>
                </a:lnTo>
                <a:cubicBezTo>
                  <a:pt x="7731" y="4890"/>
                  <a:pt x="7932" y="4689"/>
                  <a:pt x="7932" y="4441"/>
                </a:cubicBezTo>
                <a:lnTo>
                  <a:pt x="7932" y="450"/>
                </a:lnTo>
                <a:cubicBezTo>
                  <a:pt x="7932" y="202"/>
                  <a:pt x="7731" y="0"/>
                  <a:pt x="7483" y="0"/>
                </a:cubicBezTo>
                <a:lnTo>
                  <a:pt x="450" y="0"/>
                </a:lnTo>
                <a:cubicBezTo>
                  <a:pt x="201" y="0"/>
                  <a:pt x="0" y="202"/>
                  <a:pt x="0" y="450"/>
                </a:cubicBezTo>
                <a:lnTo>
                  <a:pt x="0" y="4441"/>
                </a:lnTo>
                <a:cubicBezTo>
                  <a:pt x="0" y="4689"/>
                  <a:pt x="201" y="4890"/>
                  <a:pt x="450" y="4890"/>
                </a:cubicBezTo>
                <a:lnTo>
                  <a:pt x="3967" y="489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954120" y="956160"/>
            <a:ext cx="2855520" cy="1760400"/>
          </a:xfrm>
          <a:custGeom>
            <a:avLst/>
            <a:gdLst/>
            <a:ahLst/>
            <a:rect l="0" t="0" r="r" b="b"/>
            <a:pathLst>
              <a:path w="7932" h="4890">
                <a:moveTo>
                  <a:pt x="3967" y="4890"/>
                </a:moveTo>
                <a:lnTo>
                  <a:pt x="7483" y="4890"/>
                </a:lnTo>
                <a:cubicBezTo>
                  <a:pt x="7731" y="4890"/>
                  <a:pt x="7932" y="4689"/>
                  <a:pt x="7932" y="4441"/>
                </a:cubicBezTo>
                <a:lnTo>
                  <a:pt x="7932" y="450"/>
                </a:lnTo>
                <a:cubicBezTo>
                  <a:pt x="7932" y="202"/>
                  <a:pt x="7731" y="0"/>
                  <a:pt x="7483" y="0"/>
                </a:cubicBezTo>
                <a:lnTo>
                  <a:pt x="450" y="0"/>
                </a:lnTo>
                <a:cubicBezTo>
                  <a:pt x="201" y="0"/>
                  <a:pt x="0" y="202"/>
                  <a:pt x="0" y="450"/>
                </a:cubicBezTo>
                <a:lnTo>
                  <a:pt x="0" y="4441"/>
                </a:lnTo>
                <a:cubicBezTo>
                  <a:pt x="0" y="4689"/>
                  <a:pt x="201" y="4890"/>
                  <a:pt x="450" y="4890"/>
                </a:cubicBezTo>
                <a:lnTo>
                  <a:pt x="3967" y="4890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7787160" y="1274760"/>
            <a:ext cx="11898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CRITERIA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387200" y="1960200"/>
            <a:ext cx="1975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how options will be judged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0333440" y="956160"/>
            <a:ext cx="2855880" cy="1760400"/>
          </a:xfrm>
          <a:custGeom>
            <a:avLst/>
            <a:gdLst/>
            <a:ahLst/>
            <a:rect l="0" t="0" r="r" b="b"/>
            <a:pathLst>
              <a:path w="7933" h="4890">
                <a:moveTo>
                  <a:pt x="3966" y="4890"/>
                </a:moveTo>
                <a:lnTo>
                  <a:pt x="7483" y="4890"/>
                </a:lnTo>
                <a:cubicBezTo>
                  <a:pt x="7731" y="4890"/>
                  <a:pt x="7933" y="4689"/>
                  <a:pt x="7933" y="4441"/>
                </a:cubicBezTo>
                <a:lnTo>
                  <a:pt x="7933" y="450"/>
                </a:lnTo>
                <a:cubicBezTo>
                  <a:pt x="7933" y="202"/>
                  <a:pt x="7731" y="0"/>
                  <a:pt x="7483" y="0"/>
                </a:cubicBezTo>
                <a:lnTo>
                  <a:pt x="449" y="0"/>
                </a:lnTo>
                <a:cubicBezTo>
                  <a:pt x="201" y="0"/>
                  <a:pt x="0" y="202"/>
                  <a:pt x="0" y="450"/>
                </a:cubicBezTo>
                <a:lnTo>
                  <a:pt x="0" y="4441"/>
                </a:lnTo>
                <a:cubicBezTo>
                  <a:pt x="0" y="4689"/>
                  <a:pt x="201" y="4890"/>
                  <a:pt x="449" y="4890"/>
                </a:cubicBezTo>
                <a:lnTo>
                  <a:pt x="3966" y="489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0333440" y="956160"/>
            <a:ext cx="2855880" cy="1760400"/>
          </a:xfrm>
          <a:custGeom>
            <a:avLst/>
            <a:gdLst/>
            <a:ahLst/>
            <a:rect l="0" t="0" r="r" b="b"/>
            <a:pathLst>
              <a:path w="7933" h="4890">
                <a:moveTo>
                  <a:pt x="3966" y="4890"/>
                </a:moveTo>
                <a:lnTo>
                  <a:pt x="7483" y="4890"/>
                </a:lnTo>
                <a:cubicBezTo>
                  <a:pt x="7731" y="4890"/>
                  <a:pt x="7933" y="4689"/>
                  <a:pt x="7933" y="4441"/>
                </a:cubicBezTo>
                <a:lnTo>
                  <a:pt x="7933" y="450"/>
                </a:lnTo>
                <a:cubicBezTo>
                  <a:pt x="7933" y="202"/>
                  <a:pt x="7731" y="0"/>
                  <a:pt x="7483" y="0"/>
                </a:cubicBezTo>
                <a:lnTo>
                  <a:pt x="449" y="0"/>
                </a:lnTo>
                <a:cubicBezTo>
                  <a:pt x="201" y="0"/>
                  <a:pt x="0" y="202"/>
                  <a:pt x="0" y="450"/>
                </a:cubicBezTo>
                <a:lnTo>
                  <a:pt x="0" y="4441"/>
                </a:lnTo>
                <a:cubicBezTo>
                  <a:pt x="0" y="4689"/>
                  <a:pt x="201" y="4890"/>
                  <a:pt x="449" y="4890"/>
                </a:cubicBezTo>
                <a:lnTo>
                  <a:pt x="3966" y="4890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1137680" y="1274760"/>
            <a:ext cx="12463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CREDIBLE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0842480" y="1589040"/>
            <a:ext cx="183744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ALTERNATIVES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0680840" y="2103120"/>
            <a:ext cx="2181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including the simpler baseline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13712760" y="956160"/>
            <a:ext cx="2855880" cy="1760400"/>
          </a:xfrm>
          <a:custGeom>
            <a:avLst/>
            <a:gdLst/>
            <a:ahLst/>
            <a:rect l="0" t="0" r="r" b="b"/>
            <a:pathLst>
              <a:path w="7933" h="4890">
                <a:moveTo>
                  <a:pt x="3967" y="4890"/>
                </a:moveTo>
                <a:lnTo>
                  <a:pt x="7484" y="4890"/>
                </a:lnTo>
                <a:cubicBezTo>
                  <a:pt x="7732" y="4890"/>
                  <a:pt x="7933" y="4689"/>
                  <a:pt x="7933" y="4441"/>
                </a:cubicBezTo>
                <a:lnTo>
                  <a:pt x="7933" y="450"/>
                </a:lnTo>
                <a:cubicBezTo>
                  <a:pt x="7933" y="202"/>
                  <a:pt x="7732" y="0"/>
                  <a:pt x="7484" y="0"/>
                </a:cubicBezTo>
                <a:lnTo>
                  <a:pt x="450" y="0"/>
                </a:lnTo>
                <a:cubicBezTo>
                  <a:pt x="201" y="0"/>
                  <a:pt x="0" y="202"/>
                  <a:pt x="0" y="450"/>
                </a:cubicBezTo>
                <a:lnTo>
                  <a:pt x="0" y="4441"/>
                </a:lnTo>
                <a:cubicBezTo>
                  <a:pt x="0" y="4689"/>
                  <a:pt x="201" y="4890"/>
                  <a:pt x="450" y="4890"/>
                </a:cubicBezTo>
                <a:lnTo>
                  <a:pt x="3967" y="4890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13712760" y="956160"/>
            <a:ext cx="2855880" cy="1760400"/>
          </a:xfrm>
          <a:custGeom>
            <a:avLst/>
            <a:gdLst/>
            <a:ahLst/>
            <a:rect l="0" t="0" r="r" b="b"/>
            <a:pathLst>
              <a:path w="7933" h="4890">
                <a:moveTo>
                  <a:pt x="3967" y="4890"/>
                </a:moveTo>
                <a:lnTo>
                  <a:pt x="7484" y="4890"/>
                </a:lnTo>
                <a:cubicBezTo>
                  <a:pt x="7732" y="4890"/>
                  <a:pt x="7933" y="4689"/>
                  <a:pt x="7933" y="4441"/>
                </a:cubicBezTo>
                <a:lnTo>
                  <a:pt x="7933" y="450"/>
                </a:lnTo>
                <a:cubicBezTo>
                  <a:pt x="7933" y="202"/>
                  <a:pt x="7732" y="0"/>
                  <a:pt x="7484" y="0"/>
                </a:cubicBezTo>
                <a:lnTo>
                  <a:pt x="450" y="0"/>
                </a:lnTo>
                <a:cubicBezTo>
                  <a:pt x="201" y="0"/>
                  <a:pt x="0" y="202"/>
                  <a:pt x="0" y="450"/>
                </a:cubicBezTo>
                <a:lnTo>
                  <a:pt x="0" y="4441"/>
                </a:lnTo>
                <a:cubicBezTo>
                  <a:pt x="0" y="4689"/>
                  <a:pt x="201" y="4890"/>
                  <a:pt x="450" y="4890"/>
                </a:cubicBezTo>
                <a:lnTo>
                  <a:pt x="3967" y="4890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4460120" y="1274760"/>
            <a:ext cx="138924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TRADE-OFF</a:t>
            </a:r>
            <a:endParaRPr b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4336280" y="1960200"/>
            <a:ext cx="1627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accepted gain and loss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3098520" y="1841400"/>
            <a:ext cx="380880" cy="0"/>
          </a:xfrm>
          <a:prstGeom prst="line">
            <a:avLst/>
          </a:prstGeom>
          <a:ln w="381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3136680" y="165096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0" y="0"/>
                </a:moveTo>
                <a:lnTo>
                  <a:pt x="1058" y="529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478200" y="1841400"/>
            <a:ext cx="380880" cy="0"/>
          </a:xfrm>
          <a:prstGeom prst="line">
            <a:avLst/>
          </a:prstGeom>
          <a:ln w="381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516360" y="16509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0" y="0"/>
                </a:moveTo>
                <a:lnTo>
                  <a:pt x="1057" y="529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516360" y="16509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0" y="0"/>
                </a:moveTo>
                <a:lnTo>
                  <a:pt x="1057" y="529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9857160" y="1841400"/>
            <a:ext cx="380880" cy="0"/>
          </a:xfrm>
          <a:prstGeom prst="line">
            <a:avLst/>
          </a:prstGeom>
          <a:ln w="381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9895320" y="165096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0" y="0"/>
                </a:moveTo>
                <a:lnTo>
                  <a:pt x="1058" y="529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9895320" y="165096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0" y="0"/>
                </a:moveTo>
                <a:lnTo>
                  <a:pt x="1058" y="529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9895320" y="1650960"/>
            <a:ext cx="380880" cy="380520"/>
          </a:xfrm>
          <a:custGeom>
            <a:avLst/>
            <a:gdLst/>
            <a:ahLst/>
            <a:rect l="0" t="0" r="r" b="b"/>
            <a:pathLst>
              <a:path w="1058" h="1057">
                <a:moveTo>
                  <a:pt x="0" y="0"/>
                </a:moveTo>
                <a:lnTo>
                  <a:pt x="1058" y="529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3236840" y="1841400"/>
            <a:ext cx="380880" cy="0"/>
          </a:xfrm>
          <a:prstGeom prst="line">
            <a:avLst/>
          </a:prstGeom>
          <a:ln w="381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3275000" y="16509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0" y="0"/>
                </a:moveTo>
                <a:lnTo>
                  <a:pt x="1057" y="529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3275000" y="16509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0" y="0"/>
                </a:moveTo>
                <a:lnTo>
                  <a:pt x="1057" y="529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3275000" y="16509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0" y="0"/>
                </a:moveTo>
                <a:lnTo>
                  <a:pt x="1057" y="529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3275000" y="1650960"/>
            <a:ext cx="380520" cy="380520"/>
          </a:xfrm>
          <a:custGeom>
            <a:avLst/>
            <a:gdLst/>
            <a:ahLst/>
            <a:rect l="0" t="0" r="r" b="b"/>
            <a:pathLst>
              <a:path w="1057" h="1057">
                <a:moveTo>
                  <a:pt x="0" y="0"/>
                </a:moveTo>
                <a:lnTo>
                  <a:pt x="1057" y="529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433080" y="4905000"/>
            <a:ext cx="3712680" cy="1807920"/>
          </a:xfrm>
          <a:custGeom>
            <a:avLst/>
            <a:gdLst/>
            <a:ahLst/>
            <a:rect l="0" t="0" r="r" b="b"/>
            <a:pathLst>
              <a:path w="10313" h="5022">
                <a:moveTo>
                  <a:pt x="5157" y="5022"/>
                </a:moveTo>
                <a:lnTo>
                  <a:pt x="9864" y="5022"/>
                </a:lnTo>
                <a:cubicBezTo>
                  <a:pt x="10112" y="5022"/>
                  <a:pt x="10313" y="4821"/>
                  <a:pt x="10313" y="4573"/>
                </a:cubicBezTo>
                <a:lnTo>
                  <a:pt x="10313" y="449"/>
                </a:lnTo>
                <a:cubicBezTo>
                  <a:pt x="10313" y="201"/>
                  <a:pt x="10112" y="0"/>
                  <a:pt x="9864" y="0"/>
                </a:cubicBezTo>
                <a:lnTo>
                  <a:pt x="450" y="0"/>
                </a:lnTo>
                <a:cubicBezTo>
                  <a:pt x="201" y="0"/>
                  <a:pt x="0" y="201"/>
                  <a:pt x="0" y="449"/>
                </a:cubicBezTo>
                <a:lnTo>
                  <a:pt x="0" y="4573"/>
                </a:lnTo>
                <a:cubicBezTo>
                  <a:pt x="0" y="4821"/>
                  <a:pt x="201" y="5022"/>
                  <a:pt x="450" y="5022"/>
                </a:cubicBezTo>
                <a:lnTo>
                  <a:pt x="5157" y="5022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433080" y="4905000"/>
            <a:ext cx="3712680" cy="1807920"/>
          </a:xfrm>
          <a:custGeom>
            <a:avLst/>
            <a:gdLst/>
            <a:ahLst/>
            <a:rect l="0" t="0" r="r" b="b"/>
            <a:pathLst>
              <a:path w="10313" h="5022">
                <a:moveTo>
                  <a:pt x="5157" y="5022"/>
                </a:moveTo>
                <a:lnTo>
                  <a:pt x="9864" y="5022"/>
                </a:lnTo>
                <a:cubicBezTo>
                  <a:pt x="10112" y="5022"/>
                  <a:pt x="10313" y="4821"/>
                  <a:pt x="10313" y="4573"/>
                </a:cubicBezTo>
                <a:lnTo>
                  <a:pt x="10313" y="449"/>
                </a:lnTo>
                <a:cubicBezTo>
                  <a:pt x="10313" y="201"/>
                  <a:pt x="10112" y="0"/>
                  <a:pt x="9864" y="0"/>
                </a:cubicBezTo>
                <a:lnTo>
                  <a:pt x="450" y="0"/>
                </a:lnTo>
                <a:cubicBezTo>
                  <a:pt x="201" y="0"/>
                  <a:pt x="0" y="201"/>
                  <a:pt x="0" y="449"/>
                </a:cubicBezTo>
                <a:lnTo>
                  <a:pt x="0" y="4573"/>
                </a:lnTo>
                <a:cubicBezTo>
                  <a:pt x="0" y="4821"/>
                  <a:pt x="201" y="5022"/>
                  <a:pt x="450" y="5022"/>
                </a:cubicBezTo>
                <a:lnTo>
                  <a:pt x="5157" y="5022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485000" y="5242680"/>
            <a:ext cx="1627200" cy="275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EVALUATION</a:t>
            </a:r>
            <a:endParaRPr b="1" lang="en-US" sz="19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818360" y="5556600"/>
            <a:ext cx="970200" cy="275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RESULT</a:t>
            </a:r>
            <a:endParaRPr b="1" lang="en-US" sz="19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418400" y="6080400"/>
            <a:ext cx="17532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retain, qualify or reopen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4526640" y="4905000"/>
            <a:ext cx="3712680" cy="1807920"/>
          </a:xfrm>
          <a:custGeom>
            <a:avLst/>
            <a:gdLst/>
            <a:ahLst/>
            <a:rect l="0" t="0" r="r" b="b"/>
            <a:pathLst>
              <a:path w="10313" h="5022">
                <a:moveTo>
                  <a:pt x="5156" y="5022"/>
                </a:moveTo>
                <a:lnTo>
                  <a:pt x="9863" y="5022"/>
                </a:lnTo>
                <a:cubicBezTo>
                  <a:pt x="10112" y="5022"/>
                  <a:pt x="10313" y="4821"/>
                  <a:pt x="10313" y="4573"/>
                </a:cubicBezTo>
                <a:lnTo>
                  <a:pt x="10313" y="449"/>
                </a:lnTo>
                <a:cubicBezTo>
                  <a:pt x="10313" y="201"/>
                  <a:pt x="10112" y="0"/>
                  <a:pt x="9863" y="0"/>
                </a:cubicBezTo>
                <a:lnTo>
                  <a:pt x="449" y="0"/>
                </a:lnTo>
                <a:cubicBezTo>
                  <a:pt x="201" y="0"/>
                  <a:pt x="0" y="201"/>
                  <a:pt x="0" y="449"/>
                </a:cubicBezTo>
                <a:lnTo>
                  <a:pt x="0" y="4573"/>
                </a:lnTo>
                <a:cubicBezTo>
                  <a:pt x="0" y="4821"/>
                  <a:pt x="201" y="5022"/>
                  <a:pt x="449" y="5022"/>
                </a:cubicBezTo>
                <a:lnTo>
                  <a:pt x="5156" y="5022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4526640" y="4905000"/>
            <a:ext cx="3712680" cy="1807920"/>
          </a:xfrm>
          <a:custGeom>
            <a:avLst/>
            <a:gdLst/>
            <a:ahLst/>
            <a:rect l="0" t="0" r="r" b="b"/>
            <a:pathLst>
              <a:path w="10313" h="5022">
                <a:moveTo>
                  <a:pt x="5156" y="5022"/>
                </a:moveTo>
                <a:lnTo>
                  <a:pt x="9863" y="5022"/>
                </a:lnTo>
                <a:cubicBezTo>
                  <a:pt x="10112" y="5022"/>
                  <a:pt x="10313" y="4821"/>
                  <a:pt x="10313" y="4573"/>
                </a:cubicBezTo>
                <a:lnTo>
                  <a:pt x="10313" y="449"/>
                </a:lnTo>
                <a:cubicBezTo>
                  <a:pt x="10313" y="201"/>
                  <a:pt x="10112" y="0"/>
                  <a:pt x="9863" y="0"/>
                </a:cubicBezTo>
                <a:lnTo>
                  <a:pt x="449" y="0"/>
                </a:lnTo>
                <a:cubicBezTo>
                  <a:pt x="201" y="0"/>
                  <a:pt x="0" y="201"/>
                  <a:pt x="0" y="449"/>
                </a:cubicBezTo>
                <a:lnTo>
                  <a:pt x="0" y="4573"/>
                </a:lnTo>
                <a:cubicBezTo>
                  <a:pt x="0" y="4821"/>
                  <a:pt x="201" y="5022"/>
                  <a:pt x="449" y="5022"/>
                </a:cubicBezTo>
                <a:lnTo>
                  <a:pt x="5156" y="5022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635800" y="5242680"/>
            <a:ext cx="1522440" cy="275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EARLY TEST</a:t>
            </a:r>
            <a:endParaRPr b="1" lang="en-US" sz="19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026320" y="5947200"/>
            <a:ext cx="27356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challenge the highest-risk assumption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8619840" y="4905000"/>
            <a:ext cx="3712680" cy="1807920"/>
          </a:xfrm>
          <a:custGeom>
            <a:avLst/>
            <a:gdLst/>
            <a:ahLst/>
            <a:rect l="0" t="0" r="r" b="b"/>
            <a:pathLst>
              <a:path w="10313" h="5022">
                <a:moveTo>
                  <a:pt x="5156" y="5022"/>
                </a:moveTo>
                <a:lnTo>
                  <a:pt x="9863" y="5022"/>
                </a:lnTo>
                <a:cubicBezTo>
                  <a:pt x="10111" y="5022"/>
                  <a:pt x="10313" y="4821"/>
                  <a:pt x="10313" y="4573"/>
                </a:cubicBezTo>
                <a:lnTo>
                  <a:pt x="10313" y="449"/>
                </a:lnTo>
                <a:cubicBezTo>
                  <a:pt x="10313" y="201"/>
                  <a:pt x="10111" y="0"/>
                  <a:pt x="9863" y="0"/>
                </a:cubicBezTo>
                <a:lnTo>
                  <a:pt x="449" y="0"/>
                </a:lnTo>
                <a:cubicBezTo>
                  <a:pt x="201" y="0"/>
                  <a:pt x="0" y="201"/>
                  <a:pt x="0" y="449"/>
                </a:cubicBezTo>
                <a:lnTo>
                  <a:pt x="0" y="4573"/>
                </a:lnTo>
                <a:cubicBezTo>
                  <a:pt x="0" y="4821"/>
                  <a:pt x="201" y="5022"/>
                  <a:pt x="449" y="5022"/>
                </a:cubicBezTo>
                <a:lnTo>
                  <a:pt x="5156" y="5022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8619840" y="4905000"/>
            <a:ext cx="3712680" cy="1807920"/>
          </a:xfrm>
          <a:custGeom>
            <a:avLst/>
            <a:gdLst/>
            <a:ahLst/>
            <a:rect l="0" t="0" r="r" b="b"/>
            <a:pathLst>
              <a:path w="10313" h="5022">
                <a:moveTo>
                  <a:pt x="5156" y="5022"/>
                </a:moveTo>
                <a:lnTo>
                  <a:pt x="9863" y="5022"/>
                </a:lnTo>
                <a:cubicBezTo>
                  <a:pt x="10111" y="5022"/>
                  <a:pt x="10313" y="4821"/>
                  <a:pt x="10313" y="4573"/>
                </a:cubicBezTo>
                <a:lnTo>
                  <a:pt x="10313" y="449"/>
                </a:lnTo>
                <a:cubicBezTo>
                  <a:pt x="10313" y="201"/>
                  <a:pt x="10111" y="0"/>
                  <a:pt x="9863" y="0"/>
                </a:cubicBezTo>
                <a:lnTo>
                  <a:pt x="449" y="0"/>
                </a:lnTo>
                <a:cubicBezTo>
                  <a:pt x="201" y="0"/>
                  <a:pt x="0" y="201"/>
                  <a:pt x="0" y="449"/>
                </a:cubicBezTo>
                <a:lnTo>
                  <a:pt x="0" y="4573"/>
                </a:lnTo>
                <a:cubicBezTo>
                  <a:pt x="0" y="4821"/>
                  <a:pt x="201" y="5022"/>
                  <a:pt x="449" y="5022"/>
                </a:cubicBezTo>
                <a:lnTo>
                  <a:pt x="5156" y="5022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9719280" y="5242680"/>
            <a:ext cx="1531800" cy="275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PROTOCOL /</a:t>
            </a:r>
            <a:endParaRPr b="1" lang="en-US" sz="19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9814320" y="5556600"/>
            <a:ext cx="1332000" cy="275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ARTEFACT</a:t>
            </a:r>
            <a:endParaRPr b="1" lang="en-US" sz="19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9348120" y="6080400"/>
            <a:ext cx="2261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committed procedure or design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2713040" y="4905000"/>
            <a:ext cx="3713040" cy="1807920"/>
          </a:xfrm>
          <a:custGeom>
            <a:avLst/>
            <a:gdLst/>
            <a:ahLst/>
            <a:rect l="0" t="0" r="r" b="b"/>
            <a:pathLst>
              <a:path w="10314" h="5022">
                <a:moveTo>
                  <a:pt x="5157" y="5022"/>
                </a:moveTo>
                <a:lnTo>
                  <a:pt x="9864" y="5022"/>
                </a:lnTo>
                <a:cubicBezTo>
                  <a:pt x="10112" y="5022"/>
                  <a:pt x="10314" y="4821"/>
                  <a:pt x="10314" y="4573"/>
                </a:cubicBezTo>
                <a:lnTo>
                  <a:pt x="10314" y="449"/>
                </a:lnTo>
                <a:cubicBezTo>
                  <a:pt x="10314" y="201"/>
                  <a:pt x="10112" y="0"/>
                  <a:pt x="9864" y="0"/>
                </a:cubicBezTo>
                <a:lnTo>
                  <a:pt x="450" y="0"/>
                </a:lnTo>
                <a:cubicBezTo>
                  <a:pt x="202" y="0"/>
                  <a:pt x="0" y="201"/>
                  <a:pt x="0" y="449"/>
                </a:cubicBezTo>
                <a:lnTo>
                  <a:pt x="0" y="4573"/>
                </a:lnTo>
                <a:cubicBezTo>
                  <a:pt x="0" y="4821"/>
                  <a:pt x="202" y="5022"/>
                  <a:pt x="450" y="5022"/>
                </a:cubicBezTo>
                <a:lnTo>
                  <a:pt x="5157" y="5022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12713040" y="4905000"/>
            <a:ext cx="3713040" cy="1807920"/>
          </a:xfrm>
          <a:custGeom>
            <a:avLst/>
            <a:gdLst/>
            <a:ahLst/>
            <a:rect l="0" t="0" r="r" b="b"/>
            <a:pathLst>
              <a:path w="10314" h="5022">
                <a:moveTo>
                  <a:pt x="5157" y="5022"/>
                </a:moveTo>
                <a:lnTo>
                  <a:pt x="9864" y="5022"/>
                </a:lnTo>
                <a:cubicBezTo>
                  <a:pt x="10112" y="5022"/>
                  <a:pt x="10314" y="4821"/>
                  <a:pt x="10314" y="4573"/>
                </a:cubicBezTo>
                <a:lnTo>
                  <a:pt x="10314" y="449"/>
                </a:lnTo>
                <a:cubicBezTo>
                  <a:pt x="10314" y="201"/>
                  <a:pt x="10112" y="0"/>
                  <a:pt x="9864" y="0"/>
                </a:cubicBezTo>
                <a:lnTo>
                  <a:pt x="450" y="0"/>
                </a:lnTo>
                <a:cubicBezTo>
                  <a:pt x="202" y="0"/>
                  <a:pt x="0" y="201"/>
                  <a:pt x="0" y="449"/>
                </a:cubicBezTo>
                <a:lnTo>
                  <a:pt x="0" y="4573"/>
                </a:lnTo>
                <a:cubicBezTo>
                  <a:pt x="0" y="4821"/>
                  <a:pt x="202" y="5022"/>
                  <a:pt x="450" y="5022"/>
                </a:cubicBezTo>
                <a:lnTo>
                  <a:pt x="5157" y="5022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3860360" y="5242680"/>
            <a:ext cx="1427400" cy="275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DECISION +</a:t>
            </a:r>
            <a:endParaRPr b="1" lang="en-US" sz="19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3993560" y="5556600"/>
            <a:ext cx="1170360" cy="275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95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TRIGGER</a:t>
            </a:r>
            <a:endParaRPr b="1" lang="en-US" sz="195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3327200" y="6080400"/>
            <a:ext cx="24984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selected option and reopening rule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4569560" y="2811960"/>
            <a:ext cx="571320" cy="1950480"/>
          </a:xfrm>
          <a:custGeom>
            <a:avLst/>
            <a:gdLst/>
            <a:ahLst/>
            <a:rect l="0" t="0" r="r" b="b"/>
            <a:pathLst>
              <a:path fill="none" w="1587" h="5418">
                <a:moveTo>
                  <a:pt x="1587" y="0"/>
                </a:moveTo>
                <a:lnTo>
                  <a:pt x="1587" y="4229"/>
                </a:lnTo>
                <a:lnTo>
                  <a:pt x="0" y="5418"/>
                </a:lnTo>
              </a:path>
            </a:pathLst>
          </a:custGeom>
          <a:ln w="38160">
            <a:solidFill>
              <a:srgbClr val="444444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4538960" y="4404960"/>
            <a:ext cx="419040" cy="380520"/>
          </a:xfrm>
          <a:custGeom>
            <a:avLst/>
            <a:gdLst/>
            <a:ahLst/>
            <a:rect l="0" t="0" r="r" b="b"/>
            <a:pathLst>
              <a:path w="1164" h="1057">
                <a:moveTo>
                  <a:pt x="1164" y="845"/>
                </a:moveTo>
                <a:lnTo>
                  <a:pt x="0" y="1057"/>
                </a:lnTo>
                <a:lnTo>
                  <a:pt x="529" y="0"/>
                </a:lnTo>
                <a:lnTo>
                  <a:pt x="1164" y="845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4538960" y="4404960"/>
            <a:ext cx="419040" cy="380520"/>
          </a:xfrm>
          <a:custGeom>
            <a:avLst/>
            <a:gdLst/>
            <a:ahLst/>
            <a:rect l="0" t="0" r="r" b="b"/>
            <a:pathLst>
              <a:path w="1164" h="1057">
                <a:moveTo>
                  <a:pt x="1164" y="845"/>
                </a:moveTo>
                <a:lnTo>
                  <a:pt x="0" y="1057"/>
                </a:lnTo>
                <a:lnTo>
                  <a:pt x="529" y="0"/>
                </a:lnTo>
                <a:lnTo>
                  <a:pt x="1164" y="845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4538960" y="4404960"/>
            <a:ext cx="419040" cy="380520"/>
          </a:xfrm>
          <a:custGeom>
            <a:avLst/>
            <a:gdLst/>
            <a:ahLst/>
            <a:rect l="0" t="0" r="r" b="b"/>
            <a:pathLst>
              <a:path w="1164" h="1057">
                <a:moveTo>
                  <a:pt x="1164" y="845"/>
                </a:moveTo>
                <a:lnTo>
                  <a:pt x="0" y="1057"/>
                </a:lnTo>
                <a:lnTo>
                  <a:pt x="529" y="0"/>
                </a:lnTo>
                <a:lnTo>
                  <a:pt x="1164" y="845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4538960" y="4404960"/>
            <a:ext cx="419040" cy="380520"/>
          </a:xfrm>
          <a:custGeom>
            <a:avLst/>
            <a:gdLst/>
            <a:ahLst/>
            <a:rect l="0" t="0" r="r" b="b"/>
            <a:pathLst>
              <a:path w="1164" h="1057">
                <a:moveTo>
                  <a:pt x="1164" y="845"/>
                </a:moveTo>
                <a:lnTo>
                  <a:pt x="0" y="1057"/>
                </a:lnTo>
                <a:lnTo>
                  <a:pt x="529" y="0"/>
                </a:lnTo>
                <a:lnTo>
                  <a:pt x="1164" y="845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4538960" y="4404960"/>
            <a:ext cx="419040" cy="380520"/>
          </a:xfrm>
          <a:custGeom>
            <a:avLst/>
            <a:gdLst/>
            <a:ahLst/>
            <a:rect l="0" t="0" r="r" b="b"/>
            <a:pathLst>
              <a:path w="1164" h="1057">
                <a:moveTo>
                  <a:pt x="1164" y="845"/>
                </a:moveTo>
                <a:lnTo>
                  <a:pt x="0" y="1057"/>
                </a:lnTo>
                <a:lnTo>
                  <a:pt x="529" y="0"/>
                </a:lnTo>
                <a:lnTo>
                  <a:pt x="1164" y="845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 flipH="1">
            <a:off x="12380040" y="5808960"/>
            <a:ext cx="285480" cy="0"/>
          </a:xfrm>
          <a:prstGeom prst="line">
            <a:avLst/>
          </a:prstGeom>
          <a:ln w="381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2341880" y="5618520"/>
            <a:ext cx="380880" cy="380880"/>
          </a:xfrm>
          <a:custGeom>
            <a:avLst/>
            <a:gdLst/>
            <a:ahLst/>
            <a:rect l="0" t="0" r="r" b="b"/>
            <a:pathLst>
              <a:path w="1058" h="1058">
                <a:moveTo>
                  <a:pt x="1058" y="1058"/>
                </a:moveTo>
                <a:lnTo>
                  <a:pt x="0" y="529"/>
                </a:lnTo>
                <a:lnTo>
                  <a:pt x="1058" y="0"/>
                </a:lnTo>
                <a:lnTo>
                  <a:pt x="1058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2341880" y="5618520"/>
            <a:ext cx="380880" cy="380880"/>
          </a:xfrm>
          <a:custGeom>
            <a:avLst/>
            <a:gdLst/>
            <a:ahLst/>
            <a:rect l="0" t="0" r="r" b="b"/>
            <a:pathLst>
              <a:path w="1058" h="1058">
                <a:moveTo>
                  <a:pt x="1058" y="1058"/>
                </a:moveTo>
                <a:lnTo>
                  <a:pt x="0" y="529"/>
                </a:lnTo>
                <a:lnTo>
                  <a:pt x="1058" y="0"/>
                </a:lnTo>
                <a:lnTo>
                  <a:pt x="1058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12341880" y="5618520"/>
            <a:ext cx="380880" cy="380880"/>
          </a:xfrm>
          <a:custGeom>
            <a:avLst/>
            <a:gdLst/>
            <a:ahLst/>
            <a:rect l="0" t="0" r="r" b="b"/>
            <a:pathLst>
              <a:path w="1058" h="1058">
                <a:moveTo>
                  <a:pt x="1058" y="1058"/>
                </a:moveTo>
                <a:lnTo>
                  <a:pt x="0" y="529"/>
                </a:lnTo>
                <a:lnTo>
                  <a:pt x="1058" y="0"/>
                </a:lnTo>
                <a:lnTo>
                  <a:pt x="1058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2341880" y="5618520"/>
            <a:ext cx="380880" cy="380880"/>
          </a:xfrm>
          <a:custGeom>
            <a:avLst/>
            <a:gdLst/>
            <a:ahLst/>
            <a:rect l="0" t="0" r="r" b="b"/>
            <a:pathLst>
              <a:path w="1058" h="1058">
                <a:moveTo>
                  <a:pt x="1058" y="1058"/>
                </a:moveTo>
                <a:lnTo>
                  <a:pt x="0" y="529"/>
                </a:lnTo>
                <a:lnTo>
                  <a:pt x="1058" y="0"/>
                </a:lnTo>
                <a:lnTo>
                  <a:pt x="1058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2341880" y="5618520"/>
            <a:ext cx="380880" cy="380880"/>
          </a:xfrm>
          <a:custGeom>
            <a:avLst/>
            <a:gdLst/>
            <a:ahLst/>
            <a:rect l="0" t="0" r="r" b="b"/>
            <a:pathLst>
              <a:path w="1058" h="1058">
                <a:moveTo>
                  <a:pt x="1058" y="1058"/>
                </a:moveTo>
                <a:lnTo>
                  <a:pt x="0" y="529"/>
                </a:lnTo>
                <a:lnTo>
                  <a:pt x="1058" y="0"/>
                </a:lnTo>
                <a:lnTo>
                  <a:pt x="1058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2341880" y="5618520"/>
            <a:ext cx="380880" cy="380880"/>
          </a:xfrm>
          <a:custGeom>
            <a:avLst/>
            <a:gdLst/>
            <a:ahLst/>
            <a:rect l="0" t="0" r="r" b="b"/>
            <a:pathLst>
              <a:path w="1058" h="1058">
                <a:moveTo>
                  <a:pt x="1058" y="1058"/>
                </a:moveTo>
                <a:lnTo>
                  <a:pt x="0" y="529"/>
                </a:lnTo>
                <a:lnTo>
                  <a:pt x="1058" y="0"/>
                </a:lnTo>
                <a:lnTo>
                  <a:pt x="1058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 flipH="1">
            <a:off x="8286840" y="5808960"/>
            <a:ext cx="285840" cy="0"/>
          </a:xfrm>
          <a:prstGeom prst="line">
            <a:avLst/>
          </a:prstGeom>
          <a:ln w="381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82486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82486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82486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82486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2486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82486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82486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 flipH="1">
            <a:off x="4193280" y="5808960"/>
            <a:ext cx="285840" cy="0"/>
          </a:xfrm>
          <a:prstGeom prst="line">
            <a:avLst/>
          </a:prstGeom>
          <a:ln w="38160">
            <a:solidFill>
              <a:srgbClr val="44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41554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41554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41554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1554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41554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1554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41554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4155480" y="5618520"/>
            <a:ext cx="380520" cy="380880"/>
          </a:xfrm>
          <a:custGeom>
            <a:avLst/>
            <a:gdLst/>
            <a:ahLst/>
            <a:rect l="0" t="0" r="r" b="b"/>
            <a:pathLst>
              <a:path w="1057" h="1058">
                <a:moveTo>
                  <a:pt x="1057" y="1058"/>
                </a:moveTo>
                <a:lnTo>
                  <a:pt x="0" y="529"/>
                </a:lnTo>
                <a:lnTo>
                  <a:pt x="1057" y="0"/>
                </a:lnTo>
                <a:lnTo>
                  <a:pt x="1057" y="10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2099160" y="2783160"/>
            <a:ext cx="2712960" cy="5363280"/>
          </a:xfrm>
          <a:custGeom>
            <a:avLst/>
            <a:gdLst/>
            <a:ahLst/>
            <a:rect l="0" t="0" r="r" b="b"/>
            <a:pathLst>
              <a:path fill="none" w="7536" h="14898">
                <a:moveTo>
                  <a:pt x="0" y="11048"/>
                </a:moveTo>
                <a:lnTo>
                  <a:pt x="0" y="13691"/>
                </a:lnTo>
                <a:cubicBezTo>
                  <a:pt x="0" y="15277"/>
                  <a:pt x="5817" y="15410"/>
                  <a:pt x="6214" y="13427"/>
                </a:cubicBezTo>
                <a:lnTo>
                  <a:pt x="6214" y="1534"/>
                </a:lnTo>
                <a:cubicBezTo>
                  <a:pt x="6214" y="741"/>
                  <a:pt x="6875" y="212"/>
                  <a:pt x="7536" y="0"/>
                </a:cubicBezTo>
              </a:path>
            </a:pathLst>
          </a:custGeom>
          <a:ln w="38160">
            <a:solidFill>
              <a:srgbClr val="777777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427640" y="2706480"/>
            <a:ext cx="420840" cy="362520"/>
          </a:xfrm>
          <a:custGeom>
            <a:avLst/>
            <a:gdLst/>
            <a:ahLst/>
            <a:rect l="0" t="0" r="r" b="b"/>
            <a:pathLst>
              <a:path w="1169" h="1007">
                <a:moveTo>
                  <a:pt x="0" y="0"/>
                </a:moveTo>
                <a:lnTo>
                  <a:pt x="1169" y="181"/>
                </a:lnTo>
                <a:lnTo>
                  <a:pt x="323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4427640" y="2706480"/>
            <a:ext cx="420840" cy="362520"/>
          </a:xfrm>
          <a:custGeom>
            <a:avLst/>
            <a:gdLst/>
            <a:ahLst/>
            <a:rect l="0" t="0" r="r" b="b"/>
            <a:pathLst>
              <a:path w="1169" h="1007">
                <a:moveTo>
                  <a:pt x="0" y="0"/>
                </a:moveTo>
                <a:lnTo>
                  <a:pt x="1169" y="181"/>
                </a:lnTo>
                <a:lnTo>
                  <a:pt x="323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4427640" y="2706480"/>
            <a:ext cx="420840" cy="362520"/>
          </a:xfrm>
          <a:custGeom>
            <a:avLst/>
            <a:gdLst/>
            <a:ahLst/>
            <a:rect l="0" t="0" r="r" b="b"/>
            <a:pathLst>
              <a:path w="1169" h="1007">
                <a:moveTo>
                  <a:pt x="0" y="0"/>
                </a:moveTo>
                <a:lnTo>
                  <a:pt x="1169" y="181"/>
                </a:lnTo>
                <a:lnTo>
                  <a:pt x="323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427640" y="2706480"/>
            <a:ext cx="420840" cy="362520"/>
          </a:xfrm>
          <a:custGeom>
            <a:avLst/>
            <a:gdLst/>
            <a:ahLst/>
            <a:rect l="0" t="0" r="r" b="b"/>
            <a:pathLst>
              <a:path w="1169" h="1007">
                <a:moveTo>
                  <a:pt x="0" y="0"/>
                </a:moveTo>
                <a:lnTo>
                  <a:pt x="1169" y="181"/>
                </a:lnTo>
                <a:lnTo>
                  <a:pt x="323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427640" y="2706480"/>
            <a:ext cx="420840" cy="362520"/>
          </a:xfrm>
          <a:custGeom>
            <a:avLst/>
            <a:gdLst/>
            <a:ahLst/>
            <a:rect l="0" t="0" r="r" b="b"/>
            <a:pathLst>
              <a:path w="1169" h="1007">
                <a:moveTo>
                  <a:pt x="0" y="0"/>
                </a:moveTo>
                <a:lnTo>
                  <a:pt x="1169" y="181"/>
                </a:lnTo>
                <a:lnTo>
                  <a:pt x="323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4427640" y="2706480"/>
            <a:ext cx="420840" cy="362520"/>
          </a:xfrm>
          <a:custGeom>
            <a:avLst/>
            <a:gdLst/>
            <a:ahLst/>
            <a:rect l="0" t="0" r="r" b="b"/>
            <a:pathLst>
              <a:path w="1169" h="1007">
                <a:moveTo>
                  <a:pt x="0" y="0"/>
                </a:moveTo>
                <a:lnTo>
                  <a:pt x="1169" y="181"/>
                </a:lnTo>
                <a:lnTo>
                  <a:pt x="323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4427640" y="2706480"/>
            <a:ext cx="420840" cy="362520"/>
          </a:xfrm>
          <a:custGeom>
            <a:avLst/>
            <a:gdLst/>
            <a:ahLst/>
            <a:rect l="0" t="0" r="r" b="b"/>
            <a:pathLst>
              <a:path w="1169" h="1007">
                <a:moveTo>
                  <a:pt x="0" y="0"/>
                </a:moveTo>
                <a:lnTo>
                  <a:pt x="1169" y="181"/>
                </a:lnTo>
                <a:lnTo>
                  <a:pt x="323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4427640" y="2706480"/>
            <a:ext cx="420840" cy="362520"/>
          </a:xfrm>
          <a:custGeom>
            <a:avLst/>
            <a:gdLst/>
            <a:ahLst/>
            <a:rect l="0" t="0" r="r" b="b"/>
            <a:pathLst>
              <a:path w="1169" h="1007">
                <a:moveTo>
                  <a:pt x="0" y="0"/>
                </a:moveTo>
                <a:lnTo>
                  <a:pt x="1169" y="181"/>
                </a:lnTo>
                <a:lnTo>
                  <a:pt x="323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4427640" y="2706480"/>
            <a:ext cx="420840" cy="362520"/>
          </a:xfrm>
          <a:custGeom>
            <a:avLst/>
            <a:gdLst/>
            <a:ahLst/>
            <a:rect l="0" t="0" r="r" b="b"/>
            <a:pathLst>
              <a:path w="1169" h="1007">
                <a:moveTo>
                  <a:pt x="0" y="0"/>
                </a:moveTo>
                <a:lnTo>
                  <a:pt x="1169" y="181"/>
                </a:lnTo>
                <a:lnTo>
                  <a:pt x="323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969440" y="8820720"/>
            <a:ext cx="702756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0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 failed test or changed authority reopens the upstream commitment</a:t>
            </a:r>
            <a:endParaRPr b="0" i="1" lang="en-US" sz="20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2026-08-19T10:49:52Z</dcterms:created>
  <dc:creator>Antonio Clim and Martino Aldrigo</dc:creator>
  <dc:description>A reversible chain moves from evidence and authority through driver and boundary, criteria, credible alternatives and trade-off to a decision with a reconsideration trigger, a protocol or artefact, an early test and an evaluation result. A dashed feedback path shows that failed evidence or changed authority reopens the upstream commitment. Native-object PPTX generated from the canonical SVG; all text, boxes, lines, arrows and colours remain separately editable.</dc:description>
  <dc:language>en-US</dc:language>
  <cp:lastModifiedBy/>
  <dcterms:modified xsi:type="dcterms:W3CDTF">2026-08-19T10:49:53Z</dcterms:modified>
  <cp:revision>1</cp:revision>
  <dc:subject>Fully editable native drawing objects</dc:subject>
  <dc:title>Figure 4.1. The reversible driver-to-test chain</dc:title>
</cp:coreProperties>
</file>