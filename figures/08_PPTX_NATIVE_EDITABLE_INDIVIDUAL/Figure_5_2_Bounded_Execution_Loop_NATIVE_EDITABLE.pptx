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7145000" cy="9334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A63502-3B92-49CF-A7D7-1E3DB2310D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5858AA6-C3AD-47B6-B933-DDC6DA64FC5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680" y="4680"/>
            <a:ext cx="17135280" cy="9324720"/>
          </a:xfrm>
          <a:custGeom>
            <a:avLst/>
            <a:gdLst/>
            <a:ahLst/>
            <a:rect l="0" t="0" r="r" b="b"/>
            <a:pathLst>
              <a:path w="47598" h="25902">
                <a:moveTo>
                  <a:pt x="0" y="0"/>
                </a:moveTo>
                <a:lnTo>
                  <a:pt x="47598" y="0"/>
                </a:lnTo>
                <a:lnTo>
                  <a:pt x="47598" y="25902"/>
                </a:lnTo>
                <a:lnTo>
                  <a:pt x="0" y="259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10618920" y="233280"/>
            <a:ext cx="6045120" cy="818280"/>
          </a:xfrm>
          <a:custGeom>
            <a:avLst/>
            <a:gdLst/>
            <a:ahLst/>
            <a:rect l="0" t="0" r="r" b="b"/>
            <a:pathLst>
              <a:path w="16792" h="2273">
                <a:moveTo>
                  <a:pt x="8396" y="2273"/>
                </a:moveTo>
                <a:lnTo>
                  <a:pt x="16368" y="2273"/>
                </a:lnTo>
                <a:cubicBezTo>
                  <a:pt x="16602" y="2273"/>
                  <a:pt x="16792" y="2083"/>
                  <a:pt x="16792" y="1850"/>
                </a:cubicBezTo>
                <a:lnTo>
                  <a:pt x="16792" y="422"/>
                </a:lnTo>
                <a:cubicBezTo>
                  <a:pt x="16792" y="189"/>
                  <a:pt x="16602" y="0"/>
                  <a:pt x="16368" y="0"/>
                </a:cubicBezTo>
                <a:lnTo>
                  <a:pt x="423" y="0"/>
                </a:lnTo>
                <a:cubicBezTo>
                  <a:pt x="189" y="0"/>
                  <a:pt x="0" y="189"/>
                  <a:pt x="0" y="422"/>
                </a:cubicBezTo>
                <a:lnTo>
                  <a:pt x="0" y="1850"/>
                </a:lnTo>
                <a:cubicBezTo>
                  <a:pt x="0" y="2083"/>
                  <a:pt x="189" y="2273"/>
                  <a:pt x="423" y="2273"/>
                </a:cubicBezTo>
                <a:lnTo>
                  <a:pt x="8396" y="2273"/>
                </a:lnTo>
                <a:close/>
              </a:path>
            </a:pathLst>
          </a:custGeom>
          <a:solidFill>
            <a:srgbClr val="fff7f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0618920" y="233280"/>
            <a:ext cx="6045120" cy="818280"/>
          </a:xfrm>
          <a:custGeom>
            <a:avLst/>
            <a:gdLst/>
            <a:ahLst/>
            <a:rect l="0" t="0" r="r" b="b"/>
            <a:pathLst>
              <a:path w="16792" h="2273">
                <a:moveTo>
                  <a:pt x="8396" y="2273"/>
                </a:moveTo>
                <a:lnTo>
                  <a:pt x="16368" y="2273"/>
                </a:lnTo>
                <a:cubicBezTo>
                  <a:pt x="16602" y="2273"/>
                  <a:pt x="16792" y="2083"/>
                  <a:pt x="16792" y="1850"/>
                </a:cubicBezTo>
                <a:lnTo>
                  <a:pt x="16792" y="422"/>
                </a:lnTo>
                <a:cubicBezTo>
                  <a:pt x="16792" y="189"/>
                  <a:pt x="16602" y="0"/>
                  <a:pt x="16368" y="0"/>
                </a:cubicBezTo>
                <a:lnTo>
                  <a:pt x="423" y="0"/>
                </a:lnTo>
                <a:cubicBezTo>
                  <a:pt x="189" y="0"/>
                  <a:pt x="0" y="189"/>
                  <a:pt x="0" y="422"/>
                </a:cubicBezTo>
                <a:lnTo>
                  <a:pt x="0" y="1850"/>
                </a:lnTo>
                <a:cubicBezTo>
                  <a:pt x="0" y="2083"/>
                  <a:pt x="189" y="2273"/>
                  <a:pt x="423" y="2273"/>
                </a:cubicBezTo>
                <a:lnTo>
                  <a:pt x="8396" y="2273"/>
                </a:lnTo>
                <a:close/>
              </a:path>
            </a:pathLst>
          </a:custGeom>
          <a:noFill/>
          <a:ln w="38160">
            <a:solidFill>
              <a:srgbClr val="9b3b2f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1423160" y="494640"/>
            <a:ext cx="446400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100" strike="noStrike" u="none">
                <a:solidFill>
                  <a:srgbClr val="7c3027"/>
                </a:solidFill>
                <a:effectLst/>
                <a:uFillTx/>
                <a:latin typeface="Times New Roman"/>
              </a:rPr>
              <a:t>stop before external or irreversible action</a:t>
            </a:r>
            <a:endParaRPr b="0" i="1" lang="en-US" sz="2100" strike="noStrike" u="none">
              <a:solidFill>
                <a:srgbClr val="7c3027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6240240" y="3382560"/>
            <a:ext cx="4664160" cy="2378520"/>
          </a:xfrm>
          <a:custGeom>
            <a:avLst/>
            <a:gdLst/>
            <a:ahLst/>
            <a:rect l="0" t="0" r="r" b="b"/>
            <a:pathLst>
              <a:path w="12956" h="6607">
                <a:moveTo>
                  <a:pt x="6479" y="6607"/>
                </a:moveTo>
                <a:lnTo>
                  <a:pt x="12269" y="6607"/>
                </a:lnTo>
                <a:cubicBezTo>
                  <a:pt x="12648" y="6607"/>
                  <a:pt x="12956" y="6299"/>
                  <a:pt x="12956" y="5920"/>
                </a:cubicBezTo>
                <a:lnTo>
                  <a:pt x="12956" y="688"/>
                </a:lnTo>
                <a:cubicBezTo>
                  <a:pt x="12956" y="308"/>
                  <a:pt x="12648" y="0"/>
                  <a:pt x="12269" y="0"/>
                </a:cubicBezTo>
                <a:lnTo>
                  <a:pt x="687" y="0"/>
                </a:lnTo>
                <a:cubicBezTo>
                  <a:pt x="308" y="0"/>
                  <a:pt x="0" y="308"/>
                  <a:pt x="0" y="688"/>
                </a:cubicBezTo>
                <a:lnTo>
                  <a:pt x="0" y="5920"/>
                </a:lnTo>
                <a:cubicBezTo>
                  <a:pt x="0" y="6299"/>
                  <a:pt x="308" y="6607"/>
                  <a:pt x="687" y="6607"/>
                </a:cubicBezTo>
                <a:lnTo>
                  <a:pt x="6479" y="6607"/>
                </a:lnTo>
                <a:close/>
              </a:path>
            </a:pathLst>
          </a:custGeom>
          <a:solidFill>
            <a:srgbClr val="eef1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240240" y="3382560"/>
            <a:ext cx="4664160" cy="2378520"/>
          </a:xfrm>
          <a:custGeom>
            <a:avLst/>
            <a:gdLst/>
            <a:ahLst/>
            <a:rect l="0" t="0" r="r" b="b"/>
            <a:pathLst>
              <a:path w="12956" h="6607">
                <a:moveTo>
                  <a:pt x="6479" y="6607"/>
                </a:moveTo>
                <a:lnTo>
                  <a:pt x="12269" y="6607"/>
                </a:lnTo>
                <a:cubicBezTo>
                  <a:pt x="12648" y="6607"/>
                  <a:pt x="12956" y="6299"/>
                  <a:pt x="12956" y="5920"/>
                </a:cubicBezTo>
                <a:lnTo>
                  <a:pt x="12956" y="688"/>
                </a:lnTo>
                <a:cubicBezTo>
                  <a:pt x="12956" y="308"/>
                  <a:pt x="12648" y="0"/>
                  <a:pt x="12269" y="0"/>
                </a:cubicBezTo>
                <a:lnTo>
                  <a:pt x="687" y="0"/>
                </a:lnTo>
                <a:cubicBezTo>
                  <a:pt x="308" y="0"/>
                  <a:pt x="0" y="308"/>
                  <a:pt x="0" y="688"/>
                </a:cubicBezTo>
                <a:lnTo>
                  <a:pt x="0" y="5920"/>
                </a:lnTo>
                <a:cubicBezTo>
                  <a:pt x="0" y="6299"/>
                  <a:pt x="308" y="6607"/>
                  <a:pt x="687" y="6607"/>
                </a:cubicBezTo>
                <a:lnTo>
                  <a:pt x="6479" y="6607"/>
                </a:lnTo>
                <a:close/>
              </a:path>
            </a:pathLst>
          </a:custGeom>
          <a:noFill/>
          <a:ln w="47520">
            <a:solidFill>
              <a:srgbClr val="3d4b58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6663960" y="3796560"/>
            <a:ext cx="38401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ONE CONSEQUENTIAL</a:t>
            </a:r>
            <a:endParaRPr b="1" lang="en-US" sz="27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549200" y="4243680"/>
            <a:ext cx="20678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WORK UNIT</a:t>
            </a:r>
            <a:endParaRPr b="1" lang="en-US" sz="27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254000" y="4861800"/>
            <a:ext cx="26373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720" strike="noStrike" u="none">
                <a:solidFill>
                  <a:srgbClr val="536272"/>
                </a:solidFill>
                <a:effectLst/>
                <a:uFillTx/>
                <a:latin typeface="Times New Roman"/>
              </a:rPr>
              <a:t>authority + state + inspection</a:t>
            </a:r>
            <a:endParaRPr b="0" i="1" lang="en-US" sz="1720" strike="noStrike" u="none">
              <a:solidFill>
                <a:srgbClr val="536272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482600" y="5204160"/>
            <a:ext cx="21841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720" strike="noStrike" u="none">
                <a:solidFill>
                  <a:srgbClr val="536272"/>
                </a:solidFill>
                <a:effectLst/>
                <a:uFillTx/>
                <a:latin typeface="Times New Roman"/>
              </a:rPr>
              <a:t>+ disposition + recovery</a:t>
            </a:r>
            <a:endParaRPr b="0" i="1" lang="en-US" sz="1720" strike="noStrike" u="none">
              <a:solidFill>
                <a:srgbClr val="536272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6335280" y="908640"/>
            <a:ext cx="4474080" cy="1617480"/>
          </a:xfrm>
          <a:custGeom>
            <a:avLst/>
            <a:gdLst/>
            <a:ahLst/>
            <a:rect l="0" t="0" r="r" b="b"/>
            <a:pathLst>
              <a:path w="12428" h="4493">
                <a:moveTo>
                  <a:pt x="6215" y="4493"/>
                </a:moveTo>
                <a:lnTo>
                  <a:pt x="11952" y="4493"/>
                </a:lnTo>
                <a:cubicBezTo>
                  <a:pt x="12215" y="4493"/>
                  <a:pt x="12428" y="4280"/>
                  <a:pt x="12428" y="4018"/>
                </a:cubicBezTo>
                <a:lnTo>
                  <a:pt x="12428" y="476"/>
                </a:lnTo>
                <a:cubicBezTo>
                  <a:pt x="12428" y="213"/>
                  <a:pt x="12215" y="0"/>
                  <a:pt x="11952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018"/>
                </a:lnTo>
                <a:cubicBezTo>
                  <a:pt x="0" y="4280"/>
                  <a:pt x="213" y="4493"/>
                  <a:pt x="476" y="4493"/>
                </a:cubicBezTo>
                <a:lnTo>
                  <a:pt x="6215" y="449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335280" y="908640"/>
            <a:ext cx="4474080" cy="1617480"/>
          </a:xfrm>
          <a:custGeom>
            <a:avLst/>
            <a:gdLst/>
            <a:ahLst/>
            <a:rect l="0" t="0" r="r" b="b"/>
            <a:pathLst>
              <a:path w="12428" h="4493">
                <a:moveTo>
                  <a:pt x="6215" y="4493"/>
                </a:moveTo>
                <a:lnTo>
                  <a:pt x="11952" y="4493"/>
                </a:lnTo>
                <a:cubicBezTo>
                  <a:pt x="12215" y="4493"/>
                  <a:pt x="12428" y="4280"/>
                  <a:pt x="12428" y="4018"/>
                </a:cubicBezTo>
                <a:lnTo>
                  <a:pt x="12428" y="476"/>
                </a:lnTo>
                <a:cubicBezTo>
                  <a:pt x="12428" y="213"/>
                  <a:pt x="12215" y="0"/>
                  <a:pt x="11952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018"/>
                </a:lnTo>
                <a:cubicBezTo>
                  <a:pt x="0" y="4280"/>
                  <a:pt x="213" y="4493"/>
                  <a:pt x="476" y="4493"/>
                </a:cubicBezTo>
                <a:lnTo>
                  <a:pt x="6215" y="4493"/>
                </a:lnTo>
                <a:close/>
              </a:path>
            </a:pathLst>
          </a:custGeom>
          <a:noFill/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101720" y="1313280"/>
            <a:ext cx="29505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AUTHORISE + BOUND</a:t>
            </a:r>
            <a:endParaRPr b="1" lang="en-US" sz="217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7444440" y="1836360"/>
            <a:ext cx="2246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70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purpose, non-goals, criteria</a:t>
            </a:r>
            <a:endParaRPr b="0" i="1" lang="en-US" sz="1570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1808720" y="2098080"/>
            <a:ext cx="4188960" cy="1617480"/>
          </a:xfrm>
          <a:custGeom>
            <a:avLst/>
            <a:gdLst/>
            <a:ahLst/>
            <a:rect l="0" t="0" r="r" b="b"/>
            <a:pathLst>
              <a:path w="11636" h="4493">
                <a:moveTo>
                  <a:pt x="5818" y="4493"/>
                </a:moveTo>
                <a:lnTo>
                  <a:pt x="11160" y="4493"/>
                </a:lnTo>
                <a:cubicBezTo>
                  <a:pt x="11422" y="4493"/>
                  <a:pt x="11636" y="4280"/>
                  <a:pt x="11636" y="4018"/>
                </a:cubicBezTo>
                <a:lnTo>
                  <a:pt x="11636" y="476"/>
                </a:lnTo>
                <a:cubicBezTo>
                  <a:pt x="11636" y="213"/>
                  <a:pt x="11422" y="0"/>
                  <a:pt x="11160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018"/>
                </a:lnTo>
                <a:cubicBezTo>
                  <a:pt x="0" y="4280"/>
                  <a:pt x="213" y="4493"/>
                  <a:pt x="476" y="4493"/>
                </a:cubicBezTo>
                <a:lnTo>
                  <a:pt x="5818" y="449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1808720" y="2098080"/>
            <a:ext cx="4188960" cy="1617480"/>
          </a:xfrm>
          <a:custGeom>
            <a:avLst/>
            <a:gdLst/>
            <a:ahLst/>
            <a:rect l="0" t="0" r="r" b="b"/>
            <a:pathLst>
              <a:path w="11636" h="4493">
                <a:moveTo>
                  <a:pt x="5818" y="4493"/>
                </a:moveTo>
                <a:lnTo>
                  <a:pt x="11160" y="4493"/>
                </a:lnTo>
                <a:cubicBezTo>
                  <a:pt x="11422" y="4493"/>
                  <a:pt x="11636" y="4280"/>
                  <a:pt x="11636" y="4018"/>
                </a:cubicBezTo>
                <a:lnTo>
                  <a:pt x="11636" y="476"/>
                </a:lnTo>
                <a:cubicBezTo>
                  <a:pt x="11636" y="213"/>
                  <a:pt x="11422" y="0"/>
                  <a:pt x="11160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018"/>
                </a:lnTo>
                <a:cubicBezTo>
                  <a:pt x="0" y="4280"/>
                  <a:pt x="213" y="4493"/>
                  <a:pt x="476" y="4493"/>
                </a:cubicBezTo>
                <a:lnTo>
                  <a:pt x="5818" y="4493"/>
                </a:lnTo>
                <a:close/>
              </a:path>
            </a:pathLst>
          </a:custGeom>
          <a:noFill/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2898800" y="2502720"/>
            <a:ext cx="203688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FREEZE STATE</a:t>
            </a:r>
            <a:endParaRPr b="1" lang="en-US" sz="217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2813120" y="3025800"/>
            <a:ext cx="2188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70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identity, permissions, limits</a:t>
            </a:r>
            <a:endParaRPr b="0" i="1" lang="en-US" sz="1570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1999160" y="5904000"/>
            <a:ext cx="3998520" cy="1617480"/>
          </a:xfrm>
          <a:custGeom>
            <a:avLst/>
            <a:gdLst/>
            <a:ahLst/>
            <a:rect l="0" t="0" r="r" b="b"/>
            <a:pathLst>
              <a:path w="11107" h="4493">
                <a:moveTo>
                  <a:pt x="5553" y="4493"/>
                </a:moveTo>
                <a:lnTo>
                  <a:pt x="10631" y="4493"/>
                </a:lnTo>
                <a:cubicBezTo>
                  <a:pt x="10893" y="4493"/>
                  <a:pt x="11107" y="4280"/>
                  <a:pt x="11107" y="4017"/>
                </a:cubicBezTo>
                <a:lnTo>
                  <a:pt x="11107" y="475"/>
                </a:lnTo>
                <a:cubicBezTo>
                  <a:pt x="11107" y="213"/>
                  <a:pt x="10893" y="0"/>
                  <a:pt x="10631" y="0"/>
                </a:cubicBezTo>
                <a:lnTo>
                  <a:pt x="476" y="0"/>
                </a:lnTo>
                <a:cubicBezTo>
                  <a:pt x="213" y="0"/>
                  <a:pt x="0" y="213"/>
                  <a:pt x="0" y="475"/>
                </a:cubicBezTo>
                <a:lnTo>
                  <a:pt x="0" y="4017"/>
                </a:lnTo>
                <a:cubicBezTo>
                  <a:pt x="0" y="4280"/>
                  <a:pt x="213" y="4493"/>
                  <a:pt x="476" y="4493"/>
                </a:cubicBezTo>
                <a:lnTo>
                  <a:pt x="5553" y="449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1999160" y="5904000"/>
            <a:ext cx="3998520" cy="1617480"/>
          </a:xfrm>
          <a:custGeom>
            <a:avLst/>
            <a:gdLst/>
            <a:ahLst/>
            <a:rect l="0" t="0" r="r" b="b"/>
            <a:pathLst>
              <a:path w="11107" h="4493">
                <a:moveTo>
                  <a:pt x="5553" y="4493"/>
                </a:moveTo>
                <a:lnTo>
                  <a:pt x="10631" y="4493"/>
                </a:lnTo>
                <a:cubicBezTo>
                  <a:pt x="10893" y="4493"/>
                  <a:pt x="11107" y="4280"/>
                  <a:pt x="11107" y="4017"/>
                </a:cubicBezTo>
                <a:lnTo>
                  <a:pt x="11107" y="475"/>
                </a:lnTo>
                <a:cubicBezTo>
                  <a:pt x="11107" y="213"/>
                  <a:pt x="10893" y="0"/>
                  <a:pt x="10631" y="0"/>
                </a:cubicBezTo>
                <a:lnTo>
                  <a:pt x="476" y="0"/>
                </a:lnTo>
                <a:cubicBezTo>
                  <a:pt x="213" y="0"/>
                  <a:pt x="0" y="213"/>
                  <a:pt x="0" y="475"/>
                </a:cubicBezTo>
                <a:lnTo>
                  <a:pt x="0" y="4017"/>
                </a:lnTo>
                <a:cubicBezTo>
                  <a:pt x="0" y="4280"/>
                  <a:pt x="213" y="4493"/>
                  <a:pt x="476" y="4493"/>
                </a:cubicBezTo>
                <a:lnTo>
                  <a:pt x="5553" y="4493"/>
                </a:lnTo>
                <a:close/>
              </a:path>
            </a:pathLst>
          </a:custGeom>
          <a:noFill/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3317840" y="6308280"/>
            <a:ext cx="13647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PRODUCE</a:t>
            </a:r>
            <a:endParaRPr b="1" lang="en-US" sz="217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3374720" y="6831720"/>
            <a:ext cx="1237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70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candidate work</a:t>
            </a:r>
            <a:endParaRPr b="0" i="1" lang="en-US" sz="1570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6335280" y="6903000"/>
            <a:ext cx="4474080" cy="1617480"/>
          </a:xfrm>
          <a:custGeom>
            <a:avLst/>
            <a:gdLst/>
            <a:ahLst/>
            <a:rect l="0" t="0" r="r" b="b"/>
            <a:pathLst>
              <a:path w="12428" h="4493">
                <a:moveTo>
                  <a:pt x="6215" y="4493"/>
                </a:moveTo>
                <a:lnTo>
                  <a:pt x="11952" y="4493"/>
                </a:lnTo>
                <a:cubicBezTo>
                  <a:pt x="12215" y="4493"/>
                  <a:pt x="12428" y="4280"/>
                  <a:pt x="12428" y="4017"/>
                </a:cubicBezTo>
                <a:lnTo>
                  <a:pt x="12428" y="476"/>
                </a:lnTo>
                <a:cubicBezTo>
                  <a:pt x="12428" y="213"/>
                  <a:pt x="12215" y="0"/>
                  <a:pt x="11952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017"/>
                </a:lnTo>
                <a:cubicBezTo>
                  <a:pt x="0" y="4280"/>
                  <a:pt x="213" y="4493"/>
                  <a:pt x="476" y="4493"/>
                </a:cubicBezTo>
                <a:lnTo>
                  <a:pt x="6215" y="449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335280" y="6903000"/>
            <a:ext cx="4474080" cy="1617480"/>
          </a:xfrm>
          <a:custGeom>
            <a:avLst/>
            <a:gdLst/>
            <a:ahLst/>
            <a:rect l="0" t="0" r="r" b="b"/>
            <a:pathLst>
              <a:path w="12428" h="4493">
                <a:moveTo>
                  <a:pt x="6215" y="4493"/>
                </a:moveTo>
                <a:lnTo>
                  <a:pt x="11952" y="4493"/>
                </a:lnTo>
                <a:cubicBezTo>
                  <a:pt x="12215" y="4493"/>
                  <a:pt x="12428" y="4280"/>
                  <a:pt x="12428" y="4017"/>
                </a:cubicBezTo>
                <a:lnTo>
                  <a:pt x="12428" y="476"/>
                </a:lnTo>
                <a:cubicBezTo>
                  <a:pt x="12428" y="213"/>
                  <a:pt x="12215" y="0"/>
                  <a:pt x="11952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017"/>
                </a:lnTo>
                <a:cubicBezTo>
                  <a:pt x="0" y="4280"/>
                  <a:pt x="213" y="4493"/>
                  <a:pt x="476" y="4493"/>
                </a:cubicBezTo>
                <a:lnTo>
                  <a:pt x="6215" y="4493"/>
                </a:lnTo>
                <a:close/>
              </a:path>
            </a:pathLst>
          </a:custGeom>
          <a:noFill/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986960" y="7307280"/>
            <a:ext cx="119880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INSPECT</a:t>
            </a:r>
            <a:endParaRPr b="1" lang="en-US" sz="217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539480" y="7830720"/>
            <a:ext cx="2084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70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primary artefact + checks</a:t>
            </a:r>
            <a:endParaRPr b="0" i="1" lang="en-US" sz="1570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146960" y="5904000"/>
            <a:ext cx="4093560" cy="1617480"/>
          </a:xfrm>
          <a:custGeom>
            <a:avLst/>
            <a:gdLst/>
            <a:ahLst/>
            <a:rect l="0" t="0" r="r" b="b"/>
            <a:pathLst>
              <a:path w="11371" h="4493">
                <a:moveTo>
                  <a:pt x="5686" y="4493"/>
                </a:moveTo>
                <a:lnTo>
                  <a:pt x="10895" y="4493"/>
                </a:lnTo>
                <a:cubicBezTo>
                  <a:pt x="11158" y="4493"/>
                  <a:pt x="11371" y="4280"/>
                  <a:pt x="11371" y="4017"/>
                </a:cubicBezTo>
                <a:lnTo>
                  <a:pt x="11371" y="475"/>
                </a:lnTo>
                <a:cubicBezTo>
                  <a:pt x="11371" y="213"/>
                  <a:pt x="11158" y="0"/>
                  <a:pt x="10895" y="0"/>
                </a:cubicBezTo>
                <a:lnTo>
                  <a:pt x="476" y="0"/>
                </a:lnTo>
                <a:cubicBezTo>
                  <a:pt x="214" y="0"/>
                  <a:pt x="0" y="213"/>
                  <a:pt x="0" y="475"/>
                </a:cubicBezTo>
                <a:lnTo>
                  <a:pt x="0" y="4017"/>
                </a:lnTo>
                <a:cubicBezTo>
                  <a:pt x="0" y="4280"/>
                  <a:pt x="214" y="4493"/>
                  <a:pt x="476" y="4493"/>
                </a:cubicBezTo>
                <a:lnTo>
                  <a:pt x="5686" y="449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146960" y="5904000"/>
            <a:ext cx="4093560" cy="1617480"/>
          </a:xfrm>
          <a:custGeom>
            <a:avLst/>
            <a:gdLst/>
            <a:ahLst/>
            <a:rect l="0" t="0" r="r" b="b"/>
            <a:pathLst>
              <a:path w="11371" h="4493">
                <a:moveTo>
                  <a:pt x="5686" y="4493"/>
                </a:moveTo>
                <a:lnTo>
                  <a:pt x="10895" y="4493"/>
                </a:lnTo>
                <a:cubicBezTo>
                  <a:pt x="11158" y="4493"/>
                  <a:pt x="11371" y="4280"/>
                  <a:pt x="11371" y="4017"/>
                </a:cubicBezTo>
                <a:lnTo>
                  <a:pt x="11371" y="475"/>
                </a:lnTo>
                <a:cubicBezTo>
                  <a:pt x="11371" y="213"/>
                  <a:pt x="11158" y="0"/>
                  <a:pt x="10895" y="0"/>
                </a:cubicBezTo>
                <a:lnTo>
                  <a:pt x="476" y="0"/>
                </a:lnTo>
                <a:cubicBezTo>
                  <a:pt x="214" y="0"/>
                  <a:pt x="0" y="213"/>
                  <a:pt x="0" y="475"/>
                </a:cubicBezTo>
                <a:lnTo>
                  <a:pt x="0" y="4017"/>
                </a:lnTo>
                <a:cubicBezTo>
                  <a:pt x="0" y="4280"/>
                  <a:pt x="214" y="4493"/>
                  <a:pt x="476" y="4493"/>
                </a:cubicBezTo>
                <a:lnTo>
                  <a:pt x="5686" y="4493"/>
                </a:lnTo>
                <a:close/>
              </a:path>
            </a:pathLst>
          </a:custGeom>
          <a:noFill/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294280" y="6308280"/>
            <a:ext cx="18097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DISPOSITION</a:t>
            </a:r>
            <a:endParaRPr b="1" lang="en-US" sz="217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075400" y="6831720"/>
            <a:ext cx="2255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70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accept, repair, reject or stop</a:t>
            </a:r>
            <a:endParaRPr b="0" i="1" lang="en-US" sz="1570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146960" y="2098080"/>
            <a:ext cx="4093560" cy="1617480"/>
          </a:xfrm>
          <a:custGeom>
            <a:avLst/>
            <a:gdLst/>
            <a:ahLst/>
            <a:rect l="0" t="0" r="r" b="b"/>
            <a:pathLst>
              <a:path w="11371" h="4493">
                <a:moveTo>
                  <a:pt x="5686" y="4493"/>
                </a:moveTo>
                <a:lnTo>
                  <a:pt x="10895" y="4493"/>
                </a:lnTo>
                <a:cubicBezTo>
                  <a:pt x="11158" y="4493"/>
                  <a:pt x="11371" y="4280"/>
                  <a:pt x="11371" y="4018"/>
                </a:cubicBezTo>
                <a:lnTo>
                  <a:pt x="11371" y="476"/>
                </a:lnTo>
                <a:cubicBezTo>
                  <a:pt x="11371" y="213"/>
                  <a:pt x="11158" y="0"/>
                  <a:pt x="10895" y="0"/>
                </a:cubicBezTo>
                <a:lnTo>
                  <a:pt x="476" y="0"/>
                </a:lnTo>
                <a:cubicBezTo>
                  <a:pt x="214" y="0"/>
                  <a:pt x="0" y="213"/>
                  <a:pt x="0" y="476"/>
                </a:cubicBezTo>
                <a:lnTo>
                  <a:pt x="0" y="4018"/>
                </a:lnTo>
                <a:cubicBezTo>
                  <a:pt x="0" y="4280"/>
                  <a:pt x="214" y="4493"/>
                  <a:pt x="476" y="4493"/>
                </a:cubicBezTo>
                <a:lnTo>
                  <a:pt x="5686" y="449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146960" y="2098080"/>
            <a:ext cx="4093560" cy="1617480"/>
          </a:xfrm>
          <a:custGeom>
            <a:avLst/>
            <a:gdLst/>
            <a:ahLst/>
            <a:rect l="0" t="0" r="r" b="b"/>
            <a:pathLst>
              <a:path w="11371" h="4493">
                <a:moveTo>
                  <a:pt x="5686" y="4493"/>
                </a:moveTo>
                <a:lnTo>
                  <a:pt x="10895" y="4493"/>
                </a:lnTo>
                <a:cubicBezTo>
                  <a:pt x="11158" y="4493"/>
                  <a:pt x="11371" y="4280"/>
                  <a:pt x="11371" y="4018"/>
                </a:cubicBezTo>
                <a:lnTo>
                  <a:pt x="11371" y="476"/>
                </a:lnTo>
                <a:cubicBezTo>
                  <a:pt x="11371" y="213"/>
                  <a:pt x="11158" y="0"/>
                  <a:pt x="10895" y="0"/>
                </a:cubicBezTo>
                <a:lnTo>
                  <a:pt x="476" y="0"/>
                </a:lnTo>
                <a:cubicBezTo>
                  <a:pt x="214" y="0"/>
                  <a:pt x="0" y="213"/>
                  <a:pt x="0" y="476"/>
                </a:cubicBezTo>
                <a:lnTo>
                  <a:pt x="0" y="4018"/>
                </a:lnTo>
                <a:cubicBezTo>
                  <a:pt x="0" y="4280"/>
                  <a:pt x="214" y="4493"/>
                  <a:pt x="476" y="4493"/>
                </a:cubicBezTo>
                <a:lnTo>
                  <a:pt x="5686" y="4493"/>
                </a:lnTo>
                <a:close/>
              </a:path>
            </a:pathLst>
          </a:custGeom>
          <a:noFill/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761120" y="2502720"/>
            <a:ext cx="2874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RECORD + RECOVER</a:t>
            </a:r>
            <a:endParaRPr b="1" lang="en-US" sz="217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151360" y="3025800"/>
            <a:ext cx="2067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70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version, failure, condition</a:t>
            </a:r>
            <a:endParaRPr b="0" i="1" lang="en-US" sz="1570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0809360" y="1717560"/>
            <a:ext cx="1285200" cy="618480"/>
          </a:xfrm>
          <a:custGeom>
            <a:avLst/>
            <a:gdLst/>
            <a:ahLst/>
            <a:rect l="0" t="0" r="r" b="b"/>
            <a:pathLst>
              <a:path fill="none" w="3570" h="1718">
                <a:moveTo>
                  <a:pt x="0" y="0"/>
                </a:moveTo>
                <a:cubicBezTo>
                  <a:pt x="2115" y="0"/>
                  <a:pt x="2909" y="793"/>
                  <a:pt x="3570" y="1718"/>
                </a:cubicBezTo>
              </a:path>
            </a:pathLst>
          </a:custGeom>
          <a:ln w="47520">
            <a:solidFill>
              <a:srgbClr val="284d7a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1651760" y="1849320"/>
            <a:ext cx="470160" cy="525240"/>
          </a:xfrm>
          <a:custGeom>
            <a:avLst/>
            <a:gdLst/>
            <a:ahLst/>
            <a:rect l="0" t="0" r="r" b="b"/>
            <a:pathLst>
              <a:path w="1306" h="1459">
                <a:moveTo>
                  <a:pt x="1076" y="0"/>
                </a:moveTo>
                <a:lnTo>
                  <a:pt x="1306" y="1459"/>
                </a:lnTo>
                <a:lnTo>
                  <a:pt x="0" y="768"/>
                </a:lnTo>
                <a:lnTo>
                  <a:pt x="1076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5854760" y="3715560"/>
            <a:ext cx="502920" cy="2283480"/>
          </a:xfrm>
          <a:custGeom>
            <a:avLst/>
            <a:gdLst/>
            <a:ahLst/>
            <a:rect l="0" t="0" r="r" b="b"/>
            <a:pathLst>
              <a:path fill="none" w="1397" h="6343">
                <a:moveTo>
                  <a:pt x="397" y="0"/>
                </a:moveTo>
                <a:cubicBezTo>
                  <a:pt x="1851" y="2115"/>
                  <a:pt x="1719" y="4757"/>
                  <a:pt x="0" y="6343"/>
                </a:cubicBezTo>
              </a:path>
            </a:pathLst>
          </a:custGeom>
          <a:ln w="47520">
            <a:solidFill>
              <a:srgbClr val="284d7a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5819840" y="5533920"/>
            <a:ext cx="511200" cy="497520"/>
          </a:xfrm>
          <a:custGeom>
            <a:avLst/>
            <a:gdLst/>
            <a:ahLst/>
            <a:rect l="0" t="0" r="r" b="b"/>
            <a:pathLst>
              <a:path w="1420" h="1382">
                <a:moveTo>
                  <a:pt x="1420" y="971"/>
                </a:moveTo>
                <a:lnTo>
                  <a:pt x="0" y="1382"/>
                </a:lnTo>
                <a:lnTo>
                  <a:pt x="523" y="0"/>
                </a:lnTo>
                <a:lnTo>
                  <a:pt x="1420" y="97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5819840" y="5533920"/>
            <a:ext cx="511200" cy="497520"/>
          </a:xfrm>
          <a:custGeom>
            <a:avLst/>
            <a:gdLst/>
            <a:ahLst/>
            <a:rect l="0" t="0" r="r" b="b"/>
            <a:pathLst>
              <a:path w="1420" h="1382">
                <a:moveTo>
                  <a:pt x="1420" y="971"/>
                </a:moveTo>
                <a:lnTo>
                  <a:pt x="0" y="1382"/>
                </a:lnTo>
                <a:lnTo>
                  <a:pt x="523" y="0"/>
                </a:lnTo>
                <a:lnTo>
                  <a:pt x="1420" y="97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0713960" y="6712560"/>
            <a:ext cx="1285200" cy="951480"/>
          </a:xfrm>
          <a:custGeom>
            <a:avLst/>
            <a:gdLst/>
            <a:ahLst/>
            <a:rect l="0" t="0" r="r" b="b"/>
            <a:pathLst>
              <a:path fill="none" w="3570" h="2643">
                <a:moveTo>
                  <a:pt x="3570" y="0"/>
                </a:moveTo>
                <a:cubicBezTo>
                  <a:pt x="1587" y="1322"/>
                  <a:pt x="794" y="2247"/>
                  <a:pt x="0" y="2643"/>
                </a:cubicBezTo>
              </a:path>
            </a:pathLst>
          </a:custGeom>
          <a:ln w="47520">
            <a:solidFill>
              <a:srgbClr val="284d7a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0671480" y="7259760"/>
            <a:ext cx="532080" cy="425520"/>
          </a:xfrm>
          <a:custGeom>
            <a:avLst/>
            <a:gdLst/>
            <a:ahLst/>
            <a:rect l="0" t="0" r="r" b="b"/>
            <a:pathLst>
              <a:path w="1478" h="1182">
                <a:moveTo>
                  <a:pt x="1478" y="1182"/>
                </a:moveTo>
                <a:lnTo>
                  <a:pt x="0" y="1182"/>
                </a:lnTo>
                <a:lnTo>
                  <a:pt x="887" y="0"/>
                </a:lnTo>
                <a:lnTo>
                  <a:pt x="1478" y="1182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0671480" y="7259760"/>
            <a:ext cx="532080" cy="425520"/>
          </a:xfrm>
          <a:custGeom>
            <a:avLst/>
            <a:gdLst/>
            <a:ahLst/>
            <a:rect l="0" t="0" r="r" b="b"/>
            <a:pathLst>
              <a:path w="1478" h="1182">
                <a:moveTo>
                  <a:pt x="1478" y="1182"/>
                </a:moveTo>
                <a:lnTo>
                  <a:pt x="0" y="1182"/>
                </a:lnTo>
                <a:lnTo>
                  <a:pt x="887" y="0"/>
                </a:lnTo>
                <a:lnTo>
                  <a:pt x="1478" y="1182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0671480" y="7259760"/>
            <a:ext cx="532080" cy="425520"/>
          </a:xfrm>
          <a:custGeom>
            <a:avLst/>
            <a:gdLst/>
            <a:ahLst/>
            <a:rect l="0" t="0" r="r" b="b"/>
            <a:pathLst>
              <a:path w="1478" h="1182">
                <a:moveTo>
                  <a:pt x="1478" y="1182"/>
                </a:moveTo>
                <a:lnTo>
                  <a:pt x="0" y="1182"/>
                </a:lnTo>
                <a:lnTo>
                  <a:pt x="887" y="0"/>
                </a:lnTo>
                <a:lnTo>
                  <a:pt x="1478" y="1182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145480" y="7188480"/>
            <a:ext cx="1189800" cy="523080"/>
          </a:xfrm>
          <a:custGeom>
            <a:avLst/>
            <a:gdLst/>
            <a:ahLst/>
            <a:rect l="0" t="0" r="r" b="b"/>
            <a:pathLst>
              <a:path fill="none" w="3305" h="1453">
                <a:moveTo>
                  <a:pt x="3305" y="1453"/>
                </a:moveTo>
                <a:cubicBezTo>
                  <a:pt x="1586" y="1453"/>
                  <a:pt x="661" y="925"/>
                  <a:pt x="0" y="0"/>
                </a:cubicBezTo>
              </a:path>
            </a:pathLst>
          </a:custGeom>
          <a:ln w="47520">
            <a:solidFill>
              <a:srgbClr val="284d7a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5117760" y="7149600"/>
            <a:ext cx="470160" cy="525600"/>
          </a:xfrm>
          <a:custGeom>
            <a:avLst/>
            <a:gdLst/>
            <a:ahLst/>
            <a:rect l="0" t="0" r="r" b="b"/>
            <a:pathLst>
              <a:path w="1306" h="1460">
                <a:moveTo>
                  <a:pt x="230" y="1460"/>
                </a:moveTo>
                <a:lnTo>
                  <a:pt x="0" y="0"/>
                </a:lnTo>
                <a:lnTo>
                  <a:pt x="1306" y="692"/>
                </a:lnTo>
                <a:lnTo>
                  <a:pt x="230" y="146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117760" y="7149600"/>
            <a:ext cx="470160" cy="525600"/>
          </a:xfrm>
          <a:custGeom>
            <a:avLst/>
            <a:gdLst/>
            <a:ahLst/>
            <a:rect l="0" t="0" r="r" b="b"/>
            <a:pathLst>
              <a:path w="1306" h="1460">
                <a:moveTo>
                  <a:pt x="230" y="1460"/>
                </a:moveTo>
                <a:lnTo>
                  <a:pt x="0" y="0"/>
                </a:lnTo>
                <a:lnTo>
                  <a:pt x="1306" y="692"/>
                </a:lnTo>
                <a:lnTo>
                  <a:pt x="230" y="146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5117760" y="7149600"/>
            <a:ext cx="470160" cy="525600"/>
          </a:xfrm>
          <a:custGeom>
            <a:avLst/>
            <a:gdLst/>
            <a:ahLst/>
            <a:rect l="0" t="0" r="r" b="b"/>
            <a:pathLst>
              <a:path w="1306" h="1460">
                <a:moveTo>
                  <a:pt x="230" y="1460"/>
                </a:moveTo>
                <a:lnTo>
                  <a:pt x="0" y="0"/>
                </a:lnTo>
                <a:lnTo>
                  <a:pt x="1306" y="692"/>
                </a:lnTo>
                <a:lnTo>
                  <a:pt x="230" y="146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5117760" y="7149600"/>
            <a:ext cx="470160" cy="525600"/>
          </a:xfrm>
          <a:custGeom>
            <a:avLst/>
            <a:gdLst/>
            <a:ahLst/>
            <a:rect l="0" t="0" r="r" b="b"/>
            <a:pathLst>
              <a:path w="1306" h="1460">
                <a:moveTo>
                  <a:pt x="230" y="1460"/>
                </a:moveTo>
                <a:lnTo>
                  <a:pt x="0" y="0"/>
                </a:lnTo>
                <a:lnTo>
                  <a:pt x="1306" y="692"/>
                </a:lnTo>
                <a:lnTo>
                  <a:pt x="230" y="146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2396520" y="3715560"/>
            <a:ext cx="464040" cy="2188440"/>
          </a:xfrm>
          <a:custGeom>
            <a:avLst/>
            <a:gdLst/>
            <a:ahLst/>
            <a:rect l="0" t="0" r="r" b="b"/>
            <a:pathLst>
              <a:path fill="none" w="1289" h="6079">
                <a:moveTo>
                  <a:pt x="1289" y="6079"/>
                </a:moveTo>
                <a:cubicBezTo>
                  <a:pt x="-430" y="4096"/>
                  <a:pt x="-430" y="2115"/>
                  <a:pt x="1289" y="0"/>
                </a:cubicBezTo>
              </a:path>
            </a:pathLst>
          </a:custGeom>
          <a:ln w="47520">
            <a:solidFill>
              <a:srgbClr val="284d7a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2405880" y="3678840"/>
            <a:ext cx="484920" cy="519120"/>
          </a:xfrm>
          <a:custGeom>
            <a:avLst/>
            <a:gdLst/>
            <a:ahLst/>
            <a:rect l="0" t="0" r="r" b="b"/>
            <a:pathLst>
              <a:path w="1347" h="1442">
                <a:moveTo>
                  <a:pt x="0" y="609"/>
                </a:moveTo>
                <a:lnTo>
                  <a:pt x="1347" y="0"/>
                </a:lnTo>
                <a:lnTo>
                  <a:pt x="1026" y="1442"/>
                </a:lnTo>
                <a:lnTo>
                  <a:pt x="0" y="609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2405880" y="3678840"/>
            <a:ext cx="484920" cy="519120"/>
          </a:xfrm>
          <a:custGeom>
            <a:avLst/>
            <a:gdLst/>
            <a:ahLst/>
            <a:rect l="0" t="0" r="r" b="b"/>
            <a:pathLst>
              <a:path w="1347" h="1442">
                <a:moveTo>
                  <a:pt x="0" y="609"/>
                </a:moveTo>
                <a:lnTo>
                  <a:pt x="1347" y="0"/>
                </a:lnTo>
                <a:lnTo>
                  <a:pt x="1026" y="1442"/>
                </a:lnTo>
                <a:lnTo>
                  <a:pt x="0" y="609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2405880" y="3678840"/>
            <a:ext cx="484920" cy="519120"/>
          </a:xfrm>
          <a:custGeom>
            <a:avLst/>
            <a:gdLst/>
            <a:ahLst/>
            <a:rect l="0" t="0" r="r" b="b"/>
            <a:pathLst>
              <a:path w="1347" h="1442">
                <a:moveTo>
                  <a:pt x="0" y="609"/>
                </a:moveTo>
                <a:lnTo>
                  <a:pt x="1347" y="0"/>
                </a:lnTo>
                <a:lnTo>
                  <a:pt x="1026" y="1442"/>
                </a:lnTo>
                <a:lnTo>
                  <a:pt x="0" y="609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405880" y="3678840"/>
            <a:ext cx="484920" cy="519120"/>
          </a:xfrm>
          <a:custGeom>
            <a:avLst/>
            <a:gdLst/>
            <a:ahLst/>
            <a:rect l="0" t="0" r="r" b="b"/>
            <a:pathLst>
              <a:path w="1347" h="1442">
                <a:moveTo>
                  <a:pt x="0" y="609"/>
                </a:moveTo>
                <a:lnTo>
                  <a:pt x="1347" y="0"/>
                </a:lnTo>
                <a:lnTo>
                  <a:pt x="1026" y="1442"/>
                </a:lnTo>
                <a:lnTo>
                  <a:pt x="0" y="609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2405880" y="3678840"/>
            <a:ext cx="484920" cy="519120"/>
          </a:xfrm>
          <a:custGeom>
            <a:avLst/>
            <a:gdLst/>
            <a:ahLst/>
            <a:rect l="0" t="0" r="r" b="b"/>
            <a:pathLst>
              <a:path w="1347" h="1442">
                <a:moveTo>
                  <a:pt x="0" y="609"/>
                </a:moveTo>
                <a:lnTo>
                  <a:pt x="1347" y="0"/>
                </a:lnTo>
                <a:lnTo>
                  <a:pt x="1026" y="1442"/>
                </a:lnTo>
                <a:lnTo>
                  <a:pt x="0" y="609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240520" y="1717560"/>
            <a:ext cx="1094760" cy="618480"/>
          </a:xfrm>
          <a:custGeom>
            <a:avLst/>
            <a:gdLst/>
            <a:ahLst/>
            <a:rect l="0" t="0" r="r" b="b"/>
            <a:pathLst>
              <a:path fill="none" w="3041" h="1718">
                <a:moveTo>
                  <a:pt x="0" y="1718"/>
                </a:moveTo>
                <a:cubicBezTo>
                  <a:pt x="926" y="661"/>
                  <a:pt x="1983" y="132"/>
                  <a:pt x="3041" y="0"/>
                </a:cubicBezTo>
              </a:path>
            </a:pathLst>
          </a:custGeom>
          <a:ln w="47520">
            <a:solidFill>
              <a:srgbClr val="284d7a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880600" y="1534680"/>
            <a:ext cx="501840" cy="471960"/>
          </a:xfrm>
          <a:custGeom>
            <a:avLst/>
            <a:gdLst/>
            <a:ahLst/>
            <a:rect l="0" t="0" r="r" b="b"/>
            <a:pathLst>
              <a:path w="1394" h="1311">
                <a:moveTo>
                  <a:pt x="0" y="0"/>
                </a:moveTo>
                <a:lnTo>
                  <a:pt x="1394" y="491"/>
                </a:lnTo>
                <a:lnTo>
                  <a:pt x="164" y="131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880600" y="1534680"/>
            <a:ext cx="501840" cy="471960"/>
          </a:xfrm>
          <a:custGeom>
            <a:avLst/>
            <a:gdLst/>
            <a:ahLst/>
            <a:rect l="0" t="0" r="r" b="b"/>
            <a:pathLst>
              <a:path w="1394" h="1311">
                <a:moveTo>
                  <a:pt x="0" y="0"/>
                </a:moveTo>
                <a:lnTo>
                  <a:pt x="1394" y="491"/>
                </a:lnTo>
                <a:lnTo>
                  <a:pt x="164" y="131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880600" y="1534680"/>
            <a:ext cx="501840" cy="471960"/>
          </a:xfrm>
          <a:custGeom>
            <a:avLst/>
            <a:gdLst/>
            <a:ahLst/>
            <a:rect l="0" t="0" r="r" b="b"/>
            <a:pathLst>
              <a:path w="1394" h="1311">
                <a:moveTo>
                  <a:pt x="0" y="0"/>
                </a:moveTo>
                <a:lnTo>
                  <a:pt x="1394" y="491"/>
                </a:lnTo>
                <a:lnTo>
                  <a:pt x="164" y="131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880600" y="1534680"/>
            <a:ext cx="501840" cy="471960"/>
          </a:xfrm>
          <a:custGeom>
            <a:avLst/>
            <a:gdLst/>
            <a:ahLst/>
            <a:rect l="0" t="0" r="r" b="b"/>
            <a:pathLst>
              <a:path w="1394" h="1311">
                <a:moveTo>
                  <a:pt x="0" y="0"/>
                </a:moveTo>
                <a:lnTo>
                  <a:pt x="1394" y="491"/>
                </a:lnTo>
                <a:lnTo>
                  <a:pt x="164" y="131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880600" y="1534680"/>
            <a:ext cx="501840" cy="471960"/>
          </a:xfrm>
          <a:custGeom>
            <a:avLst/>
            <a:gdLst/>
            <a:ahLst/>
            <a:rect l="0" t="0" r="r" b="b"/>
            <a:pathLst>
              <a:path w="1394" h="1311">
                <a:moveTo>
                  <a:pt x="0" y="0"/>
                </a:moveTo>
                <a:lnTo>
                  <a:pt x="1394" y="491"/>
                </a:lnTo>
                <a:lnTo>
                  <a:pt x="164" y="131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5880600" y="1534680"/>
            <a:ext cx="501840" cy="471960"/>
          </a:xfrm>
          <a:custGeom>
            <a:avLst/>
            <a:gdLst/>
            <a:ahLst/>
            <a:rect l="0" t="0" r="r" b="b"/>
            <a:pathLst>
              <a:path w="1394" h="1311">
                <a:moveTo>
                  <a:pt x="0" y="0"/>
                </a:moveTo>
                <a:lnTo>
                  <a:pt x="1394" y="491"/>
                </a:lnTo>
                <a:lnTo>
                  <a:pt x="164" y="131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8572680" y="2526120"/>
            <a:ext cx="0" cy="761400"/>
          </a:xfrm>
          <a:prstGeom prst="line">
            <a:avLst/>
          </a:prstGeom>
          <a:ln w="2844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 flipH="1">
            <a:off x="10904400" y="3715560"/>
            <a:ext cx="904320" cy="380880"/>
          </a:xfrm>
          <a:prstGeom prst="line">
            <a:avLst/>
          </a:prstGeom>
          <a:ln w="2844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 flipH="1" flipV="1">
            <a:off x="10904400" y="5380560"/>
            <a:ext cx="1094760" cy="1332000"/>
          </a:xfrm>
          <a:prstGeom prst="line">
            <a:avLst/>
          </a:prstGeom>
          <a:ln w="2844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 flipV="1">
            <a:off x="8572680" y="5856120"/>
            <a:ext cx="0" cy="1046880"/>
          </a:xfrm>
          <a:prstGeom prst="line">
            <a:avLst/>
          </a:prstGeom>
          <a:ln w="2844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 flipV="1">
            <a:off x="5240520" y="5380560"/>
            <a:ext cx="999720" cy="1332000"/>
          </a:xfrm>
          <a:prstGeom prst="line">
            <a:avLst/>
          </a:prstGeom>
          <a:ln w="2844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240520" y="3715560"/>
            <a:ext cx="999720" cy="380880"/>
          </a:xfrm>
          <a:prstGeom prst="line">
            <a:avLst/>
          </a:prstGeom>
          <a:ln w="2844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4050720" y="8739360"/>
            <a:ext cx="9043200" cy="456840"/>
          </a:xfrm>
          <a:custGeom>
            <a:avLst/>
            <a:gdLst/>
            <a:ahLst/>
            <a:rect l="0" t="0" r="r" b="b"/>
            <a:pathLst>
              <a:path w="25120" h="1269">
                <a:moveTo>
                  <a:pt x="12561" y="1269"/>
                </a:moveTo>
                <a:lnTo>
                  <a:pt x="24803" y="1269"/>
                </a:lnTo>
                <a:cubicBezTo>
                  <a:pt x="24978" y="1269"/>
                  <a:pt x="25120" y="1127"/>
                  <a:pt x="25120" y="952"/>
                </a:cubicBezTo>
                <a:lnTo>
                  <a:pt x="25120" y="317"/>
                </a:lnTo>
                <a:cubicBezTo>
                  <a:pt x="25120" y="142"/>
                  <a:pt x="24978" y="0"/>
                  <a:pt x="24803" y="0"/>
                </a:cubicBezTo>
                <a:lnTo>
                  <a:pt x="317" y="0"/>
                </a:lnTo>
                <a:cubicBezTo>
                  <a:pt x="142" y="0"/>
                  <a:pt x="0" y="142"/>
                  <a:pt x="0" y="317"/>
                </a:cubicBezTo>
                <a:lnTo>
                  <a:pt x="0" y="952"/>
                </a:lnTo>
                <a:cubicBezTo>
                  <a:pt x="0" y="1127"/>
                  <a:pt x="142" y="1269"/>
                  <a:pt x="317" y="1269"/>
                </a:cubicBezTo>
                <a:lnTo>
                  <a:pt x="12561" y="1269"/>
                </a:lnTo>
                <a:close/>
              </a:path>
            </a:pathLst>
          </a:custGeom>
          <a:solidFill>
            <a:srgbClr val="f6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050720" y="8739360"/>
            <a:ext cx="9043200" cy="456840"/>
          </a:xfrm>
          <a:custGeom>
            <a:avLst/>
            <a:gdLst/>
            <a:ahLst/>
            <a:rect l="0" t="0" r="r" b="b"/>
            <a:pathLst>
              <a:path w="25120" h="1269">
                <a:moveTo>
                  <a:pt x="12561" y="1269"/>
                </a:moveTo>
                <a:lnTo>
                  <a:pt x="24803" y="1269"/>
                </a:lnTo>
                <a:cubicBezTo>
                  <a:pt x="24978" y="1269"/>
                  <a:pt x="25120" y="1127"/>
                  <a:pt x="25120" y="952"/>
                </a:cubicBezTo>
                <a:lnTo>
                  <a:pt x="25120" y="317"/>
                </a:lnTo>
                <a:cubicBezTo>
                  <a:pt x="25120" y="142"/>
                  <a:pt x="24978" y="0"/>
                  <a:pt x="24803" y="0"/>
                </a:cubicBezTo>
                <a:lnTo>
                  <a:pt x="317" y="0"/>
                </a:lnTo>
                <a:cubicBezTo>
                  <a:pt x="142" y="0"/>
                  <a:pt x="0" y="142"/>
                  <a:pt x="0" y="317"/>
                </a:cubicBezTo>
                <a:lnTo>
                  <a:pt x="0" y="952"/>
                </a:lnTo>
                <a:cubicBezTo>
                  <a:pt x="0" y="1127"/>
                  <a:pt x="142" y="1269"/>
                  <a:pt x="317" y="1269"/>
                </a:cubicBezTo>
                <a:lnTo>
                  <a:pt x="12561" y="1269"/>
                </a:lnTo>
                <a:close/>
              </a:path>
            </a:pathLst>
          </a:custGeom>
          <a:noFill/>
          <a:ln w="28440">
            <a:solidFill>
              <a:srgbClr val="687b92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864040" y="8848800"/>
            <a:ext cx="53492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8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failed runs and rejected candidates remain in the record</a:t>
            </a:r>
            <a:endParaRPr b="0" i="1" lang="en-US" sz="18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2026-08-19T10:49:56Z</dcterms:created>
  <dc:creator>Antonio Clim and Martino Aldrigo</dc:creator>
  <dc:description>Six stages surround one consequential work unit: authorise and bound, freeze state, produce candidate work, inspect the primary artefact and checks, decide disposition, then record and recover. A stop notice precedes external or irreversible action. The lower note states that failed runs and rejected candidates remain in the record. Native-object PPTX generated from the canonical SVG; all text, boxes, lines, arrows and colours remain separately editable.</dc:description>
  <dc:language>en-US</dc:language>
  <cp:lastModifiedBy/>
  <dcterms:modified xsi:type="dcterms:W3CDTF">2026-08-19T10:49:57Z</dcterms:modified>
  <cp:revision>1</cp:revision>
  <dc:subject>Fully editable native drawing objects</dc:subject>
  <dc:title>Figure 5.2. The bounded execution loop and its stop points</dc:title>
</cp:coreProperties>
</file>