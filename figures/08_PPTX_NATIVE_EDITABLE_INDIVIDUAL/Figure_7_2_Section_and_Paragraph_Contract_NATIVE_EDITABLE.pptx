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5716250" cy="8572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9B0A07-E3F3-40A5-B3E6-BE5C0FA13F5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DC42909-9866-4106-A7DE-93639ED04562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4680" y="4680"/>
            <a:ext cx="15706440" cy="8562600"/>
          </a:xfrm>
          <a:custGeom>
            <a:avLst/>
            <a:gdLst/>
            <a:ahLst/>
            <a:rect l="0" t="0" r="r" b="b"/>
            <a:pathLst>
              <a:path w="43629" h="23785">
                <a:moveTo>
                  <a:pt x="0" y="0"/>
                </a:moveTo>
                <a:lnTo>
                  <a:pt x="43629" y="0"/>
                </a:lnTo>
                <a:lnTo>
                  <a:pt x="43629" y="23785"/>
                </a:lnTo>
                <a:lnTo>
                  <a:pt x="0" y="2378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6330240" y="218880"/>
            <a:ext cx="3093120" cy="332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20" strike="noStrike" u="none">
                <a:solidFill>
                  <a:srgbClr val="203a5d"/>
                </a:solidFill>
                <a:effectLst/>
                <a:uFillTx/>
                <a:latin typeface="'Times New Roman'"/>
              </a:rPr>
              <a:t>SECTION CONTRACT</a:t>
            </a:r>
            <a:endParaRPr b="1" lang="en-US" sz="2320" strike="noStrike" u="none">
              <a:solidFill>
                <a:srgbClr val="203a5d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9" name=""/>
          <p:cNvSpPr/>
          <p:nvPr/>
        </p:nvSpPr>
        <p:spPr>
          <a:xfrm>
            <a:off x="338040" y="851400"/>
            <a:ext cx="2750760" cy="1436760"/>
          </a:xfrm>
          <a:custGeom>
            <a:avLst/>
            <a:gdLst/>
            <a:ahLst/>
            <a:rect l="0" t="0" r="r" b="b"/>
            <a:pathLst>
              <a:path w="7641" h="3991">
                <a:moveTo>
                  <a:pt x="3821" y="3991"/>
                </a:moveTo>
                <a:lnTo>
                  <a:pt x="7166" y="3991"/>
                </a:lnTo>
                <a:cubicBezTo>
                  <a:pt x="7428" y="3991"/>
                  <a:pt x="7641" y="3778"/>
                  <a:pt x="7641" y="3515"/>
                </a:cubicBezTo>
                <a:lnTo>
                  <a:pt x="7641" y="476"/>
                </a:lnTo>
                <a:cubicBezTo>
                  <a:pt x="7641" y="213"/>
                  <a:pt x="7428" y="0"/>
                  <a:pt x="7166" y="0"/>
                </a:cubicBezTo>
                <a:lnTo>
                  <a:pt x="476" y="0"/>
                </a:lnTo>
                <a:cubicBezTo>
                  <a:pt x="213" y="0"/>
                  <a:pt x="0" y="213"/>
                  <a:pt x="0" y="476"/>
                </a:cubicBezTo>
                <a:lnTo>
                  <a:pt x="0" y="3515"/>
                </a:lnTo>
                <a:cubicBezTo>
                  <a:pt x="0" y="3778"/>
                  <a:pt x="213" y="3991"/>
                  <a:pt x="476" y="3991"/>
                </a:cubicBezTo>
                <a:lnTo>
                  <a:pt x="3821" y="3991"/>
                </a:lnTo>
                <a:close/>
              </a:path>
            </a:pathLst>
          </a:custGeom>
          <a:solidFill>
            <a:srgbClr val="e9eff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338040" y="851400"/>
            <a:ext cx="2750760" cy="1436760"/>
          </a:xfrm>
          <a:custGeom>
            <a:avLst/>
            <a:gdLst/>
            <a:ahLst/>
            <a:rect l="0" t="0" r="r" b="b"/>
            <a:pathLst>
              <a:path w="7641" h="3991">
                <a:moveTo>
                  <a:pt x="3821" y="3991"/>
                </a:moveTo>
                <a:lnTo>
                  <a:pt x="7166" y="3991"/>
                </a:lnTo>
                <a:cubicBezTo>
                  <a:pt x="7428" y="3991"/>
                  <a:pt x="7641" y="3778"/>
                  <a:pt x="7641" y="3515"/>
                </a:cubicBezTo>
                <a:lnTo>
                  <a:pt x="7641" y="476"/>
                </a:lnTo>
                <a:cubicBezTo>
                  <a:pt x="7641" y="213"/>
                  <a:pt x="7428" y="0"/>
                  <a:pt x="7166" y="0"/>
                </a:cubicBezTo>
                <a:lnTo>
                  <a:pt x="476" y="0"/>
                </a:lnTo>
                <a:cubicBezTo>
                  <a:pt x="213" y="0"/>
                  <a:pt x="0" y="213"/>
                  <a:pt x="0" y="476"/>
                </a:cubicBezTo>
                <a:lnTo>
                  <a:pt x="0" y="3515"/>
                </a:lnTo>
                <a:cubicBezTo>
                  <a:pt x="0" y="3778"/>
                  <a:pt x="213" y="3991"/>
                  <a:pt x="476" y="3991"/>
                </a:cubicBezTo>
                <a:lnTo>
                  <a:pt x="3821" y="3991"/>
                </a:lnTo>
                <a:close/>
              </a:path>
            </a:pathLst>
          </a:custGeom>
          <a:noFill/>
          <a:ln w="38160">
            <a:solidFill>
              <a:srgbClr val="294f7c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1161360" y="1198800"/>
            <a:ext cx="111312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203a5d"/>
                </a:solidFill>
                <a:effectLst/>
                <a:uFillTx/>
                <a:latin typeface="'Times New Roman'"/>
              </a:rPr>
              <a:t>PROMISE</a:t>
            </a:r>
            <a:endParaRPr b="1" lang="en-US" sz="1870" strike="noStrike" u="none">
              <a:solidFill>
                <a:srgbClr val="203a5d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752040" y="1674360"/>
            <a:ext cx="19126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500" strike="noStrike" u="none">
                <a:solidFill>
                  <a:srgbClr val="526d8b"/>
                </a:solidFill>
                <a:effectLst/>
                <a:uFillTx/>
                <a:latin typeface="'Times New Roman'"/>
              </a:rPr>
              <a:t>what must be established</a:t>
            </a:r>
            <a:endParaRPr b="0" lang="en-US" sz="1500" strike="noStrike" u="none">
              <a:solidFill>
                <a:srgbClr val="526d8b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13" name=""/>
          <p:cNvSpPr/>
          <p:nvPr/>
        </p:nvSpPr>
        <p:spPr>
          <a:xfrm>
            <a:off x="3126960" y="1564920"/>
            <a:ext cx="228600" cy="0"/>
          </a:xfrm>
          <a:prstGeom prst="line">
            <a:avLst/>
          </a:prstGeom>
          <a:ln w="38160">
            <a:solidFill>
              <a:srgbClr val="2a527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9080" rIns="109080" tIns="-64080" bIns="-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2974680" y="1336680"/>
            <a:ext cx="456840" cy="456840"/>
          </a:xfrm>
          <a:custGeom>
            <a:avLst/>
            <a:gdLst/>
            <a:ahLst/>
            <a:rect l="0" t="0" r="r" b="b"/>
            <a:pathLst>
              <a:path w="1269" h="1269">
                <a:moveTo>
                  <a:pt x="0" y="0"/>
                </a:moveTo>
                <a:lnTo>
                  <a:pt x="1269" y="634"/>
                </a:lnTo>
                <a:lnTo>
                  <a:pt x="0" y="1269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3412800" y="851400"/>
            <a:ext cx="2750760" cy="1436760"/>
          </a:xfrm>
          <a:custGeom>
            <a:avLst/>
            <a:gdLst/>
            <a:ahLst/>
            <a:rect l="0" t="0" r="r" b="b"/>
            <a:pathLst>
              <a:path w="7641" h="3991">
                <a:moveTo>
                  <a:pt x="3820" y="3991"/>
                </a:moveTo>
                <a:lnTo>
                  <a:pt x="7165" y="3991"/>
                </a:lnTo>
                <a:cubicBezTo>
                  <a:pt x="7428" y="3991"/>
                  <a:pt x="7641" y="3778"/>
                  <a:pt x="7641" y="3515"/>
                </a:cubicBezTo>
                <a:lnTo>
                  <a:pt x="7641" y="476"/>
                </a:lnTo>
                <a:cubicBezTo>
                  <a:pt x="7641" y="213"/>
                  <a:pt x="7428" y="0"/>
                  <a:pt x="7165" y="0"/>
                </a:cubicBezTo>
                <a:lnTo>
                  <a:pt x="475" y="0"/>
                </a:lnTo>
                <a:cubicBezTo>
                  <a:pt x="213" y="0"/>
                  <a:pt x="0" y="213"/>
                  <a:pt x="0" y="476"/>
                </a:cubicBezTo>
                <a:lnTo>
                  <a:pt x="0" y="3515"/>
                </a:lnTo>
                <a:cubicBezTo>
                  <a:pt x="0" y="3778"/>
                  <a:pt x="213" y="3991"/>
                  <a:pt x="475" y="3991"/>
                </a:cubicBezTo>
                <a:lnTo>
                  <a:pt x="3820" y="3991"/>
                </a:lnTo>
                <a:close/>
              </a:path>
            </a:pathLst>
          </a:custGeom>
          <a:solidFill>
            <a:srgbClr val="e9eff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3412800" y="851400"/>
            <a:ext cx="2750760" cy="1436760"/>
          </a:xfrm>
          <a:custGeom>
            <a:avLst/>
            <a:gdLst/>
            <a:ahLst/>
            <a:rect l="0" t="0" r="r" b="b"/>
            <a:pathLst>
              <a:path w="7641" h="3991">
                <a:moveTo>
                  <a:pt x="3820" y="3991"/>
                </a:moveTo>
                <a:lnTo>
                  <a:pt x="7165" y="3991"/>
                </a:lnTo>
                <a:cubicBezTo>
                  <a:pt x="7428" y="3991"/>
                  <a:pt x="7641" y="3778"/>
                  <a:pt x="7641" y="3515"/>
                </a:cubicBezTo>
                <a:lnTo>
                  <a:pt x="7641" y="476"/>
                </a:lnTo>
                <a:cubicBezTo>
                  <a:pt x="7641" y="213"/>
                  <a:pt x="7428" y="0"/>
                  <a:pt x="7165" y="0"/>
                </a:cubicBezTo>
                <a:lnTo>
                  <a:pt x="475" y="0"/>
                </a:lnTo>
                <a:cubicBezTo>
                  <a:pt x="213" y="0"/>
                  <a:pt x="0" y="213"/>
                  <a:pt x="0" y="476"/>
                </a:cubicBezTo>
                <a:lnTo>
                  <a:pt x="0" y="3515"/>
                </a:lnTo>
                <a:cubicBezTo>
                  <a:pt x="0" y="3778"/>
                  <a:pt x="213" y="3991"/>
                  <a:pt x="475" y="3991"/>
                </a:cubicBezTo>
                <a:lnTo>
                  <a:pt x="3820" y="3991"/>
                </a:lnTo>
                <a:close/>
              </a:path>
            </a:pathLst>
          </a:custGeom>
          <a:noFill/>
          <a:ln w="38160">
            <a:solidFill>
              <a:srgbClr val="294f7c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3902760" y="1198800"/>
            <a:ext cx="176976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203a5d"/>
                </a:solidFill>
                <a:effectLst/>
                <a:uFillTx/>
                <a:latin typeface="'Times New Roman'"/>
              </a:rPr>
              <a:t>EVIDENCE SET</a:t>
            </a:r>
            <a:endParaRPr b="1" lang="en-US" sz="1870" strike="noStrike" u="none">
              <a:solidFill>
                <a:srgbClr val="203a5d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4045680" y="1674360"/>
            <a:ext cx="1465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500" strike="noStrike" u="none">
                <a:solidFill>
                  <a:srgbClr val="526d8b"/>
                </a:solidFill>
                <a:effectLst/>
                <a:uFillTx/>
                <a:latin typeface="'Times New Roman'"/>
              </a:rPr>
              <a:t>authorised material</a:t>
            </a:r>
            <a:endParaRPr b="0" lang="en-US" sz="1500" strike="noStrike" u="none">
              <a:solidFill>
                <a:srgbClr val="526d8b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19" name=""/>
          <p:cNvSpPr/>
          <p:nvPr/>
        </p:nvSpPr>
        <p:spPr>
          <a:xfrm>
            <a:off x="6201720" y="1564920"/>
            <a:ext cx="228600" cy="0"/>
          </a:xfrm>
          <a:prstGeom prst="line">
            <a:avLst/>
          </a:prstGeom>
          <a:ln w="38160">
            <a:solidFill>
              <a:srgbClr val="2a527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9080" rIns="109080" tIns="-64080" bIns="-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6049440" y="1336680"/>
            <a:ext cx="456840" cy="456840"/>
          </a:xfrm>
          <a:custGeom>
            <a:avLst/>
            <a:gdLst/>
            <a:ahLst/>
            <a:rect l="0" t="0" r="r" b="b"/>
            <a:pathLst>
              <a:path w="1269" h="1269">
                <a:moveTo>
                  <a:pt x="0" y="0"/>
                </a:moveTo>
                <a:lnTo>
                  <a:pt x="1269" y="634"/>
                </a:lnTo>
                <a:lnTo>
                  <a:pt x="0" y="1269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6049440" y="1336680"/>
            <a:ext cx="456840" cy="456840"/>
          </a:xfrm>
          <a:custGeom>
            <a:avLst/>
            <a:gdLst/>
            <a:ahLst/>
            <a:rect l="0" t="0" r="r" b="b"/>
            <a:pathLst>
              <a:path w="1269" h="1269">
                <a:moveTo>
                  <a:pt x="0" y="0"/>
                </a:moveTo>
                <a:lnTo>
                  <a:pt x="1269" y="634"/>
                </a:lnTo>
                <a:lnTo>
                  <a:pt x="0" y="1269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6487200" y="851400"/>
            <a:ext cx="2750760" cy="1436760"/>
          </a:xfrm>
          <a:custGeom>
            <a:avLst/>
            <a:gdLst/>
            <a:ahLst/>
            <a:rect l="0" t="0" r="r" b="b"/>
            <a:pathLst>
              <a:path w="7641" h="3991">
                <a:moveTo>
                  <a:pt x="3820" y="3991"/>
                </a:moveTo>
                <a:lnTo>
                  <a:pt x="7165" y="3991"/>
                </a:lnTo>
                <a:cubicBezTo>
                  <a:pt x="7428" y="3991"/>
                  <a:pt x="7641" y="3778"/>
                  <a:pt x="7641" y="3515"/>
                </a:cubicBezTo>
                <a:lnTo>
                  <a:pt x="7641" y="476"/>
                </a:lnTo>
                <a:cubicBezTo>
                  <a:pt x="7641" y="213"/>
                  <a:pt x="7428" y="0"/>
                  <a:pt x="7165" y="0"/>
                </a:cubicBezTo>
                <a:lnTo>
                  <a:pt x="476" y="0"/>
                </a:lnTo>
                <a:cubicBezTo>
                  <a:pt x="213" y="0"/>
                  <a:pt x="0" y="213"/>
                  <a:pt x="0" y="476"/>
                </a:cubicBezTo>
                <a:lnTo>
                  <a:pt x="0" y="3515"/>
                </a:lnTo>
                <a:cubicBezTo>
                  <a:pt x="0" y="3778"/>
                  <a:pt x="213" y="3991"/>
                  <a:pt x="476" y="3991"/>
                </a:cubicBezTo>
                <a:lnTo>
                  <a:pt x="3820" y="3991"/>
                </a:lnTo>
                <a:close/>
              </a:path>
            </a:pathLst>
          </a:custGeom>
          <a:solidFill>
            <a:srgbClr val="e9eff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6487200" y="851400"/>
            <a:ext cx="2750760" cy="1436760"/>
          </a:xfrm>
          <a:custGeom>
            <a:avLst/>
            <a:gdLst/>
            <a:ahLst/>
            <a:rect l="0" t="0" r="r" b="b"/>
            <a:pathLst>
              <a:path w="7641" h="3991">
                <a:moveTo>
                  <a:pt x="3820" y="3991"/>
                </a:moveTo>
                <a:lnTo>
                  <a:pt x="7165" y="3991"/>
                </a:lnTo>
                <a:cubicBezTo>
                  <a:pt x="7428" y="3991"/>
                  <a:pt x="7641" y="3778"/>
                  <a:pt x="7641" y="3515"/>
                </a:cubicBezTo>
                <a:lnTo>
                  <a:pt x="7641" y="476"/>
                </a:lnTo>
                <a:cubicBezTo>
                  <a:pt x="7641" y="213"/>
                  <a:pt x="7428" y="0"/>
                  <a:pt x="7165" y="0"/>
                </a:cubicBezTo>
                <a:lnTo>
                  <a:pt x="476" y="0"/>
                </a:lnTo>
                <a:cubicBezTo>
                  <a:pt x="213" y="0"/>
                  <a:pt x="0" y="213"/>
                  <a:pt x="0" y="476"/>
                </a:cubicBezTo>
                <a:lnTo>
                  <a:pt x="0" y="3515"/>
                </a:lnTo>
                <a:cubicBezTo>
                  <a:pt x="0" y="3778"/>
                  <a:pt x="213" y="3991"/>
                  <a:pt x="476" y="3991"/>
                </a:cubicBezTo>
                <a:lnTo>
                  <a:pt x="3820" y="3991"/>
                </a:lnTo>
                <a:close/>
              </a:path>
            </a:pathLst>
          </a:custGeom>
          <a:noFill/>
          <a:ln w="38160">
            <a:solidFill>
              <a:srgbClr val="294f7c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7148880" y="1198800"/>
            <a:ext cx="144612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203a5d"/>
                </a:solidFill>
                <a:effectLst/>
                <a:uFillTx/>
                <a:latin typeface="'Times New Roman'"/>
              </a:rPr>
              <a:t>REASONING</a:t>
            </a:r>
            <a:endParaRPr b="1" lang="en-US" sz="1870" strike="noStrike" u="none">
              <a:solidFill>
                <a:srgbClr val="203a5d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6968160" y="1674360"/>
            <a:ext cx="1783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500" strike="noStrike" u="none">
                <a:solidFill>
                  <a:srgbClr val="526d8b"/>
                </a:solidFill>
                <a:effectLst/>
                <a:uFillTx/>
                <a:latin typeface="'Times New Roman'"/>
              </a:rPr>
              <a:t>why the evidence bears</a:t>
            </a:r>
            <a:endParaRPr b="0" lang="en-US" sz="1500" strike="noStrike" u="none">
              <a:solidFill>
                <a:srgbClr val="526d8b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26" name=""/>
          <p:cNvSpPr/>
          <p:nvPr/>
        </p:nvSpPr>
        <p:spPr>
          <a:xfrm>
            <a:off x="9276120" y="1564920"/>
            <a:ext cx="228240" cy="0"/>
          </a:xfrm>
          <a:prstGeom prst="line">
            <a:avLst/>
          </a:prstGeom>
          <a:ln w="38160">
            <a:solidFill>
              <a:srgbClr val="2a527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9080" rIns="109080" tIns="-64080" bIns="-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9123840" y="1336680"/>
            <a:ext cx="456840" cy="456840"/>
          </a:xfrm>
          <a:custGeom>
            <a:avLst/>
            <a:gdLst/>
            <a:ahLst/>
            <a:rect l="0" t="0" r="r" b="b"/>
            <a:pathLst>
              <a:path w="1269" h="1269">
                <a:moveTo>
                  <a:pt x="0" y="0"/>
                </a:moveTo>
                <a:lnTo>
                  <a:pt x="1269" y="634"/>
                </a:lnTo>
                <a:lnTo>
                  <a:pt x="0" y="1269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9123840" y="1336680"/>
            <a:ext cx="456840" cy="456840"/>
          </a:xfrm>
          <a:custGeom>
            <a:avLst/>
            <a:gdLst/>
            <a:ahLst/>
            <a:rect l="0" t="0" r="r" b="b"/>
            <a:pathLst>
              <a:path w="1269" h="1269">
                <a:moveTo>
                  <a:pt x="0" y="0"/>
                </a:moveTo>
                <a:lnTo>
                  <a:pt x="1269" y="634"/>
                </a:lnTo>
                <a:lnTo>
                  <a:pt x="0" y="1269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9123840" y="1336680"/>
            <a:ext cx="456840" cy="456840"/>
          </a:xfrm>
          <a:custGeom>
            <a:avLst/>
            <a:gdLst/>
            <a:ahLst/>
            <a:rect l="0" t="0" r="r" b="b"/>
            <a:pathLst>
              <a:path w="1269" h="1269">
                <a:moveTo>
                  <a:pt x="0" y="0"/>
                </a:moveTo>
                <a:lnTo>
                  <a:pt x="1269" y="634"/>
                </a:lnTo>
                <a:lnTo>
                  <a:pt x="0" y="1269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9561600" y="851400"/>
            <a:ext cx="2751120" cy="1436760"/>
          </a:xfrm>
          <a:custGeom>
            <a:avLst/>
            <a:gdLst/>
            <a:ahLst/>
            <a:rect l="0" t="0" r="r" b="b"/>
            <a:pathLst>
              <a:path w="7642" h="3991">
                <a:moveTo>
                  <a:pt x="3821" y="3991"/>
                </a:moveTo>
                <a:lnTo>
                  <a:pt x="7166" y="3991"/>
                </a:lnTo>
                <a:cubicBezTo>
                  <a:pt x="7429" y="3991"/>
                  <a:pt x="7642" y="3778"/>
                  <a:pt x="7642" y="3515"/>
                </a:cubicBezTo>
                <a:lnTo>
                  <a:pt x="7642" y="476"/>
                </a:lnTo>
                <a:cubicBezTo>
                  <a:pt x="7642" y="213"/>
                  <a:pt x="7429" y="0"/>
                  <a:pt x="7166" y="0"/>
                </a:cubicBezTo>
                <a:lnTo>
                  <a:pt x="476" y="0"/>
                </a:lnTo>
                <a:cubicBezTo>
                  <a:pt x="213" y="0"/>
                  <a:pt x="0" y="213"/>
                  <a:pt x="0" y="476"/>
                </a:cubicBezTo>
                <a:lnTo>
                  <a:pt x="0" y="3515"/>
                </a:lnTo>
                <a:cubicBezTo>
                  <a:pt x="0" y="3778"/>
                  <a:pt x="213" y="3991"/>
                  <a:pt x="476" y="3991"/>
                </a:cubicBezTo>
                <a:lnTo>
                  <a:pt x="3821" y="3991"/>
                </a:lnTo>
                <a:close/>
              </a:path>
            </a:pathLst>
          </a:custGeom>
          <a:solidFill>
            <a:srgbClr val="e9eff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9561600" y="851400"/>
            <a:ext cx="2751120" cy="1436760"/>
          </a:xfrm>
          <a:custGeom>
            <a:avLst/>
            <a:gdLst/>
            <a:ahLst/>
            <a:rect l="0" t="0" r="r" b="b"/>
            <a:pathLst>
              <a:path w="7642" h="3991">
                <a:moveTo>
                  <a:pt x="3821" y="3991"/>
                </a:moveTo>
                <a:lnTo>
                  <a:pt x="7166" y="3991"/>
                </a:lnTo>
                <a:cubicBezTo>
                  <a:pt x="7429" y="3991"/>
                  <a:pt x="7642" y="3778"/>
                  <a:pt x="7642" y="3515"/>
                </a:cubicBezTo>
                <a:lnTo>
                  <a:pt x="7642" y="476"/>
                </a:lnTo>
                <a:cubicBezTo>
                  <a:pt x="7642" y="213"/>
                  <a:pt x="7429" y="0"/>
                  <a:pt x="7166" y="0"/>
                </a:cubicBezTo>
                <a:lnTo>
                  <a:pt x="476" y="0"/>
                </a:lnTo>
                <a:cubicBezTo>
                  <a:pt x="213" y="0"/>
                  <a:pt x="0" y="213"/>
                  <a:pt x="0" y="476"/>
                </a:cubicBezTo>
                <a:lnTo>
                  <a:pt x="0" y="3515"/>
                </a:lnTo>
                <a:cubicBezTo>
                  <a:pt x="0" y="3778"/>
                  <a:pt x="213" y="3991"/>
                  <a:pt x="476" y="3991"/>
                </a:cubicBezTo>
                <a:lnTo>
                  <a:pt x="3821" y="3991"/>
                </a:lnTo>
                <a:close/>
              </a:path>
            </a:pathLst>
          </a:custGeom>
          <a:noFill/>
          <a:ln w="38160">
            <a:solidFill>
              <a:srgbClr val="294f7c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10261440" y="1198800"/>
            <a:ext cx="137016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203a5d"/>
                </a:solidFill>
                <a:effectLst/>
                <a:uFillTx/>
                <a:latin typeface="'Times New Roman'"/>
              </a:rPr>
              <a:t>BOUNDARY</a:t>
            </a:r>
            <a:endParaRPr b="1" lang="en-US" sz="1870" strike="noStrike" u="none">
              <a:solidFill>
                <a:srgbClr val="203a5d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9975600" y="1674360"/>
            <a:ext cx="19051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500" strike="noStrike" u="none">
                <a:solidFill>
                  <a:srgbClr val="526d8b"/>
                </a:solidFill>
                <a:effectLst/>
                <a:uFillTx/>
                <a:latin typeface="'Times New Roman'"/>
              </a:rPr>
              <a:t>what remains unresolved</a:t>
            </a:r>
            <a:endParaRPr b="0" lang="en-US" sz="1500" strike="noStrike" u="none">
              <a:solidFill>
                <a:srgbClr val="526d8b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34" name=""/>
          <p:cNvSpPr/>
          <p:nvPr/>
        </p:nvSpPr>
        <p:spPr>
          <a:xfrm>
            <a:off x="12350880" y="1564920"/>
            <a:ext cx="228240" cy="0"/>
          </a:xfrm>
          <a:prstGeom prst="line">
            <a:avLst/>
          </a:prstGeom>
          <a:ln w="38160">
            <a:solidFill>
              <a:srgbClr val="2a527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9080" rIns="109080" tIns="-64080" bIns="-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12198600" y="1336680"/>
            <a:ext cx="456840" cy="456840"/>
          </a:xfrm>
          <a:custGeom>
            <a:avLst/>
            <a:gdLst/>
            <a:ahLst/>
            <a:rect l="0" t="0" r="r" b="b"/>
            <a:pathLst>
              <a:path w="1269" h="1269">
                <a:moveTo>
                  <a:pt x="0" y="0"/>
                </a:moveTo>
                <a:lnTo>
                  <a:pt x="1269" y="634"/>
                </a:lnTo>
                <a:lnTo>
                  <a:pt x="0" y="1269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12198600" y="1336680"/>
            <a:ext cx="456840" cy="456840"/>
          </a:xfrm>
          <a:custGeom>
            <a:avLst/>
            <a:gdLst/>
            <a:ahLst/>
            <a:rect l="0" t="0" r="r" b="b"/>
            <a:pathLst>
              <a:path w="1269" h="1269">
                <a:moveTo>
                  <a:pt x="0" y="0"/>
                </a:moveTo>
                <a:lnTo>
                  <a:pt x="1269" y="634"/>
                </a:lnTo>
                <a:lnTo>
                  <a:pt x="0" y="1269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12198600" y="1336680"/>
            <a:ext cx="456840" cy="456840"/>
          </a:xfrm>
          <a:custGeom>
            <a:avLst/>
            <a:gdLst/>
            <a:ahLst/>
            <a:rect l="0" t="0" r="r" b="b"/>
            <a:pathLst>
              <a:path w="1269" h="1269">
                <a:moveTo>
                  <a:pt x="0" y="0"/>
                </a:moveTo>
                <a:lnTo>
                  <a:pt x="1269" y="634"/>
                </a:lnTo>
                <a:lnTo>
                  <a:pt x="0" y="1269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12198600" y="1336680"/>
            <a:ext cx="456840" cy="456840"/>
          </a:xfrm>
          <a:custGeom>
            <a:avLst/>
            <a:gdLst/>
            <a:ahLst/>
            <a:rect l="0" t="0" r="r" b="b"/>
            <a:pathLst>
              <a:path w="1269" h="1269">
                <a:moveTo>
                  <a:pt x="0" y="0"/>
                </a:moveTo>
                <a:lnTo>
                  <a:pt x="1269" y="634"/>
                </a:lnTo>
                <a:lnTo>
                  <a:pt x="0" y="1269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12636360" y="851400"/>
            <a:ext cx="2751120" cy="1436760"/>
          </a:xfrm>
          <a:custGeom>
            <a:avLst/>
            <a:gdLst/>
            <a:ahLst/>
            <a:rect l="0" t="0" r="r" b="b"/>
            <a:pathLst>
              <a:path w="7642" h="3991">
                <a:moveTo>
                  <a:pt x="3821" y="3991"/>
                </a:moveTo>
                <a:lnTo>
                  <a:pt x="7166" y="3991"/>
                </a:lnTo>
                <a:cubicBezTo>
                  <a:pt x="7429" y="3991"/>
                  <a:pt x="7642" y="3778"/>
                  <a:pt x="7642" y="3515"/>
                </a:cubicBezTo>
                <a:lnTo>
                  <a:pt x="7642" y="476"/>
                </a:lnTo>
                <a:cubicBezTo>
                  <a:pt x="7642" y="213"/>
                  <a:pt x="7429" y="0"/>
                  <a:pt x="7166" y="0"/>
                </a:cubicBezTo>
                <a:lnTo>
                  <a:pt x="476" y="0"/>
                </a:lnTo>
                <a:cubicBezTo>
                  <a:pt x="213" y="0"/>
                  <a:pt x="0" y="213"/>
                  <a:pt x="0" y="476"/>
                </a:cubicBezTo>
                <a:lnTo>
                  <a:pt x="0" y="3515"/>
                </a:lnTo>
                <a:cubicBezTo>
                  <a:pt x="0" y="3778"/>
                  <a:pt x="213" y="3991"/>
                  <a:pt x="476" y="3991"/>
                </a:cubicBezTo>
                <a:lnTo>
                  <a:pt x="3821" y="3991"/>
                </a:lnTo>
                <a:close/>
              </a:path>
            </a:pathLst>
          </a:custGeom>
          <a:solidFill>
            <a:srgbClr val="e9eff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12636360" y="851400"/>
            <a:ext cx="2751120" cy="1436760"/>
          </a:xfrm>
          <a:custGeom>
            <a:avLst/>
            <a:gdLst/>
            <a:ahLst/>
            <a:rect l="0" t="0" r="r" b="b"/>
            <a:pathLst>
              <a:path w="7642" h="3991">
                <a:moveTo>
                  <a:pt x="3821" y="3991"/>
                </a:moveTo>
                <a:lnTo>
                  <a:pt x="7166" y="3991"/>
                </a:lnTo>
                <a:cubicBezTo>
                  <a:pt x="7429" y="3991"/>
                  <a:pt x="7642" y="3778"/>
                  <a:pt x="7642" y="3515"/>
                </a:cubicBezTo>
                <a:lnTo>
                  <a:pt x="7642" y="476"/>
                </a:lnTo>
                <a:cubicBezTo>
                  <a:pt x="7642" y="213"/>
                  <a:pt x="7429" y="0"/>
                  <a:pt x="7166" y="0"/>
                </a:cubicBezTo>
                <a:lnTo>
                  <a:pt x="476" y="0"/>
                </a:lnTo>
                <a:cubicBezTo>
                  <a:pt x="213" y="0"/>
                  <a:pt x="0" y="213"/>
                  <a:pt x="0" y="476"/>
                </a:cubicBezTo>
                <a:lnTo>
                  <a:pt x="0" y="3515"/>
                </a:lnTo>
                <a:cubicBezTo>
                  <a:pt x="0" y="3778"/>
                  <a:pt x="213" y="3991"/>
                  <a:pt x="476" y="3991"/>
                </a:cubicBezTo>
                <a:lnTo>
                  <a:pt x="3821" y="3991"/>
                </a:lnTo>
                <a:close/>
              </a:path>
            </a:pathLst>
          </a:custGeom>
          <a:noFill/>
          <a:ln w="38160">
            <a:solidFill>
              <a:srgbClr val="294f7c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13516920" y="1198800"/>
            <a:ext cx="100836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203a5d"/>
                </a:solidFill>
                <a:effectLst/>
                <a:uFillTx/>
                <a:latin typeface="'Times New Roman'"/>
              </a:rPr>
              <a:t>RETURN</a:t>
            </a:r>
            <a:endParaRPr b="1" lang="en-US" sz="1870" strike="noStrike" u="none">
              <a:solidFill>
                <a:srgbClr val="203a5d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13335840" y="1674360"/>
            <a:ext cx="136584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500" strike="noStrike" u="none">
                <a:solidFill>
                  <a:srgbClr val="526d8b"/>
                </a:solidFill>
                <a:effectLst/>
                <a:uFillTx/>
                <a:latin typeface="'Times New Roman'"/>
              </a:rPr>
              <a:t>what now follows</a:t>
            </a:r>
            <a:endParaRPr b="0" lang="en-US" sz="1500" strike="noStrike" u="none">
              <a:solidFill>
                <a:srgbClr val="526d8b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43" name=""/>
          <p:cNvSpPr/>
          <p:nvPr/>
        </p:nvSpPr>
        <p:spPr>
          <a:xfrm>
            <a:off x="1432800" y="2763720"/>
            <a:ext cx="12850200" cy="923040"/>
          </a:xfrm>
          <a:custGeom>
            <a:avLst/>
            <a:gdLst/>
            <a:ahLst/>
            <a:rect l="0" t="0" r="r" b="b"/>
            <a:pathLst>
              <a:path w="35695" h="2564">
                <a:moveTo>
                  <a:pt x="17848" y="2564"/>
                </a:moveTo>
                <a:lnTo>
                  <a:pt x="35246" y="2564"/>
                </a:lnTo>
                <a:cubicBezTo>
                  <a:pt x="35494" y="2564"/>
                  <a:pt x="35695" y="2363"/>
                  <a:pt x="35695" y="2115"/>
                </a:cubicBezTo>
                <a:lnTo>
                  <a:pt x="35695" y="450"/>
                </a:lnTo>
                <a:cubicBezTo>
                  <a:pt x="35695" y="202"/>
                  <a:pt x="35494" y="0"/>
                  <a:pt x="35246" y="0"/>
                </a:cubicBezTo>
                <a:lnTo>
                  <a:pt x="449" y="0"/>
                </a:lnTo>
                <a:cubicBezTo>
                  <a:pt x="201" y="0"/>
                  <a:pt x="0" y="202"/>
                  <a:pt x="0" y="450"/>
                </a:cubicBezTo>
                <a:lnTo>
                  <a:pt x="0" y="2115"/>
                </a:lnTo>
                <a:cubicBezTo>
                  <a:pt x="0" y="2363"/>
                  <a:pt x="201" y="2564"/>
                  <a:pt x="449" y="2564"/>
                </a:cubicBezTo>
                <a:lnTo>
                  <a:pt x="17848" y="2564"/>
                </a:lnTo>
                <a:close/>
              </a:path>
            </a:pathLst>
          </a:custGeom>
          <a:solidFill>
            <a:srgbClr val="fffaf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1432800" y="2763720"/>
            <a:ext cx="12850200" cy="923040"/>
          </a:xfrm>
          <a:custGeom>
            <a:avLst/>
            <a:gdLst/>
            <a:ahLst/>
            <a:rect l="0" t="0" r="r" b="b"/>
            <a:pathLst>
              <a:path w="35695" h="2564">
                <a:moveTo>
                  <a:pt x="17848" y="2564"/>
                </a:moveTo>
                <a:lnTo>
                  <a:pt x="35246" y="2564"/>
                </a:lnTo>
                <a:cubicBezTo>
                  <a:pt x="35494" y="2564"/>
                  <a:pt x="35695" y="2363"/>
                  <a:pt x="35695" y="2115"/>
                </a:cubicBezTo>
                <a:lnTo>
                  <a:pt x="35695" y="450"/>
                </a:lnTo>
                <a:cubicBezTo>
                  <a:pt x="35695" y="202"/>
                  <a:pt x="35494" y="0"/>
                  <a:pt x="35246" y="0"/>
                </a:cubicBezTo>
                <a:lnTo>
                  <a:pt x="449" y="0"/>
                </a:lnTo>
                <a:cubicBezTo>
                  <a:pt x="201" y="0"/>
                  <a:pt x="0" y="202"/>
                  <a:pt x="0" y="450"/>
                </a:cubicBezTo>
                <a:lnTo>
                  <a:pt x="0" y="2115"/>
                </a:lnTo>
                <a:cubicBezTo>
                  <a:pt x="0" y="2363"/>
                  <a:pt x="201" y="2564"/>
                  <a:pt x="449" y="2564"/>
                </a:cubicBezTo>
                <a:lnTo>
                  <a:pt x="17848" y="2564"/>
                </a:lnTo>
                <a:close/>
              </a:path>
            </a:pathLst>
          </a:custGeom>
          <a:noFill/>
          <a:ln w="38160">
            <a:solidFill>
              <a:srgbClr val="9e2e2e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3683880" y="2920680"/>
            <a:ext cx="8300160" cy="275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950" strike="noStrike" u="none">
                <a:solidFill>
                  <a:srgbClr val="7f2525"/>
                </a:solidFill>
                <a:effectLst/>
                <a:uFillTx/>
                <a:latin typeface="'Times New Roman'"/>
              </a:rPr>
              <a:t>A section earns its place when the next step depends on what it has established.</a:t>
            </a:r>
            <a:endParaRPr b="1" lang="en-US" sz="1950" strike="noStrike" u="none">
              <a:solidFill>
                <a:srgbClr val="7f2525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5235480" y="3301560"/>
            <a:ext cx="52538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570" strike="noStrike" u="none">
                <a:solidFill>
                  <a:srgbClr val="526d8b"/>
                </a:solidFill>
                <a:effectLst/>
                <a:uFillTx/>
                <a:latin typeface="'Times New Roman'"/>
              </a:rPr>
              <a:t>If its removal changes nothing essential, merge, move or delete it.</a:t>
            </a:r>
            <a:endParaRPr b="0" i="1" lang="en-US" sz="1570" strike="noStrike" u="none">
              <a:solidFill>
                <a:srgbClr val="526d8b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5606640" y="4090680"/>
            <a:ext cx="4549320" cy="332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20" strike="noStrike" u="none">
                <a:solidFill>
                  <a:srgbClr val="203a5d"/>
                </a:solidFill>
                <a:effectLst/>
                <a:uFillTx/>
                <a:latin typeface="'Times New Roman'"/>
              </a:rPr>
              <a:t>PARAGRAPH REASONING TEST</a:t>
            </a:r>
            <a:endParaRPr b="1" lang="en-US" sz="2320" strike="noStrike" u="none">
              <a:solidFill>
                <a:srgbClr val="203a5d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48" name=""/>
          <p:cNvSpPr/>
          <p:nvPr/>
        </p:nvSpPr>
        <p:spPr>
          <a:xfrm>
            <a:off x="785160" y="4723560"/>
            <a:ext cx="3046320" cy="1417680"/>
          </a:xfrm>
          <a:custGeom>
            <a:avLst/>
            <a:gdLst/>
            <a:ahLst/>
            <a:rect l="0" t="0" r="r" b="b"/>
            <a:pathLst>
              <a:path w="8462" h="3938">
                <a:moveTo>
                  <a:pt x="4231" y="3938"/>
                </a:moveTo>
                <a:lnTo>
                  <a:pt x="7986" y="3938"/>
                </a:lnTo>
                <a:cubicBezTo>
                  <a:pt x="8249" y="3938"/>
                  <a:pt x="8462" y="3725"/>
                  <a:pt x="8462" y="3462"/>
                </a:cubicBezTo>
                <a:lnTo>
                  <a:pt x="8462" y="475"/>
                </a:lnTo>
                <a:cubicBezTo>
                  <a:pt x="8462" y="213"/>
                  <a:pt x="8249" y="0"/>
                  <a:pt x="7986" y="0"/>
                </a:cubicBezTo>
                <a:lnTo>
                  <a:pt x="476" y="0"/>
                </a:lnTo>
                <a:cubicBezTo>
                  <a:pt x="214" y="0"/>
                  <a:pt x="0" y="213"/>
                  <a:pt x="0" y="475"/>
                </a:cubicBezTo>
                <a:lnTo>
                  <a:pt x="0" y="3462"/>
                </a:lnTo>
                <a:cubicBezTo>
                  <a:pt x="0" y="3725"/>
                  <a:pt x="214" y="3938"/>
                  <a:pt x="476" y="3938"/>
                </a:cubicBezTo>
                <a:lnTo>
                  <a:pt x="4231" y="3938"/>
                </a:lnTo>
                <a:close/>
              </a:path>
            </a:pathLst>
          </a:custGeom>
          <a:solidFill>
            <a:srgbClr val="e9eff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785160" y="4723560"/>
            <a:ext cx="3046320" cy="1417680"/>
          </a:xfrm>
          <a:custGeom>
            <a:avLst/>
            <a:gdLst/>
            <a:ahLst/>
            <a:rect l="0" t="0" r="r" b="b"/>
            <a:pathLst>
              <a:path w="8462" h="3938">
                <a:moveTo>
                  <a:pt x="4231" y="3938"/>
                </a:moveTo>
                <a:lnTo>
                  <a:pt x="7986" y="3938"/>
                </a:lnTo>
                <a:cubicBezTo>
                  <a:pt x="8249" y="3938"/>
                  <a:pt x="8462" y="3725"/>
                  <a:pt x="8462" y="3462"/>
                </a:cubicBezTo>
                <a:lnTo>
                  <a:pt x="8462" y="475"/>
                </a:lnTo>
                <a:cubicBezTo>
                  <a:pt x="8462" y="213"/>
                  <a:pt x="8249" y="0"/>
                  <a:pt x="7986" y="0"/>
                </a:cubicBezTo>
                <a:lnTo>
                  <a:pt x="476" y="0"/>
                </a:lnTo>
                <a:cubicBezTo>
                  <a:pt x="214" y="0"/>
                  <a:pt x="0" y="213"/>
                  <a:pt x="0" y="475"/>
                </a:cubicBezTo>
                <a:lnTo>
                  <a:pt x="0" y="3462"/>
                </a:lnTo>
                <a:cubicBezTo>
                  <a:pt x="0" y="3725"/>
                  <a:pt x="214" y="3938"/>
                  <a:pt x="476" y="3938"/>
                </a:cubicBezTo>
                <a:lnTo>
                  <a:pt x="4231" y="3938"/>
                </a:lnTo>
                <a:close/>
              </a:path>
            </a:pathLst>
          </a:custGeom>
          <a:noFill/>
          <a:ln w="38160">
            <a:solidFill>
              <a:srgbClr val="294f7c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1903680" y="5061240"/>
            <a:ext cx="81972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203a5d"/>
                </a:solidFill>
                <a:effectLst/>
                <a:uFillTx/>
                <a:latin typeface="'Times New Roman'"/>
              </a:rPr>
              <a:t>CLAIM</a:t>
            </a:r>
            <a:endParaRPr b="1" lang="en-US" sz="1870" strike="noStrike" u="none">
              <a:solidFill>
                <a:srgbClr val="203a5d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1408680" y="5527440"/>
            <a:ext cx="177300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500" strike="noStrike" u="none">
                <a:solidFill>
                  <a:srgbClr val="526d8b"/>
                </a:solidFill>
                <a:effectLst/>
                <a:uFillTx/>
                <a:latin typeface="'Times New Roman'"/>
              </a:rPr>
              <a:t>contestable proposition</a:t>
            </a:r>
            <a:endParaRPr b="0" lang="en-US" sz="1500" strike="noStrike" u="none">
              <a:solidFill>
                <a:srgbClr val="526d8b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52" name=""/>
          <p:cNvSpPr/>
          <p:nvPr/>
        </p:nvSpPr>
        <p:spPr>
          <a:xfrm>
            <a:off x="3869640" y="5427360"/>
            <a:ext cx="523440" cy="0"/>
          </a:xfrm>
          <a:prstGeom prst="line">
            <a:avLst/>
          </a:prstGeom>
          <a:ln w="38160">
            <a:solidFill>
              <a:srgbClr val="2a527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9080" rIns="109080" tIns="-64080" bIns="-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4012200" y="5199120"/>
            <a:ext cx="457200" cy="456840"/>
          </a:xfrm>
          <a:custGeom>
            <a:avLst/>
            <a:gdLst/>
            <a:ahLst/>
            <a:rect l="0" t="0" r="r" b="b"/>
            <a:pathLst>
              <a:path w="1270" h="1269">
                <a:moveTo>
                  <a:pt x="0" y="0"/>
                </a:moveTo>
                <a:lnTo>
                  <a:pt x="1270" y="634"/>
                </a:lnTo>
                <a:lnTo>
                  <a:pt x="0" y="1269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4012200" y="5199120"/>
            <a:ext cx="457200" cy="456840"/>
          </a:xfrm>
          <a:custGeom>
            <a:avLst/>
            <a:gdLst/>
            <a:ahLst/>
            <a:rect l="0" t="0" r="r" b="b"/>
            <a:pathLst>
              <a:path w="1270" h="1269">
                <a:moveTo>
                  <a:pt x="0" y="0"/>
                </a:moveTo>
                <a:lnTo>
                  <a:pt x="1270" y="634"/>
                </a:lnTo>
                <a:lnTo>
                  <a:pt x="0" y="1269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4012200" y="5199120"/>
            <a:ext cx="457200" cy="456840"/>
          </a:xfrm>
          <a:custGeom>
            <a:avLst/>
            <a:gdLst/>
            <a:ahLst/>
            <a:rect l="0" t="0" r="r" b="b"/>
            <a:pathLst>
              <a:path w="1270" h="1269">
                <a:moveTo>
                  <a:pt x="0" y="0"/>
                </a:moveTo>
                <a:lnTo>
                  <a:pt x="1270" y="634"/>
                </a:lnTo>
                <a:lnTo>
                  <a:pt x="0" y="1269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4012200" y="5199120"/>
            <a:ext cx="457200" cy="456840"/>
          </a:xfrm>
          <a:custGeom>
            <a:avLst/>
            <a:gdLst/>
            <a:ahLst/>
            <a:rect l="0" t="0" r="r" b="b"/>
            <a:pathLst>
              <a:path w="1270" h="1269">
                <a:moveTo>
                  <a:pt x="0" y="0"/>
                </a:moveTo>
                <a:lnTo>
                  <a:pt x="1270" y="634"/>
                </a:lnTo>
                <a:lnTo>
                  <a:pt x="0" y="1269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4012200" y="5199120"/>
            <a:ext cx="457200" cy="456840"/>
          </a:xfrm>
          <a:custGeom>
            <a:avLst/>
            <a:gdLst/>
            <a:ahLst/>
            <a:rect l="0" t="0" r="r" b="b"/>
            <a:pathLst>
              <a:path w="1270" h="1269">
                <a:moveTo>
                  <a:pt x="0" y="0"/>
                </a:moveTo>
                <a:lnTo>
                  <a:pt x="1270" y="634"/>
                </a:lnTo>
                <a:lnTo>
                  <a:pt x="0" y="1269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4488120" y="4723560"/>
            <a:ext cx="3046320" cy="1417680"/>
          </a:xfrm>
          <a:custGeom>
            <a:avLst/>
            <a:gdLst/>
            <a:ahLst/>
            <a:rect l="0" t="0" r="r" b="b"/>
            <a:pathLst>
              <a:path w="8462" h="3938">
                <a:moveTo>
                  <a:pt x="4231" y="3938"/>
                </a:moveTo>
                <a:lnTo>
                  <a:pt x="7986" y="3938"/>
                </a:lnTo>
                <a:cubicBezTo>
                  <a:pt x="8249" y="3938"/>
                  <a:pt x="8462" y="3725"/>
                  <a:pt x="8462" y="3462"/>
                </a:cubicBezTo>
                <a:lnTo>
                  <a:pt x="8462" y="475"/>
                </a:lnTo>
                <a:cubicBezTo>
                  <a:pt x="8462" y="213"/>
                  <a:pt x="8249" y="0"/>
                  <a:pt x="7986" y="0"/>
                </a:cubicBezTo>
                <a:lnTo>
                  <a:pt x="476" y="0"/>
                </a:lnTo>
                <a:cubicBezTo>
                  <a:pt x="214" y="0"/>
                  <a:pt x="0" y="213"/>
                  <a:pt x="0" y="475"/>
                </a:cubicBezTo>
                <a:lnTo>
                  <a:pt x="0" y="3462"/>
                </a:lnTo>
                <a:cubicBezTo>
                  <a:pt x="0" y="3725"/>
                  <a:pt x="214" y="3938"/>
                  <a:pt x="476" y="3938"/>
                </a:cubicBezTo>
                <a:lnTo>
                  <a:pt x="4231" y="3938"/>
                </a:lnTo>
                <a:close/>
              </a:path>
            </a:pathLst>
          </a:custGeom>
          <a:solidFill>
            <a:srgbClr val="e9eff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4488120" y="4723560"/>
            <a:ext cx="3046320" cy="1417680"/>
          </a:xfrm>
          <a:custGeom>
            <a:avLst/>
            <a:gdLst/>
            <a:ahLst/>
            <a:rect l="0" t="0" r="r" b="b"/>
            <a:pathLst>
              <a:path w="8462" h="3938">
                <a:moveTo>
                  <a:pt x="4231" y="3938"/>
                </a:moveTo>
                <a:lnTo>
                  <a:pt x="7986" y="3938"/>
                </a:lnTo>
                <a:cubicBezTo>
                  <a:pt x="8249" y="3938"/>
                  <a:pt x="8462" y="3725"/>
                  <a:pt x="8462" y="3462"/>
                </a:cubicBezTo>
                <a:lnTo>
                  <a:pt x="8462" y="475"/>
                </a:lnTo>
                <a:cubicBezTo>
                  <a:pt x="8462" y="213"/>
                  <a:pt x="8249" y="0"/>
                  <a:pt x="7986" y="0"/>
                </a:cubicBezTo>
                <a:lnTo>
                  <a:pt x="476" y="0"/>
                </a:lnTo>
                <a:cubicBezTo>
                  <a:pt x="214" y="0"/>
                  <a:pt x="0" y="213"/>
                  <a:pt x="0" y="475"/>
                </a:cubicBezTo>
                <a:lnTo>
                  <a:pt x="0" y="3462"/>
                </a:lnTo>
                <a:cubicBezTo>
                  <a:pt x="0" y="3725"/>
                  <a:pt x="214" y="3938"/>
                  <a:pt x="476" y="3938"/>
                </a:cubicBezTo>
                <a:lnTo>
                  <a:pt x="4231" y="3938"/>
                </a:lnTo>
                <a:close/>
              </a:path>
            </a:pathLst>
          </a:custGeom>
          <a:noFill/>
          <a:ln w="38160">
            <a:solidFill>
              <a:srgbClr val="294f7c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5387760" y="5061240"/>
            <a:ext cx="125568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203a5d"/>
                </a:solidFill>
                <a:effectLst/>
                <a:uFillTx/>
                <a:latin typeface="'Times New Roman'"/>
              </a:rPr>
              <a:t>EVIDENCE</a:t>
            </a:r>
            <a:endParaRPr b="1" lang="en-US" sz="1870" strike="noStrike" u="none">
              <a:solidFill>
                <a:srgbClr val="203a5d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5121360" y="5527440"/>
            <a:ext cx="175680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500" strike="noStrike" u="none">
                <a:solidFill>
                  <a:srgbClr val="526d8b"/>
                </a:solidFill>
                <a:effectLst/>
                <a:uFillTx/>
                <a:latin typeface="'Times New Roman'"/>
              </a:rPr>
              <a:t>source, result or record</a:t>
            </a:r>
            <a:endParaRPr b="0" lang="en-US" sz="1500" strike="noStrike" u="none">
              <a:solidFill>
                <a:srgbClr val="526d8b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62" name=""/>
          <p:cNvSpPr/>
          <p:nvPr/>
        </p:nvSpPr>
        <p:spPr>
          <a:xfrm>
            <a:off x="7572600" y="5427360"/>
            <a:ext cx="523080" cy="0"/>
          </a:xfrm>
          <a:prstGeom prst="line">
            <a:avLst/>
          </a:prstGeom>
          <a:ln w="38160">
            <a:solidFill>
              <a:srgbClr val="2a527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9080" rIns="109080" tIns="-64080" bIns="-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7715160" y="5199120"/>
            <a:ext cx="456840" cy="456840"/>
          </a:xfrm>
          <a:custGeom>
            <a:avLst/>
            <a:gdLst/>
            <a:ahLst/>
            <a:rect l="0" t="0" r="r" b="b"/>
            <a:pathLst>
              <a:path w="1269" h="1269">
                <a:moveTo>
                  <a:pt x="0" y="0"/>
                </a:moveTo>
                <a:lnTo>
                  <a:pt x="1269" y="634"/>
                </a:lnTo>
                <a:lnTo>
                  <a:pt x="0" y="1269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7715160" y="5199120"/>
            <a:ext cx="456840" cy="456840"/>
          </a:xfrm>
          <a:custGeom>
            <a:avLst/>
            <a:gdLst/>
            <a:ahLst/>
            <a:rect l="0" t="0" r="r" b="b"/>
            <a:pathLst>
              <a:path w="1269" h="1269">
                <a:moveTo>
                  <a:pt x="0" y="0"/>
                </a:moveTo>
                <a:lnTo>
                  <a:pt x="1269" y="634"/>
                </a:lnTo>
                <a:lnTo>
                  <a:pt x="0" y="1269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7715160" y="5199120"/>
            <a:ext cx="456840" cy="456840"/>
          </a:xfrm>
          <a:custGeom>
            <a:avLst/>
            <a:gdLst/>
            <a:ahLst/>
            <a:rect l="0" t="0" r="r" b="b"/>
            <a:pathLst>
              <a:path w="1269" h="1269">
                <a:moveTo>
                  <a:pt x="0" y="0"/>
                </a:moveTo>
                <a:lnTo>
                  <a:pt x="1269" y="634"/>
                </a:lnTo>
                <a:lnTo>
                  <a:pt x="0" y="1269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7715160" y="5199120"/>
            <a:ext cx="456840" cy="456840"/>
          </a:xfrm>
          <a:custGeom>
            <a:avLst/>
            <a:gdLst/>
            <a:ahLst/>
            <a:rect l="0" t="0" r="r" b="b"/>
            <a:pathLst>
              <a:path w="1269" h="1269">
                <a:moveTo>
                  <a:pt x="0" y="0"/>
                </a:moveTo>
                <a:lnTo>
                  <a:pt x="1269" y="634"/>
                </a:lnTo>
                <a:lnTo>
                  <a:pt x="0" y="1269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7715160" y="5199120"/>
            <a:ext cx="456840" cy="456840"/>
          </a:xfrm>
          <a:custGeom>
            <a:avLst/>
            <a:gdLst/>
            <a:ahLst/>
            <a:rect l="0" t="0" r="r" b="b"/>
            <a:pathLst>
              <a:path w="1269" h="1269">
                <a:moveTo>
                  <a:pt x="0" y="0"/>
                </a:moveTo>
                <a:lnTo>
                  <a:pt x="1269" y="634"/>
                </a:lnTo>
                <a:lnTo>
                  <a:pt x="0" y="1269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7715160" y="5199120"/>
            <a:ext cx="456840" cy="456840"/>
          </a:xfrm>
          <a:custGeom>
            <a:avLst/>
            <a:gdLst/>
            <a:ahLst/>
            <a:rect l="0" t="0" r="r" b="b"/>
            <a:pathLst>
              <a:path w="1269" h="1269">
                <a:moveTo>
                  <a:pt x="0" y="0"/>
                </a:moveTo>
                <a:lnTo>
                  <a:pt x="1269" y="634"/>
                </a:lnTo>
                <a:lnTo>
                  <a:pt x="0" y="1269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8190720" y="4723560"/>
            <a:ext cx="3046320" cy="1417680"/>
          </a:xfrm>
          <a:custGeom>
            <a:avLst/>
            <a:gdLst/>
            <a:ahLst/>
            <a:rect l="0" t="0" r="r" b="b"/>
            <a:pathLst>
              <a:path w="8462" h="3938">
                <a:moveTo>
                  <a:pt x="4231" y="3938"/>
                </a:moveTo>
                <a:lnTo>
                  <a:pt x="7986" y="3938"/>
                </a:lnTo>
                <a:cubicBezTo>
                  <a:pt x="8249" y="3938"/>
                  <a:pt x="8462" y="3725"/>
                  <a:pt x="8462" y="3462"/>
                </a:cubicBezTo>
                <a:lnTo>
                  <a:pt x="8462" y="475"/>
                </a:lnTo>
                <a:cubicBezTo>
                  <a:pt x="8462" y="213"/>
                  <a:pt x="8249" y="0"/>
                  <a:pt x="7986" y="0"/>
                </a:cubicBezTo>
                <a:lnTo>
                  <a:pt x="476" y="0"/>
                </a:lnTo>
                <a:cubicBezTo>
                  <a:pt x="214" y="0"/>
                  <a:pt x="0" y="213"/>
                  <a:pt x="0" y="475"/>
                </a:cubicBezTo>
                <a:lnTo>
                  <a:pt x="0" y="3462"/>
                </a:lnTo>
                <a:cubicBezTo>
                  <a:pt x="0" y="3725"/>
                  <a:pt x="214" y="3938"/>
                  <a:pt x="476" y="3938"/>
                </a:cubicBezTo>
                <a:lnTo>
                  <a:pt x="4231" y="3938"/>
                </a:lnTo>
                <a:close/>
              </a:path>
            </a:pathLst>
          </a:custGeom>
          <a:solidFill>
            <a:srgbClr val="e9eff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8190720" y="4723560"/>
            <a:ext cx="3046320" cy="1417680"/>
          </a:xfrm>
          <a:custGeom>
            <a:avLst/>
            <a:gdLst/>
            <a:ahLst/>
            <a:rect l="0" t="0" r="r" b="b"/>
            <a:pathLst>
              <a:path w="8462" h="3938">
                <a:moveTo>
                  <a:pt x="4231" y="3938"/>
                </a:moveTo>
                <a:lnTo>
                  <a:pt x="7986" y="3938"/>
                </a:lnTo>
                <a:cubicBezTo>
                  <a:pt x="8249" y="3938"/>
                  <a:pt x="8462" y="3725"/>
                  <a:pt x="8462" y="3462"/>
                </a:cubicBezTo>
                <a:lnTo>
                  <a:pt x="8462" y="475"/>
                </a:lnTo>
                <a:cubicBezTo>
                  <a:pt x="8462" y="213"/>
                  <a:pt x="8249" y="0"/>
                  <a:pt x="7986" y="0"/>
                </a:cubicBezTo>
                <a:lnTo>
                  <a:pt x="476" y="0"/>
                </a:lnTo>
                <a:cubicBezTo>
                  <a:pt x="214" y="0"/>
                  <a:pt x="0" y="213"/>
                  <a:pt x="0" y="475"/>
                </a:cubicBezTo>
                <a:lnTo>
                  <a:pt x="0" y="3462"/>
                </a:lnTo>
                <a:cubicBezTo>
                  <a:pt x="0" y="3725"/>
                  <a:pt x="214" y="3938"/>
                  <a:pt x="476" y="3938"/>
                </a:cubicBezTo>
                <a:lnTo>
                  <a:pt x="4231" y="3938"/>
                </a:lnTo>
                <a:close/>
              </a:path>
            </a:pathLst>
          </a:custGeom>
          <a:noFill/>
          <a:ln w="38160">
            <a:solidFill>
              <a:srgbClr val="294f7c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9004680" y="5061240"/>
            <a:ext cx="144612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203a5d"/>
                </a:solidFill>
                <a:effectLst/>
                <a:uFillTx/>
                <a:latin typeface="'Times New Roman'"/>
              </a:rPr>
              <a:t>REASONING</a:t>
            </a:r>
            <a:endParaRPr b="1" lang="en-US" sz="1870" strike="noStrike" u="none">
              <a:solidFill>
                <a:srgbClr val="203a5d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8823960" y="5527440"/>
            <a:ext cx="17463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500" strike="noStrike" u="none">
                <a:solidFill>
                  <a:srgbClr val="526d8b"/>
                </a:solidFill>
                <a:effectLst/>
                <a:uFillTx/>
                <a:latin typeface="'Times New Roman'"/>
              </a:rPr>
              <a:t>explicit inferential link</a:t>
            </a:r>
            <a:endParaRPr b="0" lang="en-US" sz="1500" strike="noStrike" u="none">
              <a:solidFill>
                <a:srgbClr val="526d8b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73" name=""/>
          <p:cNvSpPr/>
          <p:nvPr/>
        </p:nvSpPr>
        <p:spPr>
          <a:xfrm>
            <a:off x="11275200" y="5427360"/>
            <a:ext cx="523440" cy="0"/>
          </a:xfrm>
          <a:prstGeom prst="line">
            <a:avLst/>
          </a:prstGeom>
          <a:ln w="38160">
            <a:solidFill>
              <a:srgbClr val="2a527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9080" rIns="109080" tIns="-64080" bIns="-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11417760" y="5199120"/>
            <a:ext cx="457200" cy="456840"/>
          </a:xfrm>
          <a:custGeom>
            <a:avLst/>
            <a:gdLst/>
            <a:ahLst/>
            <a:rect l="0" t="0" r="r" b="b"/>
            <a:pathLst>
              <a:path w="1270" h="1269">
                <a:moveTo>
                  <a:pt x="0" y="0"/>
                </a:moveTo>
                <a:lnTo>
                  <a:pt x="1270" y="634"/>
                </a:lnTo>
                <a:lnTo>
                  <a:pt x="0" y="1269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11417760" y="5199120"/>
            <a:ext cx="457200" cy="456840"/>
          </a:xfrm>
          <a:custGeom>
            <a:avLst/>
            <a:gdLst/>
            <a:ahLst/>
            <a:rect l="0" t="0" r="r" b="b"/>
            <a:pathLst>
              <a:path w="1270" h="1269">
                <a:moveTo>
                  <a:pt x="0" y="0"/>
                </a:moveTo>
                <a:lnTo>
                  <a:pt x="1270" y="634"/>
                </a:lnTo>
                <a:lnTo>
                  <a:pt x="0" y="1269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11417760" y="5199120"/>
            <a:ext cx="457200" cy="456840"/>
          </a:xfrm>
          <a:custGeom>
            <a:avLst/>
            <a:gdLst/>
            <a:ahLst/>
            <a:rect l="0" t="0" r="r" b="b"/>
            <a:pathLst>
              <a:path w="1270" h="1269">
                <a:moveTo>
                  <a:pt x="0" y="0"/>
                </a:moveTo>
                <a:lnTo>
                  <a:pt x="1270" y="634"/>
                </a:lnTo>
                <a:lnTo>
                  <a:pt x="0" y="1269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11417760" y="5199120"/>
            <a:ext cx="457200" cy="456840"/>
          </a:xfrm>
          <a:custGeom>
            <a:avLst/>
            <a:gdLst/>
            <a:ahLst/>
            <a:rect l="0" t="0" r="r" b="b"/>
            <a:pathLst>
              <a:path w="1270" h="1269">
                <a:moveTo>
                  <a:pt x="0" y="0"/>
                </a:moveTo>
                <a:lnTo>
                  <a:pt x="1270" y="634"/>
                </a:lnTo>
                <a:lnTo>
                  <a:pt x="0" y="1269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11417760" y="5199120"/>
            <a:ext cx="457200" cy="456840"/>
          </a:xfrm>
          <a:custGeom>
            <a:avLst/>
            <a:gdLst/>
            <a:ahLst/>
            <a:rect l="0" t="0" r="r" b="b"/>
            <a:pathLst>
              <a:path w="1270" h="1269">
                <a:moveTo>
                  <a:pt x="0" y="0"/>
                </a:moveTo>
                <a:lnTo>
                  <a:pt x="1270" y="634"/>
                </a:lnTo>
                <a:lnTo>
                  <a:pt x="0" y="1269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11417760" y="5199120"/>
            <a:ext cx="457200" cy="456840"/>
          </a:xfrm>
          <a:custGeom>
            <a:avLst/>
            <a:gdLst/>
            <a:ahLst/>
            <a:rect l="0" t="0" r="r" b="b"/>
            <a:pathLst>
              <a:path w="1270" h="1269">
                <a:moveTo>
                  <a:pt x="0" y="0"/>
                </a:moveTo>
                <a:lnTo>
                  <a:pt x="1270" y="634"/>
                </a:lnTo>
                <a:lnTo>
                  <a:pt x="0" y="1269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11417760" y="5199120"/>
            <a:ext cx="457200" cy="456840"/>
          </a:xfrm>
          <a:custGeom>
            <a:avLst/>
            <a:gdLst/>
            <a:ahLst/>
            <a:rect l="0" t="0" r="r" b="b"/>
            <a:pathLst>
              <a:path w="1270" h="1269">
                <a:moveTo>
                  <a:pt x="0" y="0"/>
                </a:moveTo>
                <a:lnTo>
                  <a:pt x="1270" y="634"/>
                </a:lnTo>
                <a:lnTo>
                  <a:pt x="0" y="1269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11893680" y="4723560"/>
            <a:ext cx="3046320" cy="1417680"/>
          </a:xfrm>
          <a:custGeom>
            <a:avLst/>
            <a:gdLst/>
            <a:ahLst/>
            <a:rect l="0" t="0" r="r" b="b"/>
            <a:pathLst>
              <a:path w="8462" h="3938">
                <a:moveTo>
                  <a:pt x="4231" y="3938"/>
                </a:moveTo>
                <a:lnTo>
                  <a:pt x="7986" y="3938"/>
                </a:lnTo>
                <a:cubicBezTo>
                  <a:pt x="8249" y="3938"/>
                  <a:pt x="8462" y="3725"/>
                  <a:pt x="8462" y="3462"/>
                </a:cubicBezTo>
                <a:lnTo>
                  <a:pt x="8462" y="475"/>
                </a:lnTo>
                <a:cubicBezTo>
                  <a:pt x="8462" y="213"/>
                  <a:pt x="8249" y="0"/>
                  <a:pt x="7986" y="0"/>
                </a:cubicBezTo>
                <a:lnTo>
                  <a:pt x="476" y="0"/>
                </a:lnTo>
                <a:cubicBezTo>
                  <a:pt x="214" y="0"/>
                  <a:pt x="0" y="213"/>
                  <a:pt x="0" y="475"/>
                </a:cubicBezTo>
                <a:lnTo>
                  <a:pt x="0" y="3462"/>
                </a:lnTo>
                <a:cubicBezTo>
                  <a:pt x="0" y="3725"/>
                  <a:pt x="214" y="3938"/>
                  <a:pt x="476" y="3938"/>
                </a:cubicBezTo>
                <a:lnTo>
                  <a:pt x="4231" y="3938"/>
                </a:lnTo>
                <a:close/>
              </a:path>
            </a:pathLst>
          </a:custGeom>
          <a:solidFill>
            <a:srgbClr val="e9eff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11893680" y="4723560"/>
            <a:ext cx="3046320" cy="1417680"/>
          </a:xfrm>
          <a:custGeom>
            <a:avLst/>
            <a:gdLst/>
            <a:ahLst/>
            <a:rect l="0" t="0" r="r" b="b"/>
            <a:pathLst>
              <a:path w="8462" h="3938">
                <a:moveTo>
                  <a:pt x="4231" y="3938"/>
                </a:moveTo>
                <a:lnTo>
                  <a:pt x="7986" y="3938"/>
                </a:lnTo>
                <a:cubicBezTo>
                  <a:pt x="8249" y="3938"/>
                  <a:pt x="8462" y="3725"/>
                  <a:pt x="8462" y="3462"/>
                </a:cubicBezTo>
                <a:lnTo>
                  <a:pt x="8462" y="475"/>
                </a:lnTo>
                <a:cubicBezTo>
                  <a:pt x="8462" y="213"/>
                  <a:pt x="8249" y="0"/>
                  <a:pt x="7986" y="0"/>
                </a:cubicBezTo>
                <a:lnTo>
                  <a:pt x="476" y="0"/>
                </a:lnTo>
                <a:cubicBezTo>
                  <a:pt x="214" y="0"/>
                  <a:pt x="0" y="213"/>
                  <a:pt x="0" y="475"/>
                </a:cubicBezTo>
                <a:lnTo>
                  <a:pt x="0" y="3462"/>
                </a:lnTo>
                <a:cubicBezTo>
                  <a:pt x="0" y="3725"/>
                  <a:pt x="214" y="3938"/>
                  <a:pt x="476" y="3938"/>
                </a:cubicBezTo>
                <a:lnTo>
                  <a:pt x="4231" y="3938"/>
                </a:lnTo>
                <a:close/>
              </a:path>
            </a:pathLst>
          </a:custGeom>
          <a:noFill/>
          <a:ln w="38160">
            <a:solidFill>
              <a:srgbClr val="294f7c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12336480" y="5079960"/>
            <a:ext cx="2160000" cy="237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50" strike="noStrike" u="none">
                <a:solidFill>
                  <a:srgbClr val="203a5d"/>
                </a:solidFill>
                <a:effectLst/>
                <a:uFillTx/>
                <a:latin typeface="'Times New Roman'"/>
              </a:rPr>
              <a:t>LIMIT OR HAND-OFF</a:t>
            </a:r>
            <a:endParaRPr b="1" lang="en-US" sz="1650" strike="noStrike" u="none">
              <a:solidFill>
                <a:srgbClr val="203a5d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12669840" y="5527440"/>
            <a:ext cx="14871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500" strike="noStrike" u="none">
                <a:solidFill>
                  <a:srgbClr val="526d8b"/>
                </a:solidFill>
                <a:effectLst/>
                <a:uFillTx/>
                <a:latin typeface="'Times New Roman'"/>
              </a:rPr>
              <a:t>scope or next move</a:t>
            </a:r>
            <a:endParaRPr b="0" lang="en-US" sz="1500" strike="noStrike" u="none">
              <a:solidFill>
                <a:srgbClr val="526d8b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85" name=""/>
          <p:cNvSpPr/>
          <p:nvPr/>
        </p:nvSpPr>
        <p:spPr>
          <a:xfrm>
            <a:off x="1318320" y="6825960"/>
            <a:ext cx="13079160" cy="1056240"/>
          </a:xfrm>
          <a:custGeom>
            <a:avLst/>
            <a:gdLst/>
            <a:ahLst/>
            <a:rect l="0" t="0" r="r" b="b"/>
            <a:pathLst>
              <a:path w="36331" h="2934">
                <a:moveTo>
                  <a:pt x="18166" y="2934"/>
                </a:moveTo>
                <a:lnTo>
                  <a:pt x="35855" y="2934"/>
                </a:lnTo>
                <a:cubicBezTo>
                  <a:pt x="36118" y="2934"/>
                  <a:pt x="36331" y="2721"/>
                  <a:pt x="36331" y="2458"/>
                </a:cubicBezTo>
                <a:lnTo>
                  <a:pt x="36331" y="476"/>
                </a:lnTo>
                <a:cubicBezTo>
                  <a:pt x="36331" y="213"/>
                  <a:pt x="36118" y="0"/>
                  <a:pt x="35855" y="0"/>
                </a:cubicBezTo>
                <a:lnTo>
                  <a:pt x="476" y="0"/>
                </a:lnTo>
                <a:cubicBezTo>
                  <a:pt x="213" y="0"/>
                  <a:pt x="0" y="213"/>
                  <a:pt x="0" y="476"/>
                </a:cubicBezTo>
                <a:lnTo>
                  <a:pt x="0" y="2458"/>
                </a:lnTo>
                <a:cubicBezTo>
                  <a:pt x="0" y="2721"/>
                  <a:pt x="213" y="2934"/>
                  <a:pt x="476" y="2934"/>
                </a:cubicBezTo>
                <a:lnTo>
                  <a:pt x="18166" y="2934"/>
                </a:lnTo>
                <a:close/>
              </a:path>
            </a:pathLst>
          </a:custGeom>
          <a:solidFill>
            <a:srgbClr val="fffaf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1318320" y="6825960"/>
            <a:ext cx="13079160" cy="1056240"/>
          </a:xfrm>
          <a:custGeom>
            <a:avLst/>
            <a:gdLst/>
            <a:ahLst/>
            <a:rect l="0" t="0" r="r" b="b"/>
            <a:pathLst>
              <a:path w="36331" h="2934">
                <a:moveTo>
                  <a:pt x="18166" y="2934"/>
                </a:moveTo>
                <a:lnTo>
                  <a:pt x="35855" y="2934"/>
                </a:lnTo>
                <a:cubicBezTo>
                  <a:pt x="36118" y="2934"/>
                  <a:pt x="36331" y="2721"/>
                  <a:pt x="36331" y="2458"/>
                </a:cubicBezTo>
                <a:lnTo>
                  <a:pt x="36331" y="476"/>
                </a:lnTo>
                <a:cubicBezTo>
                  <a:pt x="36331" y="213"/>
                  <a:pt x="36118" y="0"/>
                  <a:pt x="35855" y="0"/>
                </a:cubicBezTo>
                <a:lnTo>
                  <a:pt x="476" y="0"/>
                </a:lnTo>
                <a:cubicBezTo>
                  <a:pt x="213" y="0"/>
                  <a:pt x="0" y="213"/>
                  <a:pt x="0" y="476"/>
                </a:cubicBezTo>
                <a:lnTo>
                  <a:pt x="0" y="2458"/>
                </a:lnTo>
                <a:cubicBezTo>
                  <a:pt x="0" y="2721"/>
                  <a:pt x="213" y="2934"/>
                  <a:pt x="476" y="2934"/>
                </a:cubicBezTo>
                <a:lnTo>
                  <a:pt x="18166" y="2934"/>
                </a:lnTo>
                <a:close/>
              </a:path>
            </a:pathLst>
          </a:custGeom>
          <a:noFill/>
          <a:ln w="38160">
            <a:solidFill>
              <a:srgbClr val="9e2e2e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5321160" y="7068600"/>
            <a:ext cx="5054040" cy="275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950" strike="noStrike" u="none">
                <a:solidFill>
                  <a:srgbClr val="7f2525"/>
                </a:solidFill>
                <a:effectLst/>
                <a:uFillTx/>
                <a:latin typeface="'Times New Roman'"/>
              </a:rPr>
              <a:t>A citation or result beside a claim is not enough.</a:t>
            </a:r>
            <a:endParaRPr b="1" lang="en-US" sz="1950" strike="noStrike" u="none">
              <a:solidFill>
                <a:srgbClr val="7f2525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5007240" y="7477920"/>
            <a:ext cx="56631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570" strike="noStrike" u="none">
                <a:solidFill>
                  <a:srgbClr val="526d8b"/>
                </a:solidFill>
                <a:effectLst/>
                <a:uFillTx/>
                <a:latin typeface="'Times New Roman'"/>
              </a:rPr>
              <a:t>The reasoning link and the boundary must remain visible to the reader.</a:t>
            </a:r>
            <a:endParaRPr b="0" i="1" lang="en-US" sz="1570" strike="noStrike" u="none">
              <a:solidFill>
                <a:srgbClr val="526d8b"/>
              </a:solidFill>
              <a:effectLst/>
              <a:uFillTx/>
              <a:latin typeface="'Times New Roman'"/>
              <a:ea typeface="'Times New Roman'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2026-08-19T10:50:00Z</dcterms:created>
  <dc:creator>Antonio Clim and Martino Aldrigo</dc:creator>
  <dc:description>A five-step section contract runs from promise through evidence set, reasoning and boundary to return. A separate four-step paragraph test runs from claim through evidence and reasoning to a limit or hand-off. Two notes state that a section earns its place only when the next step depends on what it establishes and that a citation or result beside a claim is insufficient without a visible reasoning link and boundary. Native-object PPTX generated from the canonical SVG; all text, boxes, lines, arrows and colours remain separately editable.</dc:description>
  <dc:language>en-US</dc:language>
  <cp:lastModifiedBy/>
  <dcterms:modified xsi:type="dcterms:W3CDTF">2026-08-19T10:50:01Z</dcterms:modified>
  <cp:revision>1</cp:revision>
  <dc:subject>Fully editable native drawing objects</dc:subject>
  <dc:title>Figure 7.2. Section contract and paragraph reasoning test</dc:title>
</cp:coreProperties>
</file>