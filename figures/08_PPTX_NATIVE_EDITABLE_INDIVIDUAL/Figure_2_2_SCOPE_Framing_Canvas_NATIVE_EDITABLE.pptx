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145000" cy="8572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85D1B9-884A-411E-B2D5-B4B02E50A2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B173BA-5819-4CC2-9811-2A2B3D30190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7135280" cy="8562600"/>
          </a:xfrm>
          <a:custGeom>
            <a:avLst/>
            <a:gdLst/>
            <a:ahLst/>
            <a:rect l="0" t="0" r="r" b="b"/>
            <a:pathLst>
              <a:path w="47598" h="23785">
                <a:moveTo>
                  <a:pt x="0" y="0"/>
                </a:moveTo>
                <a:lnTo>
                  <a:pt x="47598" y="0"/>
                </a:lnTo>
                <a:lnTo>
                  <a:pt x="47598" y="23785"/>
                </a:lnTo>
                <a:lnTo>
                  <a:pt x="0" y="237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4764600" y="195120"/>
            <a:ext cx="7615440" cy="1950480"/>
          </a:xfrm>
          <a:custGeom>
            <a:avLst/>
            <a:gdLst/>
            <a:ahLst/>
            <a:rect l="0" t="0" r="r" b="b"/>
            <a:pathLst>
              <a:path w="21154" h="5418">
                <a:moveTo>
                  <a:pt x="10578" y="5418"/>
                </a:moveTo>
                <a:lnTo>
                  <a:pt x="20572" y="5418"/>
                </a:lnTo>
                <a:cubicBezTo>
                  <a:pt x="20893" y="5418"/>
                  <a:pt x="21154" y="5157"/>
                  <a:pt x="21154" y="4836"/>
                </a:cubicBezTo>
                <a:lnTo>
                  <a:pt x="21154" y="581"/>
                </a:lnTo>
                <a:cubicBezTo>
                  <a:pt x="21154" y="260"/>
                  <a:pt x="20893" y="0"/>
                  <a:pt x="20572" y="0"/>
                </a:cubicBezTo>
                <a:lnTo>
                  <a:pt x="582" y="0"/>
                </a:lnTo>
                <a:cubicBezTo>
                  <a:pt x="261" y="0"/>
                  <a:pt x="0" y="260"/>
                  <a:pt x="0" y="581"/>
                </a:cubicBezTo>
                <a:lnTo>
                  <a:pt x="0" y="4836"/>
                </a:lnTo>
                <a:cubicBezTo>
                  <a:pt x="0" y="5157"/>
                  <a:pt x="261" y="5418"/>
                  <a:pt x="582" y="5418"/>
                </a:cubicBezTo>
                <a:lnTo>
                  <a:pt x="10578" y="5418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4764600" y="195120"/>
            <a:ext cx="7615440" cy="1950480"/>
          </a:xfrm>
          <a:custGeom>
            <a:avLst/>
            <a:gdLst/>
            <a:ahLst/>
            <a:rect l="0" t="0" r="r" b="b"/>
            <a:pathLst>
              <a:path w="21154" h="5418">
                <a:moveTo>
                  <a:pt x="10578" y="5418"/>
                </a:moveTo>
                <a:lnTo>
                  <a:pt x="20572" y="5418"/>
                </a:lnTo>
                <a:cubicBezTo>
                  <a:pt x="20893" y="5418"/>
                  <a:pt x="21154" y="5157"/>
                  <a:pt x="21154" y="4836"/>
                </a:cubicBezTo>
                <a:lnTo>
                  <a:pt x="21154" y="581"/>
                </a:lnTo>
                <a:cubicBezTo>
                  <a:pt x="21154" y="260"/>
                  <a:pt x="20893" y="0"/>
                  <a:pt x="20572" y="0"/>
                </a:cubicBezTo>
                <a:lnTo>
                  <a:pt x="582" y="0"/>
                </a:lnTo>
                <a:cubicBezTo>
                  <a:pt x="261" y="0"/>
                  <a:pt x="0" y="260"/>
                  <a:pt x="0" y="581"/>
                </a:cubicBezTo>
                <a:lnTo>
                  <a:pt x="0" y="4836"/>
                </a:lnTo>
                <a:cubicBezTo>
                  <a:pt x="0" y="5157"/>
                  <a:pt x="261" y="5418"/>
                  <a:pt x="582" y="5418"/>
                </a:cubicBezTo>
                <a:lnTo>
                  <a:pt x="10578" y="5418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31320" y="361440"/>
            <a:ext cx="806256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 — SITUATION AND STAKEHOLDERS</a:t>
            </a:r>
            <a:endParaRPr b="1" lang="en-US" sz="3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930640" y="932400"/>
            <a:ext cx="528336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observed condition · affected roles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78560" y="1407960"/>
            <a:ext cx="5929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source · unresolved uncertainty</a:t>
            </a:r>
            <a:endParaRPr b="0" lang="en-US" sz="28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42640" y="2573640"/>
            <a:ext cx="5331240" cy="2330640"/>
          </a:xfrm>
          <a:custGeom>
            <a:avLst/>
            <a:gdLst/>
            <a:ahLst/>
            <a:rect l="0" t="0" r="r" b="b"/>
            <a:pathLst>
              <a:path w="14809" h="6474">
                <a:moveTo>
                  <a:pt x="7405" y="6474"/>
                </a:moveTo>
                <a:lnTo>
                  <a:pt x="14227" y="6474"/>
                </a:lnTo>
                <a:cubicBezTo>
                  <a:pt x="14548" y="6474"/>
                  <a:pt x="14809" y="6214"/>
                  <a:pt x="14809" y="5892"/>
                </a:cubicBezTo>
                <a:lnTo>
                  <a:pt x="14809" y="581"/>
                </a:lnTo>
                <a:cubicBezTo>
                  <a:pt x="14809" y="260"/>
                  <a:pt x="14548" y="0"/>
                  <a:pt x="14227" y="0"/>
                </a:cubicBezTo>
                <a:lnTo>
                  <a:pt x="582" y="0"/>
                </a:lnTo>
                <a:cubicBezTo>
                  <a:pt x="261" y="0"/>
                  <a:pt x="0" y="260"/>
                  <a:pt x="0" y="581"/>
                </a:cubicBezTo>
                <a:lnTo>
                  <a:pt x="0" y="5892"/>
                </a:lnTo>
                <a:cubicBezTo>
                  <a:pt x="0" y="6214"/>
                  <a:pt x="261" y="6474"/>
                  <a:pt x="582" y="6474"/>
                </a:cubicBezTo>
                <a:lnTo>
                  <a:pt x="7405" y="6474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42640" y="2573640"/>
            <a:ext cx="5331240" cy="2330640"/>
          </a:xfrm>
          <a:custGeom>
            <a:avLst/>
            <a:gdLst/>
            <a:ahLst/>
            <a:rect l="0" t="0" r="r" b="b"/>
            <a:pathLst>
              <a:path w="14809" h="6474">
                <a:moveTo>
                  <a:pt x="7405" y="6474"/>
                </a:moveTo>
                <a:lnTo>
                  <a:pt x="14227" y="6474"/>
                </a:lnTo>
                <a:cubicBezTo>
                  <a:pt x="14548" y="6474"/>
                  <a:pt x="14809" y="6214"/>
                  <a:pt x="14809" y="5892"/>
                </a:cubicBezTo>
                <a:lnTo>
                  <a:pt x="14809" y="581"/>
                </a:lnTo>
                <a:cubicBezTo>
                  <a:pt x="14809" y="260"/>
                  <a:pt x="14548" y="0"/>
                  <a:pt x="14227" y="0"/>
                </a:cubicBezTo>
                <a:lnTo>
                  <a:pt x="582" y="0"/>
                </a:lnTo>
                <a:cubicBezTo>
                  <a:pt x="261" y="0"/>
                  <a:pt x="0" y="260"/>
                  <a:pt x="0" y="581"/>
                </a:cubicBezTo>
                <a:lnTo>
                  <a:pt x="0" y="5892"/>
                </a:lnTo>
                <a:cubicBezTo>
                  <a:pt x="0" y="6214"/>
                  <a:pt x="261" y="6474"/>
                  <a:pt x="582" y="6474"/>
                </a:cubicBezTo>
                <a:lnTo>
                  <a:pt x="7405" y="6474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37920" y="2854440"/>
            <a:ext cx="455940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 — CHANGE SOUGHT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942480" y="3339720"/>
            <a:ext cx="394992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CONSTRAINTS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247040" y="3948480"/>
            <a:ext cx="338832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access · time · authority</a:t>
            </a:r>
            <a:endParaRPr b="0" lang="en-US" sz="27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523160" y="4357080"/>
            <a:ext cx="278856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limiting uncertainty</a:t>
            </a:r>
            <a:endParaRPr b="0" lang="en-US" sz="27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5906880" y="2811600"/>
            <a:ext cx="5330880" cy="2330640"/>
          </a:xfrm>
          <a:custGeom>
            <a:avLst/>
            <a:gdLst/>
            <a:ahLst/>
            <a:rect l="0" t="0" r="r" b="b"/>
            <a:pathLst>
              <a:path w="14808" h="6474">
                <a:moveTo>
                  <a:pt x="7405" y="6474"/>
                </a:moveTo>
                <a:lnTo>
                  <a:pt x="14120" y="6474"/>
                </a:lnTo>
                <a:cubicBezTo>
                  <a:pt x="14500" y="6474"/>
                  <a:pt x="14808" y="6166"/>
                  <a:pt x="14808" y="5786"/>
                </a:cubicBezTo>
                <a:lnTo>
                  <a:pt x="14808" y="687"/>
                </a:lnTo>
                <a:cubicBezTo>
                  <a:pt x="14808" y="307"/>
                  <a:pt x="14500" y="0"/>
                  <a:pt x="14120" y="0"/>
                </a:cubicBezTo>
                <a:lnTo>
                  <a:pt x="688" y="0"/>
                </a:lnTo>
                <a:cubicBezTo>
                  <a:pt x="308" y="0"/>
                  <a:pt x="0" y="307"/>
                  <a:pt x="0" y="687"/>
                </a:cubicBezTo>
                <a:lnTo>
                  <a:pt x="0" y="5786"/>
                </a:lnTo>
                <a:cubicBezTo>
                  <a:pt x="0" y="6166"/>
                  <a:pt x="308" y="6474"/>
                  <a:pt x="688" y="6474"/>
                </a:cubicBezTo>
                <a:lnTo>
                  <a:pt x="7405" y="6474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906880" y="2811600"/>
            <a:ext cx="5330880" cy="2330640"/>
          </a:xfrm>
          <a:custGeom>
            <a:avLst/>
            <a:gdLst/>
            <a:ahLst/>
            <a:rect l="0" t="0" r="r" b="b"/>
            <a:pathLst>
              <a:path w="14808" h="6474">
                <a:moveTo>
                  <a:pt x="7405" y="6474"/>
                </a:moveTo>
                <a:lnTo>
                  <a:pt x="14120" y="6474"/>
                </a:lnTo>
                <a:cubicBezTo>
                  <a:pt x="14500" y="6474"/>
                  <a:pt x="14808" y="6166"/>
                  <a:pt x="14808" y="5786"/>
                </a:cubicBezTo>
                <a:lnTo>
                  <a:pt x="14808" y="687"/>
                </a:lnTo>
                <a:cubicBezTo>
                  <a:pt x="14808" y="307"/>
                  <a:pt x="14500" y="0"/>
                  <a:pt x="14120" y="0"/>
                </a:cubicBezTo>
                <a:lnTo>
                  <a:pt x="688" y="0"/>
                </a:lnTo>
                <a:cubicBezTo>
                  <a:pt x="308" y="0"/>
                  <a:pt x="0" y="307"/>
                  <a:pt x="0" y="687"/>
                </a:cubicBezTo>
                <a:lnTo>
                  <a:pt x="0" y="5786"/>
                </a:lnTo>
                <a:cubicBezTo>
                  <a:pt x="0" y="6166"/>
                  <a:pt x="308" y="6474"/>
                  <a:pt x="688" y="6474"/>
                </a:cubicBezTo>
                <a:lnTo>
                  <a:pt x="7405" y="6474"/>
                </a:lnTo>
                <a:close/>
              </a:path>
            </a:pathLst>
          </a:custGeom>
          <a:noFill/>
          <a:ln w="47520">
            <a:solidFill>
              <a:srgbClr val="222222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045120" y="3025800"/>
            <a:ext cx="5060160" cy="50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TRACTABLE PROJECT</a:t>
            </a:r>
            <a:endParaRPr b="1" lang="en-US" sz="36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472880" y="3615480"/>
            <a:ext cx="2199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coherent fields</a:t>
            </a:r>
            <a:endParaRPr b="0" lang="en-US" sz="2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035120" y="4062240"/>
            <a:ext cx="308772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inspectable evidence</a:t>
            </a:r>
            <a:endParaRPr b="0" lang="en-US" sz="2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339960" y="4509360"/>
            <a:ext cx="44514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explicit uncertainty and limits</a:t>
            </a:r>
            <a:endParaRPr b="0" lang="en-US" sz="2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1570760" y="2573640"/>
            <a:ext cx="5331240" cy="2330640"/>
          </a:xfrm>
          <a:custGeom>
            <a:avLst/>
            <a:gdLst/>
            <a:ahLst/>
            <a:rect l="0" t="0" r="r" b="b"/>
            <a:pathLst>
              <a:path w="14809" h="6474">
                <a:moveTo>
                  <a:pt x="7404" y="6474"/>
                </a:moveTo>
                <a:lnTo>
                  <a:pt x="14227" y="6474"/>
                </a:lnTo>
                <a:cubicBezTo>
                  <a:pt x="14548" y="6474"/>
                  <a:pt x="14809" y="6214"/>
                  <a:pt x="14809" y="5892"/>
                </a:cubicBezTo>
                <a:lnTo>
                  <a:pt x="14809" y="581"/>
                </a:lnTo>
                <a:cubicBezTo>
                  <a:pt x="14809" y="260"/>
                  <a:pt x="14548" y="0"/>
                  <a:pt x="14227" y="0"/>
                </a:cubicBezTo>
                <a:lnTo>
                  <a:pt x="582" y="0"/>
                </a:lnTo>
                <a:cubicBezTo>
                  <a:pt x="261" y="0"/>
                  <a:pt x="0" y="260"/>
                  <a:pt x="0" y="581"/>
                </a:cubicBezTo>
                <a:lnTo>
                  <a:pt x="0" y="5892"/>
                </a:lnTo>
                <a:cubicBezTo>
                  <a:pt x="0" y="6214"/>
                  <a:pt x="261" y="6474"/>
                  <a:pt x="582" y="6474"/>
                </a:cubicBezTo>
                <a:lnTo>
                  <a:pt x="7404" y="6474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1570760" y="2573640"/>
            <a:ext cx="5331240" cy="2330640"/>
          </a:xfrm>
          <a:custGeom>
            <a:avLst/>
            <a:gdLst/>
            <a:ahLst/>
            <a:rect l="0" t="0" r="r" b="b"/>
            <a:pathLst>
              <a:path w="14809" h="6474">
                <a:moveTo>
                  <a:pt x="7404" y="6474"/>
                </a:moveTo>
                <a:lnTo>
                  <a:pt x="14227" y="6474"/>
                </a:lnTo>
                <a:cubicBezTo>
                  <a:pt x="14548" y="6474"/>
                  <a:pt x="14809" y="6214"/>
                  <a:pt x="14809" y="5892"/>
                </a:cubicBezTo>
                <a:lnTo>
                  <a:pt x="14809" y="581"/>
                </a:lnTo>
                <a:cubicBezTo>
                  <a:pt x="14809" y="260"/>
                  <a:pt x="14548" y="0"/>
                  <a:pt x="14227" y="0"/>
                </a:cubicBezTo>
                <a:lnTo>
                  <a:pt x="582" y="0"/>
                </a:lnTo>
                <a:cubicBezTo>
                  <a:pt x="261" y="0"/>
                  <a:pt x="0" y="260"/>
                  <a:pt x="0" y="581"/>
                </a:cubicBezTo>
                <a:lnTo>
                  <a:pt x="0" y="5892"/>
                </a:lnTo>
                <a:cubicBezTo>
                  <a:pt x="0" y="6214"/>
                  <a:pt x="261" y="6474"/>
                  <a:pt x="582" y="6474"/>
                </a:cubicBezTo>
                <a:lnTo>
                  <a:pt x="7404" y="6474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2584520" y="2854440"/>
            <a:ext cx="332172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 — OUTCOMES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2441960" y="3339720"/>
            <a:ext cx="358812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OBJECTIVES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1804040" y="3948480"/>
            <a:ext cx="489240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observable outputs · counter-result</a:t>
            </a:r>
            <a:endParaRPr b="0" lang="en-US" sz="27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2699000" y="4357080"/>
            <a:ext cx="31028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remaining uncertainty</a:t>
            </a:r>
            <a:endParaRPr b="0" lang="en-US" sz="27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766440" y="6045840"/>
            <a:ext cx="7234920" cy="1950480"/>
          </a:xfrm>
          <a:custGeom>
            <a:avLst/>
            <a:gdLst/>
            <a:ahLst/>
            <a:rect l="0" t="0" r="r" b="b"/>
            <a:pathLst>
              <a:path w="20097" h="5418">
                <a:moveTo>
                  <a:pt x="10048" y="5418"/>
                </a:moveTo>
                <a:lnTo>
                  <a:pt x="19515" y="5418"/>
                </a:lnTo>
                <a:cubicBezTo>
                  <a:pt x="19836" y="5418"/>
                  <a:pt x="20097" y="5158"/>
                  <a:pt x="20097" y="4837"/>
                </a:cubicBezTo>
                <a:lnTo>
                  <a:pt x="20097" y="582"/>
                </a:lnTo>
                <a:cubicBezTo>
                  <a:pt x="20097" y="261"/>
                  <a:pt x="19836" y="0"/>
                  <a:pt x="19515" y="0"/>
                </a:cubicBezTo>
                <a:lnTo>
                  <a:pt x="581" y="0"/>
                </a:lnTo>
                <a:cubicBezTo>
                  <a:pt x="260" y="0"/>
                  <a:pt x="0" y="261"/>
                  <a:pt x="0" y="582"/>
                </a:cubicBezTo>
                <a:lnTo>
                  <a:pt x="0" y="4837"/>
                </a:lnTo>
                <a:cubicBezTo>
                  <a:pt x="0" y="5158"/>
                  <a:pt x="260" y="5418"/>
                  <a:pt x="581" y="5418"/>
                </a:cubicBezTo>
                <a:lnTo>
                  <a:pt x="10048" y="5418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66440" y="6045840"/>
            <a:ext cx="7234920" cy="1950480"/>
          </a:xfrm>
          <a:custGeom>
            <a:avLst/>
            <a:gdLst/>
            <a:ahLst/>
            <a:rect l="0" t="0" r="r" b="b"/>
            <a:pathLst>
              <a:path w="20097" h="5418">
                <a:moveTo>
                  <a:pt x="10048" y="5418"/>
                </a:moveTo>
                <a:lnTo>
                  <a:pt x="19515" y="5418"/>
                </a:lnTo>
                <a:cubicBezTo>
                  <a:pt x="19836" y="5418"/>
                  <a:pt x="20097" y="5158"/>
                  <a:pt x="20097" y="4837"/>
                </a:cubicBezTo>
                <a:lnTo>
                  <a:pt x="20097" y="582"/>
                </a:lnTo>
                <a:cubicBezTo>
                  <a:pt x="20097" y="261"/>
                  <a:pt x="19836" y="0"/>
                  <a:pt x="19515" y="0"/>
                </a:cubicBezTo>
                <a:lnTo>
                  <a:pt x="581" y="0"/>
                </a:lnTo>
                <a:cubicBezTo>
                  <a:pt x="260" y="0"/>
                  <a:pt x="0" y="261"/>
                  <a:pt x="0" y="582"/>
                </a:cubicBezTo>
                <a:lnTo>
                  <a:pt x="0" y="4837"/>
                </a:lnTo>
                <a:cubicBezTo>
                  <a:pt x="0" y="5158"/>
                  <a:pt x="260" y="5418"/>
                  <a:pt x="581" y="5418"/>
                </a:cubicBezTo>
                <a:lnTo>
                  <a:pt x="10048" y="5418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837440" y="6345720"/>
            <a:ext cx="508284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 — PLANNED EVIDENCE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199520" y="6840360"/>
            <a:ext cx="636804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PERFORMANCE CRITERIA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494720" y="7411320"/>
            <a:ext cx="583488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data · baseline · provenance · uncertainty</a:t>
            </a:r>
            <a:endParaRPr b="0" lang="en-US" sz="27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9143280" y="6045840"/>
            <a:ext cx="7234920" cy="1950480"/>
          </a:xfrm>
          <a:custGeom>
            <a:avLst/>
            <a:gdLst/>
            <a:ahLst/>
            <a:rect l="0" t="0" r="r" b="b"/>
            <a:pathLst>
              <a:path w="20097" h="5418">
                <a:moveTo>
                  <a:pt x="10049" y="5418"/>
                </a:moveTo>
                <a:lnTo>
                  <a:pt x="19516" y="5418"/>
                </a:lnTo>
                <a:cubicBezTo>
                  <a:pt x="19837" y="5418"/>
                  <a:pt x="20097" y="5158"/>
                  <a:pt x="20097" y="4837"/>
                </a:cubicBezTo>
                <a:lnTo>
                  <a:pt x="20097" y="582"/>
                </a:lnTo>
                <a:cubicBezTo>
                  <a:pt x="20097" y="261"/>
                  <a:pt x="19837" y="0"/>
                  <a:pt x="19516" y="0"/>
                </a:cubicBezTo>
                <a:lnTo>
                  <a:pt x="582" y="0"/>
                </a:lnTo>
                <a:cubicBezTo>
                  <a:pt x="261" y="0"/>
                  <a:pt x="0" y="261"/>
                  <a:pt x="0" y="582"/>
                </a:cubicBezTo>
                <a:lnTo>
                  <a:pt x="0" y="4837"/>
                </a:lnTo>
                <a:cubicBezTo>
                  <a:pt x="0" y="5158"/>
                  <a:pt x="261" y="5418"/>
                  <a:pt x="582" y="5418"/>
                </a:cubicBezTo>
                <a:lnTo>
                  <a:pt x="10049" y="5418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143280" y="6045840"/>
            <a:ext cx="7234920" cy="1950480"/>
          </a:xfrm>
          <a:custGeom>
            <a:avLst/>
            <a:gdLst/>
            <a:ahLst/>
            <a:rect l="0" t="0" r="r" b="b"/>
            <a:pathLst>
              <a:path w="20097" h="5418">
                <a:moveTo>
                  <a:pt x="10049" y="5418"/>
                </a:moveTo>
                <a:lnTo>
                  <a:pt x="19516" y="5418"/>
                </a:lnTo>
                <a:cubicBezTo>
                  <a:pt x="19837" y="5418"/>
                  <a:pt x="20097" y="5158"/>
                  <a:pt x="20097" y="4837"/>
                </a:cubicBezTo>
                <a:lnTo>
                  <a:pt x="20097" y="582"/>
                </a:lnTo>
                <a:cubicBezTo>
                  <a:pt x="20097" y="261"/>
                  <a:pt x="19837" y="0"/>
                  <a:pt x="19516" y="0"/>
                </a:cubicBezTo>
                <a:lnTo>
                  <a:pt x="582" y="0"/>
                </a:lnTo>
                <a:cubicBezTo>
                  <a:pt x="261" y="0"/>
                  <a:pt x="0" y="261"/>
                  <a:pt x="0" y="582"/>
                </a:cubicBezTo>
                <a:lnTo>
                  <a:pt x="0" y="4837"/>
                </a:lnTo>
                <a:cubicBezTo>
                  <a:pt x="0" y="5158"/>
                  <a:pt x="261" y="5418"/>
                  <a:pt x="582" y="5418"/>
                </a:cubicBezTo>
                <a:lnTo>
                  <a:pt x="10049" y="5418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9414720" y="6345720"/>
            <a:ext cx="669168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— EXCLUSIONS, ASSUMPTIONS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9919080" y="6840360"/>
            <a:ext cx="569196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ETHICAL BOUNDARIES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176120" y="7411320"/>
            <a:ext cx="52160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outside scope · fallback · uncertainty</a:t>
            </a:r>
            <a:endParaRPr b="0" lang="en-US" sz="27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8572680" y="2240640"/>
            <a:ext cx="0" cy="408960"/>
          </a:xfrm>
          <a:prstGeom prst="line">
            <a:avLst/>
          </a:prstGeom>
          <a:ln w="5724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8229960" y="2079000"/>
            <a:ext cx="684720" cy="684720"/>
          </a:xfrm>
          <a:custGeom>
            <a:avLst/>
            <a:gdLst/>
            <a:ahLst/>
            <a:rect l="0" t="0" r="r" b="b"/>
            <a:pathLst>
              <a:path w="1902" h="1902">
                <a:moveTo>
                  <a:pt x="1902" y="0"/>
                </a:moveTo>
                <a:lnTo>
                  <a:pt x="952" y="1902"/>
                </a:lnTo>
                <a:lnTo>
                  <a:pt x="0" y="0"/>
                </a:lnTo>
                <a:lnTo>
                  <a:pt x="1902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668920" y="3734280"/>
            <a:ext cx="76320" cy="0"/>
          </a:xfrm>
          <a:prstGeom prst="line">
            <a:avLst/>
          </a:prstGeom>
          <a:ln w="5724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440" rIns="118440" tIns="-73440" bIns="-73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173920" y="3391920"/>
            <a:ext cx="685440" cy="685080"/>
          </a:xfrm>
          <a:custGeom>
            <a:avLst/>
            <a:gdLst/>
            <a:ahLst/>
            <a:rect l="0" t="0" r="r" b="b"/>
            <a:pathLst>
              <a:path w="1904" h="1903">
                <a:moveTo>
                  <a:pt x="0" y="0"/>
                </a:moveTo>
                <a:lnTo>
                  <a:pt x="1904" y="951"/>
                </a:lnTo>
                <a:lnTo>
                  <a:pt x="0" y="1903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173920" y="3391920"/>
            <a:ext cx="685440" cy="685080"/>
          </a:xfrm>
          <a:custGeom>
            <a:avLst/>
            <a:gdLst/>
            <a:ahLst/>
            <a:rect l="0" t="0" r="r" b="b"/>
            <a:pathLst>
              <a:path w="1904" h="1903">
                <a:moveTo>
                  <a:pt x="0" y="0"/>
                </a:moveTo>
                <a:lnTo>
                  <a:pt x="1904" y="951"/>
                </a:lnTo>
                <a:lnTo>
                  <a:pt x="0" y="1903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 flipH="1">
            <a:off x="11399400" y="3734280"/>
            <a:ext cx="76320" cy="0"/>
          </a:xfrm>
          <a:prstGeom prst="line">
            <a:avLst/>
          </a:prstGeom>
          <a:ln w="5724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440" rIns="118440" tIns="-73440" bIns="-73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1285280" y="3391920"/>
            <a:ext cx="685440" cy="685080"/>
          </a:xfrm>
          <a:custGeom>
            <a:avLst/>
            <a:gdLst/>
            <a:ahLst/>
            <a:rect l="0" t="0" r="r" b="b"/>
            <a:pathLst>
              <a:path w="1904" h="1903">
                <a:moveTo>
                  <a:pt x="1904" y="1903"/>
                </a:moveTo>
                <a:lnTo>
                  <a:pt x="0" y="951"/>
                </a:lnTo>
                <a:lnTo>
                  <a:pt x="1904" y="0"/>
                </a:lnTo>
                <a:lnTo>
                  <a:pt x="1904" y="1903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1285280" y="3391920"/>
            <a:ext cx="685440" cy="685080"/>
          </a:xfrm>
          <a:custGeom>
            <a:avLst/>
            <a:gdLst/>
            <a:ahLst/>
            <a:rect l="0" t="0" r="r" b="b"/>
            <a:pathLst>
              <a:path w="1904" h="1903">
                <a:moveTo>
                  <a:pt x="1904" y="1903"/>
                </a:moveTo>
                <a:lnTo>
                  <a:pt x="0" y="951"/>
                </a:lnTo>
                <a:lnTo>
                  <a:pt x="1904" y="0"/>
                </a:lnTo>
                <a:lnTo>
                  <a:pt x="1904" y="1903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1285280" y="3391920"/>
            <a:ext cx="685440" cy="685080"/>
          </a:xfrm>
          <a:custGeom>
            <a:avLst/>
            <a:gdLst/>
            <a:ahLst/>
            <a:rect l="0" t="0" r="r" b="b"/>
            <a:pathLst>
              <a:path w="1904" h="1903">
                <a:moveTo>
                  <a:pt x="1904" y="1903"/>
                </a:moveTo>
                <a:lnTo>
                  <a:pt x="0" y="951"/>
                </a:lnTo>
                <a:lnTo>
                  <a:pt x="1904" y="0"/>
                </a:lnTo>
                <a:lnTo>
                  <a:pt x="1904" y="1903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5859360" y="5284800"/>
            <a:ext cx="1332720" cy="666000"/>
          </a:xfrm>
          <a:prstGeom prst="line">
            <a:avLst/>
          </a:prstGeom>
          <a:ln w="5724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52788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0" y="0"/>
                </a:moveTo>
                <a:lnTo>
                  <a:pt x="2129" y="0"/>
                </a:lnTo>
                <a:lnTo>
                  <a:pt x="852" y="1702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52788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0" y="0"/>
                </a:moveTo>
                <a:lnTo>
                  <a:pt x="2129" y="0"/>
                </a:lnTo>
                <a:lnTo>
                  <a:pt x="852" y="1702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52788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0" y="0"/>
                </a:moveTo>
                <a:lnTo>
                  <a:pt x="2129" y="0"/>
                </a:lnTo>
                <a:lnTo>
                  <a:pt x="852" y="1702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52788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0" y="0"/>
                </a:moveTo>
                <a:lnTo>
                  <a:pt x="2129" y="0"/>
                </a:lnTo>
                <a:lnTo>
                  <a:pt x="852" y="1702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 flipV="1">
            <a:off x="9952560" y="5284800"/>
            <a:ext cx="1332720" cy="666000"/>
          </a:xfrm>
          <a:prstGeom prst="line">
            <a:avLst/>
          </a:prstGeom>
          <a:ln w="5724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85032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1277" y="1702"/>
                </a:moveTo>
                <a:lnTo>
                  <a:pt x="0" y="0"/>
                </a:lnTo>
                <a:lnTo>
                  <a:pt x="2129" y="0"/>
                </a:lnTo>
                <a:lnTo>
                  <a:pt x="1277" y="1702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85032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1277" y="1702"/>
                </a:moveTo>
                <a:lnTo>
                  <a:pt x="0" y="0"/>
                </a:lnTo>
                <a:lnTo>
                  <a:pt x="2129" y="0"/>
                </a:lnTo>
                <a:lnTo>
                  <a:pt x="1277" y="1702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85032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1277" y="1702"/>
                </a:moveTo>
                <a:lnTo>
                  <a:pt x="0" y="0"/>
                </a:lnTo>
                <a:lnTo>
                  <a:pt x="2129" y="0"/>
                </a:lnTo>
                <a:lnTo>
                  <a:pt x="1277" y="1702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85032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1277" y="1702"/>
                </a:moveTo>
                <a:lnTo>
                  <a:pt x="0" y="0"/>
                </a:lnTo>
                <a:lnTo>
                  <a:pt x="2129" y="0"/>
                </a:lnTo>
                <a:lnTo>
                  <a:pt x="1277" y="1702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850320" y="5233680"/>
            <a:ext cx="766440" cy="612720"/>
          </a:xfrm>
          <a:custGeom>
            <a:avLst/>
            <a:gdLst/>
            <a:ahLst/>
            <a:rect l="0" t="0" r="r" b="b"/>
            <a:pathLst>
              <a:path w="2129" h="1702">
                <a:moveTo>
                  <a:pt x="1277" y="1702"/>
                </a:moveTo>
                <a:lnTo>
                  <a:pt x="0" y="0"/>
                </a:lnTo>
                <a:lnTo>
                  <a:pt x="2129" y="0"/>
                </a:lnTo>
                <a:lnTo>
                  <a:pt x="1277" y="1702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2026-08-19T10:49:49Z</dcterms:created>
  <dc:creator>Antonio Clim and Martino Aldrigo</dc:creator>
  <dc:description>The SCOPE canvas surrounds a tractable project with five interdependent fields: Situation and stakeholders, Change sought and constraints, Outcomes and objectives, Planned evidence and performance criteria, and Exclusions, assumptions and ethical boundaries. Every field records evidence and an unresolved uncertainty. Native-object PPTX generated from the canonical SVG; all text, boxes, lines, arrows and colours remain separately editable.</dc:description>
  <dc:language>en-US</dc:language>
  <cp:lastModifiedBy/>
  <dcterms:modified xsi:type="dcterms:W3CDTF">2026-08-19T10:49:49Z</dcterms:modified>
  <cp:revision>1</cp:revision>
  <dc:subject>Fully editable native drawing objects</dc:subject>
  <dc:title>Figure 2.2. The SCOPE framing canvas</dc:title>
</cp:coreProperties>
</file>