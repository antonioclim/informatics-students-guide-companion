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7145000" cy="9144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BD5CD37-9885-4032-9E0A-2C664A18318C}"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fld id="{A12C0156-E803-4504-BEAA-A573A36C8C4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4680" y="4680"/>
            <a:ext cx="17135280" cy="9134280"/>
          </a:xfrm>
          <a:custGeom>
            <a:avLst/>
            <a:gdLst/>
            <a:ahLst/>
            <a:rect l="0" t="0" r="r" b="b"/>
            <a:pathLst>
              <a:path w="47598" h="25373">
                <a:moveTo>
                  <a:pt x="0" y="0"/>
                </a:moveTo>
                <a:lnTo>
                  <a:pt x="47598" y="0"/>
                </a:lnTo>
                <a:lnTo>
                  <a:pt x="47598" y="25373"/>
                </a:lnTo>
                <a:lnTo>
                  <a:pt x="0" y="25373"/>
                </a:lnTo>
                <a:lnTo>
                  <a:pt x="0" y="0"/>
                </a:ln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 name=""/>
          <p:cNvSpPr txBox="1"/>
          <p:nvPr/>
        </p:nvSpPr>
        <p:spPr>
          <a:xfrm>
            <a:off x="4883760" y="218880"/>
            <a:ext cx="7329600" cy="305280"/>
          </a:xfrm>
          <a:prstGeom prst="rect">
            <a:avLst/>
          </a:prstGeom>
          <a:noFill/>
          <a:ln w="0">
            <a:noFill/>
          </a:ln>
        </p:spPr>
        <p:txBody>
          <a:bodyPr wrap="none" lIns="0" rIns="0" tIns="0" bIns="0" anchor="t">
            <a:spAutoFit/>
          </a:bodyPr>
          <a:p>
            <a:r>
              <a:rPr b="0" i="1" lang="en-US" sz="2170" strike="noStrike" u="none">
                <a:solidFill>
                  <a:srgbClr val="4c6078"/>
                </a:solidFill>
                <a:effectLst/>
                <a:uFillTx/>
                <a:latin typeface="Times New Roman"/>
              </a:rPr>
              <a:t>acceptance admits a known unit; it does not prove the thesis claim</a:t>
            </a:r>
            <a:endParaRPr b="0" i="1" lang="en-US" sz="2170" strike="noStrike" u="none">
              <a:solidFill>
                <a:srgbClr val="4c6078"/>
              </a:solidFill>
              <a:effectLst/>
              <a:uFillTx/>
              <a:latin typeface="Times New Roman"/>
              <a:ea typeface="Times New Roman"/>
            </a:endParaRPr>
          </a:p>
        </p:txBody>
      </p:sp>
      <p:sp>
        <p:nvSpPr>
          <p:cNvPr id="9" name=""/>
          <p:cNvSpPr/>
          <p:nvPr/>
        </p:nvSpPr>
        <p:spPr>
          <a:xfrm>
            <a:off x="338040" y="1003680"/>
            <a:ext cx="2855880" cy="1712880"/>
          </a:xfrm>
          <a:custGeom>
            <a:avLst/>
            <a:gdLst/>
            <a:ahLst/>
            <a:rect l="0" t="0" r="r" b="b"/>
            <a:pathLst>
              <a:path w="7933" h="4758">
                <a:moveTo>
                  <a:pt x="3966" y="4758"/>
                </a:moveTo>
                <a:lnTo>
                  <a:pt x="7457" y="4758"/>
                </a:lnTo>
                <a:cubicBezTo>
                  <a:pt x="7720" y="4758"/>
                  <a:pt x="7933" y="4545"/>
                  <a:pt x="7933" y="4282"/>
                </a:cubicBezTo>
                <a:lnTo>
                  <a:pt x="7933" y="476"/>
                </a:lnTo>
                <a:cubicBezTo>
                  <a:pt x="7933" y="213"/>
                  <a:pt x="7720" y="0"/>
                  <a:pt x="7457" y="0"/>
                </a:cubicBezTo>
                <a:lnTo>
                  <a:pt x="476" y="0"/>
                </a:lnTo>
                <a:cubicBezTo>
                  <a:pt x="213" y="0"/>
                  <a:pt x="0" y="213"/>
                  <a:pt x="0" y="476"/>
                </a:cubicBezTo>
                <a:lnTo>
                  <a:pt x="0" y="4282"/>
                </a:lnTo>
                <a:cubicBezTo>
                  <a:pt x="0" y="4545"/>
                  <a:pt x="213" y="4758"/>
                  <a:pt x="476" y="4758"/>
                </a:cubicBezTo>
                <a:lnTo>
                  <a:pt x="3966" y="4758"/>
                </a:lnTo>
                <a:close/>
              </a:path>
            </a:pathLst>
          </a:custGeom>
          <a:solidFill>
            <a:srgbClr val="e8eef5"/>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0" name=""/>
          <p:cNvSpPr/>
          <p:nvPr/>
        </p:nvSpPr>
        <p:spPr>
          <a:xfrm>
            <a:off x="338040" y="1003680"/>
            <a:ext cx="2855880" cy="1712880"/>
          </a:xfrm>
          <a:custGeom>
            <a:avLst/>
            <a:gdLst/>
            <a:ahLst/>
            <a:rect l="0" t="0" r="r" b="b"/>
            <a:pathLst>
              <a:path w="7933" h="4758">
                <a:moveTo>
                  <a:pt x="3966" y="4758"/>
                </a:moveTo>
                <a:lnTo>
                  <a:pt x="7457" y="4758"/>
                </a:lnTo>
                <a:cubicBezTo>
                  <a:pt x="7720" y="4758"/>
                  <a:pt x="7933" y="4545"/>
                  <a:pt x="7933" y="4282"/>
                </a:cubicBezTo>
                <a:lnTo>
                  <a:pt x="7933" y="476"/>
                </a:lnTo>
                <a:cubicBezTo>
                  <a:pt x="7933" y="213"/>
                  <a:pt x="7720" y="0"/>
                  <a:pt x="7457" y="0"/>
                </a:cubicBezTo>
                <a:lnTo>
                  <a:pt x="476" y="0"/>
                </a:lnTo>
                <a:cubicBezTo>
                  <a:pt x="213" y="0"/>
                  <a:pt x="0" y="213"/>
                  <a:pt x="0" y="476"/>
                </a:cubicBezTo>
                <a:lnTo>
                  <a:pt x="0" y="4282"/>
                </a:lnTo>
                <a:cubicBezTo>
                  <a:pt x="0" y="4545"/>
                  <a:pt x="213" y="4758"/>
                  <a:pt x="476" y="4758"/>
                </a:cubicBezTo>
                <a:lnTo>
                  <a:pt x="3966" y="4758"/>
                </a:lnTo>
                <a:close/>
              </a:path>
            </a:pathLst>
          </a:custGeom>
          <a:noFill/>
          <a:ln w="38160">
            <a:solidFill>
              <a:srgbClr val="284d7a"/>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1" name=""/>
          <p:cNvSpPr txBox="1"/>
          <p:nvPr/>
        </p:nvSpPr>
        <p:spPr>
          <a:xfrm>
            <a:off x="1075680" y="1332360"/>
            <a:ext cx="143136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APPROVED</a:t>
            </a:r>
            <a:endParaRPr b="1" lang="en-US" sz="2020" strike="noStrike" u="none">
              <a:solidFill>
                <a:srgbClr val="1f2d3d"/>
              </a:solidFill>
              <a:effectLst/>
              <a:uFillTx/>
              <a:latin typeface="Times New Roman"/>
              <a:ea typeface="Times New Roman"/>
            </a:endParaRPr>
          </a:p>
        </p:txBody>
      </p:sp>
      <p:sp>
        <p:nvSpPr>
          <p:cNvPr id="12" name=""/>
          <p:cNvSpPr txBox="1"/>
          <p:nvPr/>
        </p:nvSpPr>
        <p:spPr>
          <a:xfrm>
            <a:off x="828360" y="1693800"/>
            <a:ext cx="191808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COMMITMENT</a:t>
            </a:r>
            <a:endParaRPr b="1" lang="en-US" sz="2020" strike="noStrike" u="none">
              <a:solidFill>
                <a:srgbClr val="1f2d3d"/>
              </a:solidFill>
              <a:effectLst/>
              <a:uFillTx/>
              <a:latin typeface="Times New Roman"/>
              <a:ea typeface="Times New Roman"/>
            </a:endParaRPr>
          </a:p>
        </p:txBody>
      </p:sp>
      <p:sp>
        <p:nvSpPr>
          <p:cNvPr id="13" name=""/>
          <p:cNvSpPr txBox="1"/>
          <p:nvPr/>
        </p:nvSpPr>
        <p:spPr>
          <a:xfrm>
            <a:off x="970920" y="2207520"/>
            <a:ext cx="1573920" cy="201600"/>
          </a:xfrm>
          <a:prstGeom prst="rect">
            <a:avLst/>
          </a:prstGeom>
          <a:noFill/>
          <a:ln w="0">
            <a:noFill/>
          </a:ln>
        </p:spPr>
        <p:txBody>
          <a:bodyPr wrap="none" lIns="0" rIns="0" tIns="0" bIns="0" anchor="t">
            <a:spAutoFit/>
          </a:bodyPr>
          <a:p>
            <a:r>
              <a:rPr b="0" i="1" lang="en-US" sz="1420" strike="noStrike" u="none">
                <a:solidFill>
                  <a:srgbClr val="42566d"/>
                </a:solidFill>
                <a:effectLst/>
                <a:uFillTx/>
                <a:latin typeface="Times New Roman"/>
              </a:rPr>
              <a:t>authority + boundary</a:t>
            </a:r>
            <a:endParaRPr b="0" i="1" lang="en-US" sz="1420" strike="noStrike" u="none">
              <a:solidFill>
                <a:srgbClr val="42566d"/>
              </a:solidFill>
              <a:effectLst/>
              <a:uFillTx/>
              <a:latin typeface="Times New Roman"/>
              <a:ea typeface="Times New Roman"/>
            </a:endParaRPr>
          </a:p>
        </p:txBody>
      </p:sp>
      <p:sp>
        <p:nvSpPr>
          <p:cNvPr id="14" name=""/>
          <p:cNvSpPr/>
          <p:nvPr/>
        </p:nvSpPr>
        <p:spPr>
          <a:xfrm>
            <a:off x="3622320" y="1003680"/>
            <a:ext cx="2855880" cy="1712880"/>
          </a:xfrm>
          <a:custGeom>
            <a:avLst/>
            <a:gdLst/>
            <a:ahLst/>
            <a:rect l="0" t="0" r="r" b="b"/>
            <a:pathLst>
              <a:path w="7933" h="4758">
                <a:moveTo>
                  <a:pt x="3966" y="4758"/>
                </a:moveTo>
                <a:lnTo>
                  <a:pt x="7457" y="4758"/>
                </a:lnTo>
                <a:cubicBezTo>
                  <a:pt x="7720" y="4758"/>
                  <a:pt x="7933" y="4545"/>
                  <a:pt x="7933" y="4282"/>
                </a:cubicBezTo>
                <a:lnTo>
                  <a:pt x="7933" y="476"/>
                </a:lnTo>
                <a:cubicBezTo>
                  <a:pt x="7933" y="213"/>
                  <a:pt x="7720" y="0"/>
                  <a:pt x="7457" y="0"/>
                </a:cubicBezTo>
                <a:lnTo>
                  <a:pt x="476" y="0"/>
                </a:lnTo>
                <a:cubicBezTo>
                  <a:pt x="213" y="0"/>
                  <a:pt x="0" y="213"/>
                  <a:pt x="0" y="476"/>
                </a:cubicBezTo>
                <a:lnTo>
                  <a:pt x="0" y="4282"/>
                </a:lnTo>
                <a:cubicBezTo>
                  <a:pt x="0" y="4545"/>
                  <a:pt x="213" y="4758"/>
                  <a:pt x="476" y="4758"/>
                </a:cubicBezTo>
                <a:lnTo>
                  <a:pt x="3966" y="4758"/>
                </a:lnTo>
                <a:close/>
              </a:path>
            </a:pathLst>
          </a:custGeom>
          <a:solidFill>
            <a:srgbClr val="e8eef5"/>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5" name=""/>
          <p:cNvSpPr/>
          <p:nvPr/>
        </p:nvSpPr>
        <p:spPr>
          <a:xfrm>
            <a:off x="3622320" y="1003680"/>
            <a:ext cx="2855880" cy="1712880"/>
          </a:xfrm>
          <a:custGeom>
            <a:avLst/>
            <a:gdLst/>
            <a:ahLst/>
            <a:rect l="0" t="0" r="r" b="b"/>
            <a:pathLst>
              <a:path w="7933" h="4758">
                <a:moveTo>
                  <a:pt x="3966" y="4758"/>
                </a:moveTo>
                <a:lnTo>
                  <a:pt x="7457" y="4758"/>
                </a:lnTo>
                <a:cubicBezTo>
                  <a:pt x="7720" y="4758"/>
                  <a:pt x="7933" y="4545"/>
                  <a:pt x="7933" y="4282"/>
                </a:cubicBezTo>
                <a:lnTo>
                  <a:pt x="7933" y="476"/>
                </a:lnTo>
                <a:cubicBezTo>
                  <a:pt x="7933" y="213"/>
                  <a:pt x="7720" y="0"/>
                  <a:pt x="7457" y="0"/>
                </a:cubicBezTo>
                <a:lnTo>
                  <a:pt x="476" y="0"/>
                </a:lnTo>
                <a:cubicBezTo>
                  <a:pt x="213" y="0"/>
                  <a:pt x="0" y="213"/>
                  <a:pt x="0" y="476"/>
                </a:cubicBezTo>
                <a:lnTo>
                  <a:pt x="0" y="4282"/>
                </a:lnTo>
                <a:cubicBezTo>
                  <a:pt x="0" y="4545"/>
                  <a:pt x="213" y="4758"/>
                  <a:pt x="476" y="4758"/>
                </a:cubicBezTo>
                <a:lnTo>
                  <a:pt x="3966" y="4758"/>
                </a:lnTo>
                <a:close/>
              </a:path>
            </a:pathLst>
          </a:custGeom>
          <a:noFill/>
          <a:ln w="38160">
            <a:solidFill>
              <a:srgbClr val="284d7a"/>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16" name=""/>
          <p:cNvSpPr txBox="1"/>
          <p:nvPr/>
        </p:nvSpPr>
        <p:spPr>
          <a:xfrm>
            <a:off x="4426560" y="1332360"/>
            <a:ext cx="128880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BOUNDED</a:t>
            </a:r>
            <a:endParaRPr b="1" lang="en-US" sz="2020" strike="noStrike" u="none">
              <a:solidFill>
                <a:srgbClr val="1f2d3d"/>
              </a:solidFill>
              <a:effectLst/>
              <a:uFillTx/>
              <a:latin typeface="Times New Roman"/>
              <a:ea typeface="Times New Roman"/>
            </a:endParaRPr>
          </a:p>
        </p:txBody>
      </p:sp>
      <p:sp>
        <p:nvSpPr>
          <p:cNvPr id="17" name=""/>
          <p:cNvSpPr txBox="1"/>
          <p:nvPr/>
        </p:nvSpPr>
        <p:spPr>
          <a:xfrm>
            <a:off x="4284000" y="1693800"/>
            <a:ext cx="155340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WORK UNIT</a:t>
            </a:r>
            <a:endParaRPr b="1" lang="en-US" sz="2020" strike="noStrike" u="none">
              <a:solidFill>
                <a:srgbClr val="1f2d3d"/>
              </a:solidFill>
              <a:effectLst/>
              <a:uFillTx/>
              <a:latin typeface="Times New Roman"/>
              <a:ea typeface="Times New Roman"/>
            </a:endParaRPr>
          </a:p>
        </p:txBody>
      </p:sp>
      <p:sp>
        <p:nvSpPr>
          <p:cNvPr id="18" name=""/>
          <p:cNvSpPr txBox="1"/>
          <p:nvPr/>
        </p:nvSpPr>
        <p:spPr>
          <a:xfrm>
            <a:off x="4284000" y="2207520"/>
            <a:ext cx="1523520" cy="201600"/>
          </a:xfrm>
          <a:prstGeom prst="rect">
            <a:avLst/>
          </a:prstGeom>
          <a:noFill/>
          <a:ln w="0">
            <a:noFill/>
          </a:ln>
        </p:spPr>
        <p:txBody>
          <a:bodyPr wrap="none" lIns="0" rIns="0" tIns="0" bIns="0" anchor="t">
            <a:spAutoFit/>
          </a:bodyPr>
          <a:p>
            <a:r>
              <a:rPr b="0" i="1" lang="en-US" sz="1420" strike="noStrike" u="none">
                <a:solidFill>
                  <a:srgbClr val="42566d"/>
                </a:solidFill>
                <a:effectLst/>
                <a:uFillTx/>
                <a:latin typeface="Times New Roman"/>
              </a:rPr>
              <a:t>purpose + non-goals</a:t>
            </a:r>
            <a:endParaRPr b="0" i="1" lang="en-US" sz="1420" strike="noStrike" u="none">
              <a:solidFill>
                <a:srgbClr val="42566d"/>
              </a:solidFill>
              <a:effectLst/>
              <a:uFillTx/>
              <a:latin typeface="Times New Roman"/>
              <a:ea typeface="Times New Roman"/>
            </a:endParaRPr>
          </a:p>
        </p:txBody>
      </p:sp>
      <p:sp>
        <p:nvSpPr>
          <p:cNvPr id="19" name=""/>
          <p:cNvSpPr/>
          <p:nvPr/>
        </p:nvSpPr>
        <p:spPr>
          <a:xfrm>
            <a:off x="6906600" y="1003680"/>
            <a:ext cx="2855520" cy="1712880"/>
          </a:xfrm>
          <a:custGeom>
            <a:avLst/>
            <a:gdLst/>
            <a:ahLst/>
            <a:rect l="0" t="0" r="r" b="b"/>
            <a:pathLst>
              <a:path w="7932" h="4758">
                <a:moveTo>
                  <a:pt x="3966" y="4758"/>
                </a:moveTo>
                <a:lnTo>
                  <a:pt x="7456" y="4758"/>
                </a:lnTo>
                <a:cubicBezTo>
                  <a:pt x="7719" y="4758"/>
                  <a:pt x="7932" y="4545"/>
                  <a:pt x="7932" y="4282"/>
                </a:cubicBezTo>
                <a:lnTo>
                  <a:pt x="7932" y="476"/>
                </a:lnTo>
                <a:cubicBezTo>
                  <a:pt x="7932" y="213"/>
                  <a:pt x="7719" y="0"/>
                  <a:pt x="7456" y="0"/>
                </a:cubicBezTo>
                <a:lnTo>
                  <a:pt x="476" y="0"/>
                </a:lnTo>
                <a:cubicBezTo>
                  <a:pt x="213" y="0"/>
                  <a:pt x="0" y="213"/>
                  <a:pt x="0" y="476"/>
                </a:cubicBezTo>
                <a:lnTo>
                  <a:pt x="0" y="4282"/>
                </a:lnTo>
                <a:cubicBezTo>
                  <a:pt x="0" y="4545"/>
                  <a:pt x="213" y="4758"/>
                  <a:pt x="476" y="4758"/>
                </a:cubicBezTo>
                <a:lnTo>
                  <a:pt x="3966" y="4758"/>
                </a:lnTo>
                <a:close/>
              </a:path>
            </a:pathLst>
          </a:custGeom>
          <a:solidFill>
            <a:srgbClr val="e8eef5"/>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0" name=""/>
          <p:cNvSpPr/>
          <p:nvPr/>
        </p:nvSpPr>
        <p:spPr>
          <a:xfrm>
            <a:off x="6906600" y="1003680"/>
            <a:ext cx="2855520" cy="1712880"/>
          </a:xfrm>
          <a:custGeom>
            <a:avLst/>
            <a:gdLst/>
            <a:ahLst/>
            <a:rect l="0" t="0" r="r" b="b"/>
            <a:pathLst>
              <a:path w="7932" h="4758">
                <a:moveTo>
                  <a:pt x="3966" y="4758"/>
                </a:moveTo>
                <a:lnTo>
                  <a:pt x="7456" y="4758"/>
                </a:lnTo>
                <a:cubicBezTo>
                  <a:pt x="7719" y="4758"/>
                  <a:pt x="7932" y="4545"/>
                  <a:pt x="7932" y="4282"/>
                </a:cubicBezTo>
                <a:lnTo>
                  <a:pt x="7932" y="476"/>
                </a:lnTo>
                <a:cubicBezTo>
                  <a:pt x="7932" y="213"/>
                  <a:pt x="7719" y="0"/>
                  <a:pt x="7456" y="0"/>
                </a:cubicBezTo>
                <a:lnTo>
                  <a:pt x="476" y="0"/>
                </a:lnTo>
                <a:cubicBezTo>
                  <a:pt x="213" y="0"/>
                  <a:pt x="0" y="213"/>
                  <a:pt x="0" y="476"/>
                </a:cubicBezTo>
                <a:lnTo>
                  <a:pt x="0" y="4282"/>
                </a:lnTo>
                <a:cubicBezTo>
                  <a:pt x="0" y="4545"/>
                  <a:pt x="213" y="4758"/>
                  <a:pt x="476" y="4758"/>
                </a:cubicBezTo>
                <a:lnTo>
                  <a:pt x="3966" y="4758"/>
                </a:lnTo>
                <a:close/>
              </a:path>
            </a:pathLst>
          </a:custGeom>
          <a:noFill/>
          <a:ln w="38160">
            <a:solidFill>
              <a:srgbClr val="284d7a"/>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21" name=""/>
          <p:cNvSpPr txBox="1"/>
          <p:nvPr/>
        </p:nvSpPr>
        <p:spPr>
          <a:xfrm>
            <a:off x="7815600" y="1332360"/>
            <a:ext cx="107496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FROZEN</a:t>
            </a:r>
            <a:endParaRPr b="1" lang="en-US" sz="2020" strike="noStrike" u="none">
              <a:solidFill>
                <a:srgbClr val="1f2d3d"/>
              </a:solidFill>
              <a:effectLst/>
              <a:uFillTx/>
              <a:latin typeface="Times New Roman"/>
              <a:ea typeface="Times New Roman"/>
            </a:endParaRPr>
          </a:p>
        </p:txBody>
      </p:sp>
      <p:sp>
        <p:nvSpPr>
          <p:cNvPr id="22" name=""/>
          <p:cNvSpPr txBox="1"/>
          <p:nvPr/>
        </p:nvSpPr>
        <p:spPr>
          <a:xfrm>
            <a:off x="7254000" y="1693800"/>
            <a:ext cx="218880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STARTING STATE</a:t>
            </a:r>
            <a:endParaRPr b="1" lang="en-US" sz="2020" strike="noStrike" u="none">
              <a:solidFill>
                <a:srgbClr val="1f2d3d"/>
              </a:solidFill>
              <a:effectLst/>
              <a:uFillTx/>
              <a:latin typeface="Times New Roman"/>
              <a:ea typeface="Times New Roman"/>
            </a:endParaRPr>
          </a:p>
        </p:txBody>
      </p:sp>
      <p:sp>
        <p:nvSpPr>
          <p:cNvPr id="23" name=""/>
          <p:cNvSpPr txBox="1"/>
          <p:nvPr/>
        </p:nvSpPr>
        <p:spPr>
          <a:xfrm>
            <a:off x="7539480" y="2207520"/>
            <a:ext cx="1624320" cy="201600"/>
          </a:xfrm>
          <a:prstGeom prst="rect">
            <a:avLst/>
          </a:prstGeom>
          <a:noFill/>
          <a:ln w="0">
            <a:noFill/>
          </a:ln>
        </p:spPr>
        <p:txBody>
          <a:bodyPr wrap="none" lIns="0" rIns="0" tIns="0" bIns="0" anchor="t">
            <a:spAutoFit/>
          </a:bodyPr>
          <a:p>
            <a:r>
              <a:rPr b="0" i="1" lang="en-US" sz="1420" strike="noStrike" u="none">
                <a:solidFill>
                  <a:srgbClr val="42566d"/>
                </a:solidFill>
                <a:effectLst/>
                <a:uFillTx/>
                <a:latin typeface="Times New Roman"/>
              </a:rPr>
              <a:t>identity + permissions</a:t>
            </a:r>
            <a:endParaRPr b="0" i="1" lang="en-US" sz="1420" strike="noStrike" u="none">
              <a:solidFill>
                <a:srgbClr val="42566d"/>
              </a:solidFill>
              <a:effectLst/>
              <a:uFillTx/>
              <a:latin typeface="Times New Roman"/>
              <a:ea typeface="Times New Roman"/>
            </a:endParaRPr>
          </a:p>
        </p:txBody>
      </p:sp>
      <p:sp>
        <p:nvSpPr>
          <p:cNvPr id="24" name=""/>
          <p:cNvSpPr/>
          <p:nvPr/>
        </p:nvSpPr>
        <p:spPr>
          <a:xfrm>
            <a:off x="10190520" y="1003680"/>
            <a:ext cx="2855880" cy="1712880"/>
          </a:xfrm>
          <a:custGeom>
            <a:avLst/>
            <a:gdLst/>
            <a:ahLst/>
            <a:rect l="0" t="0" r="r" b="b"/>
            <a:pathLst>
              <a:path w="7933" h="4758">
                <a:moveTo>
                  <a:pt x="3966" y="4758"/>
                </a:moveTo>
                <a:lnTo>
                  <a:pt x="7457" y="4758"/>
                </a:lnTo>
                <a:cubicBezTo>
                  <a:pt x="7720" y="4758"/>
                  <a:pt x="7933" y="4545"/>
                  <a:pt x="7933" y="4282"/>
                </a:cubicBezTo>
                <a:lnTo>
                  <a:pt x="7933" y="476"/>
                </a:lnTo>
                <a:cubicBezTo>
                  <a:pt x="7933" y="213"/>
                  <a:pt x="7720" y="0"/>
                  <a:pt x="7457" y="0"/>
                </a:cubicBezTo>
                <a:lnTo>
                  <a:pt x="476" y="0"/>
                </a:lnTo>
                <a:cubicBezTo>
                  <a:pt x="213" y="0"/>
                  <a:pt x="0" y="213"/>
                  <a:pt x="0" y="476"/>
                </a:cubicBezTo>
                <a:lnTo>
                  <a:pt x="0" y="4282"/>
                </a:lnTo>
                <a:cubicBezTo>
                  <a:pt x="0" y="4545"/>
                  <a:pt x="213" y="4758"/>
                  <a:pt x="476" y="4758"/>
                </a:cubicBezTo>
                <a:lnTo>
                  <a:pt x="3966" y="4758"/>
                </a:lnTo>
                <a:close/>
              </a:path>
            </a:pathLst>
          </a:custGeom>
          <a:solidFill>
            <a:srgbClr val="e8eef5"/>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5" name=""/>
          <p:cNvSpPr/>
          <p:nvPr/>
        </p:nvSpPr>
        <p:spPr>
          <a:xfrm>
            <a:off x="10190520" y="1003680"/>
            <a:ext cx="2855880" cy="1712880"/>
          </a:xfrm>
          <a:custGeom>
            <a:avLst/>
            <a:gdLst/>
            <a:ahLst/>
            <a:rect l="0" t="0" r="r" b="b"/>
            <a:pathLst>
              <a:path w="7933" h="4758">
                <a:moveTo>
                  <a:pt x="3966" y="4758"/>
                </a:moveTo>
                <a:lnTo>
                  <a:pt x="7457" y="4758"/>
                </a:lnTo>
                <a:cubicBezTo>
                  <a:pt x="7720" y="4758"/>
                  <a:pt x="7933" y="4545"/>
                  <a:pt x="7933" y="4282"/>
                </a:cubicBezTo>
                <a:lnTo>
                  <a:pt x="7933" y="476"/>
                </a:lnTo>
                <a:cubicBezTo>
                  <a:pt x="7933" y="213"/>
                  <a:pt x="7720" y="0"/>
                  <a:pt x="7457" y="0"/>
                </a:cubicBezTo>
                <a:lnTo>
                  <a:pt x="476" y="0"/>
                </a:lnTo>
                <a:cubicBezTo>
                  <a:pt x="213" y="0"/>
                  <a:pt x="0" y="213"/>
                  <a:pt x="0" y="476"/>
                </a:cubicBezTo>
                <a:lnTo>
                  <a:pt x="0" y="4282"/>
                </a:lnTo>
                <a:cubicBezTo>
                  <a:pt x="0" y="4545"/>
                  <a:pt x="213" y="4758"/>
                  <a:pt x="476" y="4758"/>
                </a:cubicBezTo>
                <a:lnTo>
                  <a:pt x="3966" y="4758"/>
                </a:lnTo>
                <a:close/>
              </a:path>
            </a:pathLst>
          </a:custGeom>
          <a:noFill/>
          <a:ln w="38160">
            <a:solidFill>
              <a:srgbClr val="284d7a"/>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26" name=""/>
          <p:cNvSpPr txBox="1"/>
          <p:nvPr/>
        </p:nvSpPr>
        <p:spPr>
          <a:xfrm>
            <a:off x="10871280" y="1332360"/>
            <a:ext cx="154152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CANDIDATE</a:t>
            </a:r>
            <a:endParaRPr b="1" lang="en-US" sz="2020" strike="noStrike" u="none">
              <a:solidFill>
                <a:srgbClr val="1f2d3d"/>
              </a:solidFill>
              <a:effectLst/>
              <a:uFillTx/>
              <a:latin typeface="Times New Roman"/>
              <a:ea typeface="Times New Roman"/>
            </a:endParaRPr>
          </a:p>
        </p:txBody>
      </p:sp>
      <p:sp>
        <p:nvSpPr>
          <p:cNvPr id="27" name=""/>
          <p:cNvSpPr txBox="1"/>
          <p:nvPr/>
        </p:nvSpPr>
        <p:spPr>
          <a:xfrm>
            <a:off x="11099520" y="1693800"/>
            <a:ext cx="107496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OUTPUT</a:t>
            </a:r>
            <a:endParaRPr b="1" lang="en-US" sz="2020" strike="noStrike" u="none">
              <a:solidFill>
                <a:srgbClr val="1f2d3d"/>
              </a:solidFill>
              <a:effectLst/>
              <a:uFillTx/>
              <a:latin typeface="Times New Roman"/>
              <a:ea typeface="Times New Roman"/>
            </a:endParaRPr>
          </a:p>
        </p:txBody>
      </p:sp>
      <p:sp>
        <p:nvSpPr>
          <p:cNvPr id="28" name=""/>
          <p:cNvSpPr txBox="1"/>
          <p:nvPr/>
        </p:nvSpPr>
        <p:spPr>
          <a:xfrm>
            <a:off x="10766520" y="2207520"/>
            <a:ext cx="1681200" cy="201600"/>
          </a:xfrm>
          <a:prstGeom prst="rect">
            <a:avLst/>
          </a:prstGeom>
          <a:noFill/>
          <a:ln w="0">
            <a:noFill/>
          </a:ln>
        </p:spPr>
        <p:txBody>
          <a:bodyPr wrap="none" lIns="0" rIns="0" tIns="0" bIns="0" anchor="t">
            <a:spAutoFit/>
          </a:bodyPr>
          <a:p>
            <a:r>
              <a:rPr b="0" i="1" lang="en-US" sz="1420" strike="noStrike" u="none">
                <a:solidFill>
                  <a:srgbClr val="42566d"/>
                </a:solidFill>
                <a:effectLst/>
                <a:uFillTx/>
                <a:latin typeface="Times New Roman"/>
              </a:rPr>
              <a:t>produced, not admitted</a:t>
            </a:r>
            <a:endParaRPr b="0" i="1" lang="en-US" sz="1420" strike="noStrike" u="none">
              <a:solidFill>
                <a:srgbClr val="42566d"/>
              </a:solidFill>
              <a:effectLst/>
              <a:uFillTx/>
              <a:latin typeface="Times New Roman"/>
              <a:ea typeface="Times New Roman"/>
            </a:endParaRPr>
          </a:p>
        </p:txBody>
      </p:sp>
      <p:sp>
        <p:nvSpPr>
          <p:cNvPr id="29" name=""/>
          <p:cNvSpPr/>
          <p:nvPr/>
        </p:nvSpPr>
        <p:spPr>
          <a:xfrm>
            <a:off x="13474800" y="1003680"/>
            <a:ext cx="2855880" cy="1712880"/>
          </a:xfrm>
          <a:custGeom>
            <a:avLst/>
            <a:gdLst/>
            <a:ahLst/>
            <a:rect l="0" t="0" r="r" b="b"/>
            <a:pathLst>
              <a:path w="7933" h="4758">
                <a:moveTo>
                  <a:pt x="3967" y="4758"/>
                </a:moveTo>
                <a:lnTo>
                  <a:pt x="7457" y="4758"/>
                </a:lnTo>
                <a:cubicBezTo>
                  <a:pt x="7720" y="4758"/>
                  <a:pt x="7933" y="4545"/>
                  <a:pt x="7933" y="4282"/>
                </a:cubicBezTo>
                <a:lnTo>
                  <a:pt x="7933" y="476"/>
                </a:lnTo>
                <a:cubicBezTo>
                  <a:pt x="7933" y="213"/>
                  <a:pt x="7720" y="0"/>
                  <a:pt x="7457" y="0"/>
                </a:cubicBezTo>
                <a:lnTo>
                  <a:pt x="476" y="0"/>
                </a:lnTo>
                <a:cubicBezTo>
                  <a:pt x="213" y="0"/>
                  <a:pt x="0" y="213"/>
                  <a:pt x="0" y="476"/>
                </a:cubicBezTo>
                <a:lnTo>
                  <a:pt x="0" y="4282"/>
                </a:lnTo>
                <a:cubicBezTo>
                  <a:pt x="0" y="4545"/>
                  <a:pt x="213" y="4758"/>
                  <a:pt x="476" y="4758"/>
                </a:cubicBezTo>
                <a:lnTo>
                  <a:pt x="3967" y="4758"/>
                </a:lnTo>
                <a:close/>
              </a:path>
            </a:pathLst>
          </a:custGeom>
          <a:solidFill>
            <a:srgbClr val="e8eef5"/>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30" name=""/>
          <p:cNvSpPr/>
          <p:nvPr/>
        </p:nvSpPr>
        <p:spPr>
          <a:xfrm>
            <a:off x="13474800" y="1003680"/>
            <a:ext cx="2855880" cy="1712880"/>
          </a:xfrm>
          <a:custGeom>
            <a:avLst/>
            <a:gdLst/>
            <a:ahLst/>
            <a:rect l="0" t="0" r="r" b="b"/>
            <a:pathLst>
              <a:path w="7933" h="4758">
                <a:moveTo>
                  <a:pt x="3967" y="4758"/>
                </a:moveTo>
                <a:lnTo>
                  <a:pt x="7457" y="4758"/>
                </a:lnTo>
                <a:cubicBezTo>
                  <a:pt x="7720" y="4758"/>
                  <a:pt x="7933" y="4545"/>
                  <a:pt x="7933" y="4282"/>
                </a:cubicBezTo>
                <a:lnTo>
                  <a:pt x="7933" y="476"/>
                </a:lnTo>
                <a:cubicBezTo>
                  <a:pt x="7933" y="213"/>
                  <a:pt x="7720" y="0"/>
                  <a:pt x="7457" y="0"/>
                </a:cubicBezTo>
                <a:lnTo>
                  <a:pt x="476" y="0"/>
                </a:lnTo>
                <a:cubicBezTo>
                  <a:pt x="213" y="0"/>
                  <a:pt x="0" y="213"/>
                  <a:pt x="0" y="476"/>
                </a:cubicBezTo>
                <a:lnTo>
                  <a:pt x="0" y="4282"/>
                </a:lnTo>
                <a:cubicBezTo>
                  <a:pt x="0" y="4545"/>
                  <a:pt x="213" y="4758"/>
                  <a:pt x="476" y="4758"/>
                </a:cubicBezTo>
                <a:lnTo>
                  <a:pt x="3967" y="4758"/>
                </a:lnTo>
                <a:close/>
              </a:path>
            </a:pathLst>
          </a:custGeom>
          <a:noFill/>
          <a:ln w="38160">
            <a:solidFill>
              <a:srgbClr val="284d7a"/>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31" name=""/>
          <p:cNvSpPr txBox="1"/>
          <p:nvPr/>
        </p:nvSpPr>
        <p:spPr>
          <a:xfrm>
            <a:off x="14012640" y="1332360"/>
            <a:ext cx="181476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INSPECTION +</a:t>
            </a:r>
            <a:endParaRPr b="1" lang="en-US" sz="2020" strike="noStrike" u="none">
              <a:solidFill>
                <a:srgbClr val="1f2d3d"/>
              </a:solidFill>
              <a:effectLst/>
              <a:uFillTx/>
              <a:latin typeface="Times New Roman"/>
              <a:ea typeface="Times New Roman"/>
            </a:endParaRPr>
          </a:p>
        </p:txBody>
      </p:sp>
      <p:sp>
        <p:nvSpPr>
          <p:cNvPr id="32" name=""/>
          <p:cNvSpPr txBox="1"/>
          <p:nvPr/>
        </p:nvSpPr>
        <p:spPr>
          <a:xfrm>
            <a:off x="13888800" y="1693800"/>
            <a:ext cx="205452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LOCAL CHECKS</a:t>
            </a:r>
            <a:endParaRPr b="1" lang="en-US" sz="2020" strike="noStrike" u="none">
              <a:solidFill>
                <a:srgbClr val="1f2d3d"/>
              </a:solidFill>
              <a:effectLst/>
              <a:uFillTx/>
              <a:latin typeface="Times New Roman"/>
              <a:ea typeface="Times New Roman"/>
            </a:endParaRPr>
          </a:p>
        </p:txBody>
      </p:sp>
      <p:sp>
        <p:nvSpPr>
          <p:cNvPr id="33" name=""/>
          <p:cNvSpPr txBox="1"/>
          <p:nvPr/>
        </p:nvSpPr>
        <p:spPr>
          <a:xfrm>
            <a:off x="14022000" y="2207520"/>
            <a:ext cx="1780560" cy="201600"/>
          </a:xfrm>
          <a:prstGeom prst="rect">
            <a:avLst/>
          </a:prstGeom>
          <a:noFill/>
          <a:ln w="0">
            <a:noFill/>
          </a:ln>
        </p:spPr>
        <p:txBody>
          <a:bodyPr wrap="none" lIns="0" rIns="0" tIns="0" bIns="0" anchor="t">
            <a:spAutoFit/>
          </a:bodyPr>
          <a:p>
            <a:r>
              <a:rPr b="0" i="1" lang="en-US" sz="1420" strike="noStrike" u="none">
                <a:solidFill>
                  <a:srgbClr val="42566d"/>
                </a:solidFill>
                <a:effectLst/>
                <a:uFillTx/>
                <a:latin typeface="Times New Roman"/>
              </a:rPr>
              <a:t>primary artefact + basis</a:t>
            </a:r>
            <a:endParaRPr b="0" i="1" lang="en-US" sz="1420" strike="noStrike" u="none">
              <a:solidFill>
                <a:srgbClr val="42566d"/>
              </a:solidFill>
              <a:effectLst/>
              <a:uFillTx/>
              <a:latin typeface="Times New Roman"/>
              <a:ea typeface="Times New Roman"/>
            </a:endParaRPr>
          </a:p>
        </p:txBody>
      </p:sp>
      <p:sp>
        <p:nvSpPr>
          <p:cNvPr id="34" name=""/>
          <p:cNvSpPr/>
          <p:nvPr/>
        </p:nvSpPr>
        <p:spPr>
          <a:xfrm>
            <a:off x="3193920" y="1860120"/>
            <a:ext cx="333000" cy="0"/>
          </a:xfrm>
          <a:prstGeom prst="line">
            <a:avLst/>
          </a:prstGeom>
          <a:ln w="47520">
            <a:solidFill>
              <a:srgbClr val="284d7a"/>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35" name=""/>
          <p:cNvSpPr/>
          <p:nvPr/>
        </p:nvSpPr>
        <p:spPr>
          <a:xfrm>
            <a:off x="3098520" y="1622160"/>
            <a:ext cx="476280" cy="475920"/>
          </a:xfrm>
          <a:custGeom>
            <a:avLst/>
            <a:gdLst/>
            <a:ahLst/>
            <a:rect l="0" t="0" r="r" b="b"/>
            <a:pathLst>
              <a:path w="1323" h="1322">
                <a:moveTo>
                  <a:pt x="0" y="0"/>
                </a:moveTo>
                <a:lnTo>
                  <a:pt x="1323" y="661"/>
                </a:lnTo>
                <a:lnTo>
                  <a:pt x="0" y="132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6" name=""/>
          <p:cNvSpPr/>
          <p:nvPr/>
        </p:nvSpPr>
        <p:spPr>
          <a:xfrm>
            <a:off x="6478200" y="1860120"/>
            <a:ext cx="333000" cy="0"/>
          </a:xfrm>
          <a:prstGeom prst="line">
            <a:avLst/>
          </a:prstGeom>
          <a:ln w="47520">
            <a:solidFill>
              <a:srgbClr val="284d7a"/>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37" name=""/>
          <p:cNvSpPr/>
          <p:nvPr/>
        </p:nvSpPr>
        <p:spPr>
          <a:xfrm>
            <a:off x="6382800" y="1622160"/>
            <a:ext cx="476280" cy="475920"/>
          </a:xfrm>
          <a:custGeom>
            <a:avLst/>
            <a:gdLst/>
            <a:ahLst/>
            <a:rect l="0" t="0" r="r" b="b"/>
            <a:pathLst>
              <a:path w="1323" h="1322">
                <a:moveTo>
                  <a:pt x="0" y="0"/>
                </a:moveTo>
                <a:lnTo>
                  <a:pt x="1323" y="661"/>
                </a:lnTo>
                <a:lnTo>
                  <a:pt x="0" y="132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8" name=""/>
          <p:cNvSpPr/>
          <p:nvPr/>
        </p:nvSpPr>
        <p:spPr>
          <a:xfrm>
            <a:off x="6382800" y="1622160"/>
            <a:ext cx="476280" cy="475920"/>
          </a:xfrm>
          <a:custGeom>
            <a:avLst/>
            <a:gdLst/>
            <a:ahLst/>
            <a:rect l="0" t="0" r="r" b="b"/>
            <a:pathLst>
              <a:path w="1323" h="1322">
                <a:moveTo>
                  <a:pt x="0" y="0"/>
                </a:moveTo>
                <a:lnTo>
                  <a:pt x="1323" y="661"/>
                </a:lnTo>
                <a:lnTo>
                  <a:pt x="0" y="132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9" name=""/>
          <p:cNvSpPr/>
          <p:nvPr/>
        </p:nvSpPr>
        <p:spPr>
          <a:xfrm>
            <a:off x="9762120" y="1860120"/>
            <a:ext cx="333000" cy="0"/>
          </a:xfrm>
          <a:prstGeom prst="line">
            <a:avLst/>
          </a:prstGeom>
          <a:ln w="47520">
            <a:solidFill>
              <a:srgbClr val="284d7a"/>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40" name=""/>
          <p:cNvSpPr/>
          <p:nvPr/>
        </p:nvSpPr>
        <p:spPr>
          <a:xfrm>
            <a:off x="9667080" y="1622160"/>
            <a:ext cx="475920" cy="475920"/>
          </a:xfrm>
          <a:custGeom>
            <a:avLst/>
            <a:gdLst/>
            <a:ahLst/>
            <a:rect l="0" t="0" r="r" b="b"/>
            <a:pathLst>
              <a:path w="1322" h="1322">
                <a:moveTo>
                  <a:pt x="0" y="0"/>
                </a:moveTo>
                <a:lnTo>
                  <a:pt x="1322" y="661"/>
                </a:lnTo>
                <a:lnTo>
                  <a:pt x="0" y="132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1" name=""/>
          <p:cNvSpPr/>
          <p:nvPr/>
        </p:nvSpPr>
        <p:spPr>
          <a:xfrm>
            <a:off x="9667080" y="1622160"/>
            <a:ext cx="475920" cy="475920"/>
          </a:xfrm>
          <a:custGeom>
            <a:avLst/>
            <a:gdLst/>
            <a:ahLst/>
            <a:rect l="0" t="0" r="r" b="b"/>
            <a:pathLst>
              <a:path w="1322" h="1322">
                <a:moveTo>
                  <a:pt x="0" y="0"/>
                </a:moveTo>
                <a:lnTo>
                  <a:pt x="1322" y="661"/>
                </a:lnTo>
                <a:lnTo>
                  <a:pt x="0" y="132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2" name=""/>
          <p:cNvSpPr/>
          <p:nvPr/>
        </p:nvSpPr>
        <p:spPr>
          <a:xfrm>
            <a:off x="9667080" y="1622160"/>
            <a:ext cx="475920" cy="475920"/>
          </a:xfrm>
          <a:custGeom>
            <a:avLst/>
            <a:gdLst/>
            <a:ahLst/>
            <a:rect l="0" t="0" r="r" b="b"/>
            <a:pathLst>
              <a:path w="1322" h="1322">
                <a:moveTo>
                  <a:pt x="0" y="0"/>
                </a:moveTo>
                <a:lnTo>
                  <a:pt x="1322" y="661"/>
                </a:lnTo>
                <a:lnTo>
                  <a:pt x="0" y="132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3" name=""/>
          <p:cNvSpPr/>
          <p:nvPr/>
        </p:nvSpPr>
        <p:spPr>
          <a:xfrm>
            <a:off x="13046400" y="1860120"/>
            <a:ext cx="333360" cy="0"/>
          </a:xfrm>
          <a:prstGeom prst="line">
            <a:avLst/>
          </a:prstGeom>
          <a:ln w="47520">
            <a:solidFill>
              <a:srgbClr val="284d7a"/>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44" name=""/>
          <p:cNvSpPr/>
          <p:nvPr/>
        </p:nvSpPr>
        <p:spPr>
          <a:xfrm>
            <a:off x="12951360" y="1622160"/>
            <a:ext cx="475920" cy="475920"/>
          </a:xfrm>
          <a:custGeom>
            <a:avLst/>
            <a:gdLst/>
            <a:ahLst/>
            <a:rect l="0" t="0" r="r" b="b"/>
            <a:pathLst>
              <a:path w="1322" h="1322">
                <a:moveTo>
                  <a:pt x="0" y="0"/>
                </a:moveTo>
                <a:lnTo>
                  <a:pt x="1322" y="661"/>
                </a:lnTo>
                <a:lnTo>
                  <a:pt x="0" y="132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5" name=""/>
          <p:cNvSpPr/>
          <p:nvPr/>
        </p:nvSpPr>
        <p:spPr>
          <a:xfrm>
            <a:off x="12951360" y="1622160"/>
            <a:ext cx="475920" cy="475920"/>
          </a:xfrm>
          <a:custGeom>
            <a:avLst/>
            <a:gdLst/>
            <a:ahLst/>
            <a:rect l="0" t="0" r="r" b="b"/>
            <a:pathLst>
              <a:path w="1322" h="1322">
                <a:moveTo>
                  <a:pt x="0" y="0"/>
                </a:moveTo>
                <a:lnTo>
                  <a:pt x="1322" y="661"/>
                </a:lnTo>
                <a:lnTo>
                  <a:pt x="0" y="132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6" name=""/>
          <p:cNvSpPr/>
          <p:nvPr/>
        </p:nvSpPr>
        <p:spPr>
          <a:xfrm>
            <a:off x="12951360" y="1622160"/>
            <a:ext cx="475920" cy="475920"/>
          </a:xfrm>
          <a:custGeom>
            <a:avLst/>
            <a:gdLst/>
            <a:ahLst/>
            <a:rect l="0" t="0" r="r" b="b"/>
            <a:pathLst>
              <a:path w="1322" h="1322">
                <a:moveTo>
                  <a:pt x="0" y="0"/>
                </a:moveTo>
                <a:lnTo>
                  <a:pt x="1322" y="661"/>
                </a:lnTo>
                <a:lnTo>
                  <a:pt x="0" y="132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7" name=""/>
          <p:cNvSpPr/>
          <p:nvPr/>
        </p:nvSpPr>
        <p:spPr>
          <a:xfrm>
            <a:off x="12951360" y="1622160"/>
            <a:ext cx="475920" cy="475920"/>
          </a:xfrm>
          <a:custGeom>
            <a:avLst/>
            <a:gdLst/>
            <a:ahLst/>
            <a:rect l="0" t="0" r="r" b="b"/>
            <a:pathLst>
              <a:path w="1322" h="1322">
                <a:moveTo>
                  <a:pt x="0" y="0"/>
                </a:moveTo>
                <a:lnTo>
                  <a:pt x="1322" y="661"/>
                </a:lnTo>
                <a:lnTo>
                  <a:pt x="0" y="132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8" name=""/>
          <p:cNvSpPr/>
          <p:nvPr/>
        </p:nvSpPr>
        <p:spPr>
          <a:xfrm>
            <a:off x="12285000" y="3953520"/>
            <a:ext cx="3712680" cy="1712520"/>
          </a:xfrm>
          <a:custGeom>
            <a:avLst/>
            <a:gdLst/>
            <a:ahLst/>
            <a:rect l="0" t="0" r="r" b="b"/>
            <a:pathLst>
              <a:path w="10313" h="4757">
                <a:moveTo>
                  <a:pt x="5156" y="4757"/>
                </a:moveTo>
                <a:lnTo>
                  <a:pt x="9837" y="4757"/>
                </a:lnTo>
                <a:cubicBezTo>
                  <a:pt x="10099" y="4757"/>
                  <a:pt x="10313" y="4544"/>
                  <a:pt x="10313" y="4281"/>
                </a:cubicBezTo>
                <a:lnTo>
                  <a:pt x="10313" y="476"/>
                </a:lnTo>
                <a:cubicBezTo>
                  <a:pt x="10313" y="213"/>
                  <a:pt x="10099" y="0"/>
                  <a:pt x="9837" y="0"/>
                </a:cubicBezTo>
                <a:lnTo>
                  <a:pt x="476" y="0"/>
                </a:lnTo>
                <a:cubicBezTo>
                  <a:pt x="213" y="0"/>
                  <a:pt x="0" y="213"/>
                  <a:pt x="0" y="476"/>
                </a:cubicBezTo>
                <a:lnTo>
                  <a:pt x="0" y="4281"/>
                </a:lnTo>
                <a:cubicBezTo>
                  <a:pt x="0" y="4544"/>
                  <a:pt x="213" y="4757"/>
                  <a:pt x="476" y="4757"/>
                </a:cubicBezTo>
                <a:lnTo>
                  <a:pt x="5156" y="4757"/>
                </a:lnTo>
                <a:close/>
              </a:path>
            </a:pathLst>
          </a:custGeom>
          <a:solidFill>
            <a:srgbClr val="d9e4f1"/>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49" name=""/>
          <p:cNvSpPr/>
          <p:nvPr/>
        </p:nvSpPr>
        <p:spPr>
          <a:xfrm>
            <a:off x="12285000" y="3953520"/>
            <a:ext cx="3712680" cy="1712520"/>
          </a:xfrm>
          <a:custGeom>
            <a:avLst/>
            <a:gdLst/>
            <a:ahLst/>
            <a:rect l="0" t="0" r="r" b="b"/>
            <a:pathLst>
              <a:path w="10313" h="4757">
                <a:moveTo>
                  <a:pt x="5156" y="4757"/>
                </a:moveTo>
                <a:lnTo>
                  <a:pt x="9837" y="4757"/>
                </a:lnTo>
                <a:cubicBezTo>
                  <a:pt x="10099" y="4757"/>
                  <a:pt x="10313" y="4544"/>
                  <a:pt x="10313" y="4281"/>
                </a:cubicBezTo>
                <a:lnTo>
                  <a:pt x="10313" y="476"/>
                </a:lnTo>
                <a:cubicBezTo>
                  <a:pt x="10313" y="213"/>
                  <a:pt x="10099" y="0"/>
                  <a:pt x="9837" y="0"/>
                </a:cubicBezTo>
                <a:lnTo>
                  <a:pt x="476" y="0"/>
                </a:lnTo>
                <a:cubicBezTo>
                  <a:pt x="213" y="0"/>
                  <a:pt x="0" y="213"/>
                  <a:pt x="0" y="476"/>
                </a:cubicBezTo>
                <a:lnTo>
                  <a:pt x="0" y="4281"/>
                </a:lnTo>
                <a:cubicBezTo>
                  <a:pt x="0" y="4544"/>
                  <a:pt x="213" y="4757"/>
                  <a:pt x="476" y="4757"/>
                </a:cubicBezTo>
                <a:lnTo>
                  <a:pt x="5156" y="4757"/>
                </a:lnTo>
                <a:close/>
              </a:path>
            </a:pathLst>
          </a:custGeom>
          <a:noFill/>
          <a:ln w="38160">
            <a:solidFill>
              <a:srgbClr val="284d7a"/>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50" name=""/>
          <p:cNvSpPr txBox="1"/>
          <p:nvPr/>
        </p:nvSpPr>
        <p:spPr>
          <a:xfrm>
            <a:off x="13184280" y="4281840"/>
            <a:ext cx="1931760" cy="332280"/>
          </a:xfrm>
          <a:prstGeom prst="rect">
            <a:avLst/>
          </a:prstGeom>
          <a:noFill/>
          <a:ln w="0">
            <a:noFill/>
          </a:ln>
        </p:spPr>
        <p:txBody>
          <a:bodyPr wrap="none" lIns="0" rIns="0" tIns="0" bIns="0" anchor="t">
            <a:spAutoFit/>
          </a:bodyPr>
          <a:p>
            <a:r>
              <a:rPr b="1" lang="en-US" sz="2320" strike="noStrike" u="none">
                <a:solidFill>
                  <a:srgbClr val="1f2d3d"/>
                </a:solidFill>
                <a:effectLst/>
                <a:uFillTx/>
                <a:latin typeface="Times New Roman"/>
              </a:rPr>
              <a:t>DISPOSITION</a:t>
            </a:r>
            <a:endParaRPr b="1" lang="en-US" sz="2320" strike="noStrike" u="none">
              <a:solidFill>
                <a:srgbClr val="1f2d3d"/>
              </a:solidFill>
              <a:effectLst/>
              <a:uFillTx/>
              <a:latin typeface="Times New Roman"/>
              <a:ea typeface="Times New Roman"/>
            </a:endParaRPr>
          </a:p>
        </p:txBody>
      </p:sp>
      <p:sp>
        <p:nvSpPr>
          <p:cNvPr id="51" name=""/>
          <p:cNvSpPr txBox="1"/>
          <p:nvPr/>
        </p:nvSpPr>
        <p:spPr>
          <a:xfrm>
            <a:off x="13117680" y="4776120"/>
            <a:ext cx="2045880" cy="227520"/>
          </a:xfrm>
          <a:prstGeom prst="rect">
            <a:avLst/>
          </a:prstGeom>
          <a:noFill/>
          <a:ln w="0">
            <a:noFill/>
          </a:ln>
        </p:spPr>
        <p:txBody>
          <a:bodyPr wrap="none" lIns="0" rIns="0" tIns="0" bIns="0" anchor="t">
            <a:spAutoFit/>
          </a:bodyPr>
          <a:p>
            <a:r>
              <a:rPr b="0" lang="en-US" sz="1570" strike="noStrike" u="none">
                <a:solidFill>
                  <a:srgbClr val="1f2d3d"/>
                </a:solidFill>
                <a:effectLst/>
                <a:uFillTx/>
                <a:latin typeface="Times New Roman"/>
              </a:rPr>
              <a:t>accept / condition / repair</a:t>
            </a:r>
            <a:endParaRPr b="0" lang="en-US" sz="1570" strike="noStrike" u="none">
              <a:solidFill>
                <a:srgbClr val="1f2d3d"/>
              </a:solidFill>
              <a:effectLst/>
              <a:uFillTx/>
              <a:latin typeface="Times New Roman"/>
              <a:ea typeface="Times New Roman"/>
            </a:endParaRPr>
          </a:p>
        </p:txBody>
      </p:sp>
      <p:sp>
        <p:nvSpPr>
          <p:cNvPr id="52" name=""/>
          <p:cNvSpPr txBox="1"/>
          <p:nvPr/>
        </p:nvSpPr>
        <p:spPr>
          <a:xfrm>
            <a:off x="13108320" y="5090400"/>
            <a:ext cx="2084760" cy="227520"/>
          </a:xfrm>
          <a:prstGeom prst="rect">
            <a:avLst/>
          </a:prstGeom>
          <a:noFill/>
          <a:ln w="0">
            <a:noFill/>
          </a:ln>
        </p:spPr>
        <p:txBody>
          <a:bodyPr wrap="none" lIns="0" rIns="0" tIns="0" bIns="0" anchor="t">
            <a:spAutoFit/>
          </a:bodyPr>
          <a:p>
            <a:r>
              <a:rPr b="0" lang="en-US" sz="1570" strike="noStrike" u="none">
                <a:solidFill>
                  <a:srgbClr val="1f2d3d"/>
                </a:solidFill>
                <a:effectLst/>
                <a:uFillTx/>
                <a:latin typeface="Times New Roman"/>
              </a:rPr>
              <a:t>repeat / reject / quarantine</a:t>
            </a:r>
            <a:endParaRPr b="0" lang="en-US" sz="1570" strike="noStrike" u="none">
              <a:solidFill>
                <a:srgbClr val="1f2d3d"/>
              </a:solidFill>
              <a:effectLst/>
              <a:uFillTx/>
              <a:latin typeface="Times New Roman"/>
              <a:ea typeface="Times New Roman"/>
            </a:endParaRPr>
          </a:p>
        </p:txBody>
      </p:sp>
      <p:sp>
        <p:nvSpPr>
          <p:cNvPr id="53" name=""/>
          <p:cNvSpPr/>
          <p:nvPr/>
        </p:nvSpPr>
        <p:spPr>
          <a:xfrm flipH="1">
            <a:off x="14426640" y="2716560"/>
            <a:ext cx="476280" cy="1141920"/>
          </a:xfrm>
          <a:prstGeom prst="line">
            <a:avLst/>
          </a:prstGeom>
          <a:ln w="47520">
            <a:solidFill>
              <a:srgbClr val="284d7a"/>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54" name=""/>
          <p:cNvSpPr/>
          <p:nvPr/>
        </p:nvSpPr>
        <p:spPr>
          <a:xfrm>
            <a:off x="14371920" y="3371760"/>
            <a:ext cx="439200" cy="530640"/>
          </a:xfrm>
          <a:custGeom>
            <a:avLst/>
            <a:gdLst/>
            <a:ahLst/>
            <a:rect l="0" t="0" r="r" b="b"/>
            <a:pathLst>
              <a:path w="1220" h="1474">
                <a:moveTo>
                  <a:pt x="1220" y="508"/>
                </a:moveTo>
                <a:lnTo>
                  <a:pt x="101" y="1474"/>
                </a:lnTo>
                <a:lnTo>
                  <a:pt x="0" y="0"/>
                </a:lnTo>
                <a:lnTo>
                  <a:pt x="1220" y="50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5" name=""/>
          <p:cNvSpPr/>
          <p:nvPr/>
        </p:nvSpPr>
        <p:spPr>
          <a:xfrm>
            <a:off x="14371920" y="3371760"/>
            <a:ext cx="439200" cy="530640"/>
          </a:xfrm>
          <a:custGeom>
            <a:avLst/>
            <a:gdLst/>
            <a:ahLst/>
            <a:rect l="0" t="0" r="r" b="b"/>
            <a:pathLst>
              <a:path w="1220" h="1474">
                <a:moveTo>
                  <a:pt x="1220" y="508"/>
                </a:moveTo>
                <a:lnTo>
                  <a:pt x="101" y="1474"/>
                </a:lnTo>
                <a:lnTo>
                  <a:pt x="0" y="0"/>
                </a:lnTo>
                <a:lnTo>
                  <a:pt x="1220" y="50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6" name=""/>
          <p:cNvSpPr/>
          <p:nvPr/>
        </p:nvSpPr>
        <p:spPr>
          <a:xfrm>
            <a:off x="14371920" y="3371760"/>
            <a:ext cx="439200" cy="530640"/>
          </a:xfrm>
          <a:custGeom>
            <a:avLst/>
            <a:gdLst/>
            <a:ahLst/>
            <a:rect l="0" t="0" r="r" b="b"/>
            <a:pathLst>
              <a:path w="1220" h="1474">
                <a:moveTo>
                  <a:pt x="1220" y="508"/>
                </a:moveTo>
                <a:lnTo>
                  <a:pt x="101" y="1474"/>
                </a:lnTo>
                <a:lnTo>
                  <a:pt x="0" y="0"/>
                </a:lnTo>
                <a:lnTo>
                  <a:pt x="1220" y="50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7" name=""/>
          <p:cNvSpPr/>
          <p:nvPr/>
        </p:nvSpPr>
        <p:spPr>
          <a:xfrm>
            <a:off x="14371920" y="3371760"/>
            <a:ext cx="439200" cy="530640"/>
          </a:xfrm>
          <a:custGeom>
            <a:avLst/>
            <a:gdLst/>
            <a:ahLst/>
            <a:rect l="0" t="0" r="r" b="b"/>
            <a:pathLst>
              <a:path w="1220" h="1474">
                <a:moveTo>
                  <a:pt x="1220" y="508"/>
                </a:moveTo>
                <a:lnTo>
                  <a:pt x="101" y="1474"/>
                </a:lnTo>
                <a:lnTo>
                  <a:pt x="0" y="0"/>
                </a:lnTo>
                <a:lnTo>
                  <a:pt x="1220" y="50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8" name=""/>
          <p:cNvSpPr/>
          <p:nvPr/>
        </p:nvSpPr>
        <p:spPr>
          <a:xfrm>
            <a:off x="14371920" y="3371760"/>
            <a:ext cx="439200" cy="530640"/>
          </a:xfrm>
          <a:custGeom>
            <a:avLst/>
            <a:gdLst/>
            <a:ahLst/>
            <a:rect l="0" t="0" r="r" b="b"/>
            <a:pathLst>
              <a:path w="1220" h="1474">
                <a:moveTo>
                  <a:pt x="1220" y="508"/>
                </a:moveTo>
                <a:lnTo>
                  <a:pt x="101" y="1474"/>
                </a:lnTo>
                <a:lnTo>
                  <a:pt x="0" y="0"/>
                </a:lnTo>
                <a:lnTo>
                  <a:pt x="1220" y="508"/>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9" name=""/>
          <p:cNvSpPr/>
          <p:nvPr/>
        </p:nvSpPr>
        <p:spPr>
          <a:xfrm>
            <a:off x="8810280" y="6189120"/>
            <a:ext cx="3141360" cy="1617480"/>
          </a:xfrm>
          <a:custGeom>
            <a:avLst/>
            <a:gdLst/>
            <a:ahLst/>
            <a:rect l="0" t="0" r="r" b="b"/>
            <a:pathLst>
              <a:path w="8726" h="4493">
                <a:moveTo>
                  <a:pt x="4363" y="4493"/>
                </a:moveTo>
                <a:lnTo>
                  <a:pt x="8250" y="4493"/>
                </a:lnTo>
                <a:cubicBezTo>
                  <a:pt x="8513" y="4493"/>
                  <a:pt x="8726" y="4280"/>
                  <a:pt x="8726" y="4018"/>
                </a:cubicBezTo>
                <a:lnTo>
                  <a:pt x="8726" y="476"/>
                </a:lnTo>
                <a:cubicBezTo>
                  <a:pt x="8726" y="213"/>
                  <a:pt x="8513" y="0"/>
                  <a:pt x="8250" y="0"/>
                </a:cubicBezTo>
                <a:lnTo>
                  <a:pt x="476" y="0"/>
                </a:lnTo>
                <a:cubicBezTo>
                  <a:pt x="213" y="0"/>
                  <a:pt x="0" y="213"/>
                  <a:pt x="0" y="476"/>
                </a:cubicBezTo>
                <a:lnTo>
                  <a:pt x="0" y="4018"/>
                </a:lnTo>
                <a:cubicBezTo>
                  <a:pt x="0" y="4280"/>
                  <a:pt x="213" y="4493"/>
                  <a:pt x="476" y="4493"/>
                </a:cubicBezTo>
                <a:lnTo>
                  <a:pt x="4363" y="4493"/>
                </a:lnTo>
                <a:close/>
              </a:path>
            </a:pathLst>
          </a:custGeom>
          <a:solidFill>
            <a:srgbClr val="e3e8ec"/>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60" name=""/>
          <p:cNvSpPr/>
          <p:nvPr/>
        </p:nvSpPr>
        <p:spPr>
          <a:xfrm>
            <a:off x="8810280" y="6189120"/>
            <a:ext cx="3141360" cy="1617480"/>
          </a:xfrm>
          <a:custGeom>
            <a:avLst/>
            <a:gdLst/>
            <a:ahLst/>
            <a:rect l="0" t="0" r="r" b="b"/>
            <a:pathLst>
              <a:path w="8726" h="4493">
                <a:moveTo>
                  <a:pt x="4363" y="4493"/>
                </a:moveTo>
                <a:lnTo>
                  <a:pt x="8250" y="4493"/>
                </a:lnTo>
                <a:cubicBezTo>
                  <a:pt x="8513" y="4493"/>
                  <a:pt x="8726" y="4280"/>
                  <a:pt x="8726" y="4018"/>
                </a:cubicBezTo>
                <a:lnTo>
                  <a:pt x="8726" y="476"/>
                </a:lnTo>
                <a:cubicBezTo>
                  <a:pt x="8726" y="213"/>
                  <a:pt x="8513" y="0"/>
                  <a:pt x="8250" y="0"/>
                </a:cubicBezTo>
                <a:lnTo>
                  <a:pt x="476" y="0"/>
                </a:lnTo>
                <a:cubicBezTo>
                  <a:pt x="213" y="0"/>
                  <a:pt x="0" y="213"/>
                  <a:pt x="0" y="476"/>
                </a:cubicBezTo>
                <a:lnTo>
                  <a:pt x="0" y="4018"/>
                </a:lnTo>
                <a:cubicBezTo>
                  <a:pt x="0" y="4280"/>
                  <a:pt x="213" y="4493"/>
                  <a:pt x="476" y="4493"/>
                </a:cubicBezTo>
                <a:lnTo>
                  <a:pt x="4363" y="4493"/>
                </a:lnTo>
                <a:close/>
              </a:path>
            </a:pathLst>
          </a:custGeom>
          <a:noFill/>
          <a:ln w="38160">
            <a:solidFill>
              <a:srgbClr val="3d4b58"/>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61" name=""/>
          <p:cNvSpPr txBox="1"/>
          <p:nvPr/>
        </p:nvSpPr>
        <p:spPr>
          <a:xfrm>
            <a:off x="9690840" y="6508080"/>
            <a:ext cx="141768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ACCEPTED</a:t>
            </a:r>
            <a:endParaRPr b="1" lang="en-US" sz="2020" strike="noStrike" u="none">
              <a:solidFill>
                <a:srgbClr val="1f2d3d"/>
              </a:solidFill>
              <a:effectLst/>
              <a:uFillTx/>
              <a:latin typeface="Times New Roman"/>
              <a:ea typeface="Times New Roman"/>
            </a:endParaRPr>
          </a:p>
        </p:txBody>
      </p:sp>
      <p:sp>
        <p:nvSpPr>
          <p:cNvPr id="62" name=""/>
          <p:cNvSpPr txBox="1"/>
          <p:nvPr/>
        </p:nvSpPr>
        <p:spPr>
          <a:xfrm>
            <a:off x="9614520" y="6860160"/>
            <a:ext cx="155340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WORK UNIT</a:t>
            </a:r>
            <a:endParaRPr b="1" lang="en-US" sz="2020" strike="noStrike" u="none">
              <a:solidFill>
                <a:srgbClr val="1f2d3d"/>
              </a:solidFill>
              <a:effectLst/>
              <a:uFillTx/>
              <a:latin typeface="Times New Roman"/>
              <a:ea typeface="Times New Roman"/>
            </a:endParaRPr>
          </a:p>
        </p:txBody>
      </p:sp>
      <p:sp>
        <p:nvSpPr>
          <p:cNvPr id="63" name=""/>
          <p:cNvSpPr txBox="1"/>
          <p:nvPr/>
        </p:nvSpPr>
        <p:spPr>
          <a:xfrm>
            <a:off x="9138600" y="7364160"/>
            <a:ext cx="2493360" cy="189720"/>
          </a:xfrm>
          <a:prstGeom prst="rect">
            <a:avLst/>
          </a:prstGeom>
          <a:noFill/>
          <a:ln w="0">
            <a:noFill/>
          </a:ln>
        </p:spPr>
        <p:txBody>
          <a:bodyPr wrap="none" lIns="0" rIns="0" tIns="0" bIns="0" anchor="t">
            <a:spAutoFit/>
          </a:bodyPr>
          <a:p>
            <a:r>
              <a:rPr b="0" i="1" lang="en-US" sz="1350" strike="noStrike" u="none">
                <a:solidFill>
                  <a:srgbClr val="4f5c68"/>
                </a:solidFill>
                <a:effectLst/>
                <a:uFillTx/>
                <a:latin typeface="Times New Roman"/>
              </a:rPr>
              <a:t>exact version + residual uncertainty</a:t>
            </a:r>
            <a:endParaRPr b="0" i="1" lang="en-US" sz="1350" strike="noStrike" u="none">
              <a:solidFill>
                <a:srgbClr val="4f5c68"/>
              </a:solidFill>
              <a:effectLst/>
              <a:uFillTx/>
              <a:latin typeface="Times New Roman"/>
              <a:ea typeface="Times New Roman"/>
            </a:endParaRPr>
          </a:p>
        </p:txBody>
      </p:sp>
      <p:sp>
        <p:nvSpPr>
          <p:cNvPr id="64" name=""/>
          <p:cNvSpPr/>
          <p:nvPr/>
        </p:nvSpPr>
        <p:spPr>
          <a:xfrm>
            <a:off x="4955040" y="6189120"/>
            <a:ext cx="3141360" cy="1617480"/>
          </a:xfrm>
          <a:custGeom>
            <a:avLst/>
            <a:gdLst/>
            <a:ahLst/>
            <a:rect l="0" t="0" r="r" b="b"/>
            <a:pathLst>
              <a:path w="8726" h="4493">
                <a:moveTo>
                  <a:pt x="4363" y="4493"/>
                </a:moveTo>
                <a:lnTo>
                  <a:pt x="8250" y="4493"/>
                </a:lnTo>
                <a:cubicBezTo>
                  <a:pt x="8513" y="4493"/>
                  <a:pt x="8726" y="4280"/>
                  <a:pt x="8726" y="4018"/>
                </a:cubicBezTo>
                <a:lnTo>
                  <a:pt x="8726" y="476"/>
                </a:lnTo>
                <a:cubicBezTo>
                  <a:pt x="8726" y="213"/>
                  <a:pt x="8513" y="0"/>
                  <a:pt x="8250" y="0"/>
                </a:cubicBezTo>
                <a:lnTo>
                  <a:pt x="476" y="0"/>
                </a:lnTo>
                <a:cubicBezTo>
                  <a:pt x="213" y="0"/>
                  <a:pt x="0" y="213"/>
                  <a:pt x="0" y="476"/>
                </a:cubicBezTo>
                <a:lnTo>
                  <a:pt x="0" y="4018"/>
                </a:lnTo>
                <a:cubicBezTo>
                  <a:pt x="0" y="4280"/>
                  <a:pt x="213" y="4493"/>
                  <a:pt x="476" y="4493"/>
                </a:cubicBezTo>
                <a:lnTo>
                  <a:pt x="4363" y="4493"/>
                </a:lnTo>
                <a:close/>
              </a:path>
            </a:pathLst>
          </a:custGeom>
          <a:solidFill>
            <a:srgbClr val="e3e8ec"/>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65" name=""/>
          <p:cNvSpPr/>
          <p:nvPr/>
        </p:nvSpPr>
        <p:spPr>
          <a:xfrm>
            <a:off x="4955040" y="6189120"/>
            <a:ext cx="3141360" cy="1617480"/>
          </a:xfrm>
          <a:custGeom>
            <a:avLst/>
            <a:gdLst/>
            <a:ahLst/>
            <a:rect l="0" t="0" r="r" b="b"/>
            <a:pathLst>
              <a:path w="8726" h="4493">
                <a:moveTo>
                  <a:pt x="4363" y="4493"/>
                </a:moveTo>
                <a:lnTo>
                  <a:pt x="8250" y="4493"/>
                </a:lnTo>
                <a:cubicBezTo>
                  <a:pt x="8513" y="4493"/>
                  <a:pt x="8726" y="4280"/>
                  <a:pt x="8726" y="4018"/>
                </a:cubicBezTo>
                <a:lnTo>
                  <a:pt x="8726" y="476"/>
                </a:lnTo>
                <a:cubicBezTo>
                  <a:pt x="8726" y="213"/>
                  <a:pt x="8513" y="0"/>
                  <a:pt x="8250" y="0"/>
                </a:cubicBezTo>
                <a:lnTo>
                  <a:pt x="476" y="0"/>
                </a:lnTo>
                <a:cubicBezTo>
                  <a:pt x="213" y="0"/>
                  <a:pt x="0" y="213"/>
                  <a:pt x="0" y="476"/>
                </a:cubicBezTo>
                <a:lnTo>
                  <a:pt x="0" y="4018"/>
                </a:lnTo>
                <a:cubicBezTo>
                  <a:pt x="0" y="4280"/>
                  <a:pt x="213" y="4493"/>
                  <a:pt x="476" y="4493"/>
                </a:cubicBezTo>
                <a:lnTo>
                  <a:pt x="4363" y="4493"/>
                </a:lnTo>
                <a:close/>
              </a:path>
            </a:pathLst>
          </a:custGeom>
          <a:noFill/>
          <a:ln w="38160">
            <a:solidFill>
              <a:srgbClr val="3d4b58"/>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66" name=""/>
          <p:cNvSpPr txBox="1"/>
          <p:nvPr/>
        </p:nvSpPr>
        <p:spPr>
          <a:xfrm>
            <a:off x="5759280" y="6508080"/>
            <a:ext cx="156060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EXECUTION</a:t>
            </a:r>
            <a:endParaRPr b="1" lang="en-US" sz="2020" strike="noStrike" u="none">
              <a:solidFill>
                <a:srgbClr val="1f2d3d"/>
              </a:solidFill>
              <a:effectLst/>
              <a:uFillTx/>
              <a:latin typeface="Times New Roman"/>
              <a:ea typeface="Times New Roman"/>
            </a:endParaRPr>
          </a:p>
        </p:txBody>
      </p:sp>
      <p:sp>
        <p:nvSpPr>
          <p:cNvPr id="67" name=""/>
          <p:cNvSpPr txBox="1"/>
          <p:nvPr/>
        </p:nvSpPr>
        <p:spPr>
          <a:xfrm>
            <a:off x="5968800" y="6860160"/>
            <a:ext cx="113220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DOSSIER</a:t>
            </a:r>
            <a:endParaRPr b="1" lang="en-US" sz="2020" strike="noStrike" u="none">
              <a:solidFill>
                <a:srgbClr val="1f2d3d"/>
              </a:solidFill>
              <a:effectLst/>
              <a:uFillTx/>
              <a:latin typeface="Times New Roman"/>
              <a:ea typeface="Times New Roman"/>
            </a:endParaRPr>
          </a:p>
        </p:txBody>
      </p:sp>
      <p:sp>
        <p:nvSpPr>
          <p:cNvPr id="68" name=""/>
          <p:cNvSpPr txBox="1"/>
          <p:nvPr/>
        </p:nvSpPr>
        <p:spPr>
          <a:xfrm>
            <a:off x="5578560" y="7364160"/>
            <a:ext cx="1903320" cy="189720"/>
          </a:xfrm>
          <a:prstGeom prst="rect">
            <a:avLst/>
          </a:prstGeom>
          <a:noFill/>
          <a:ln w="0">
            <a:noFill/>
          </a:ln>
        </p:spPr>
        <p:txBody>
          <a:bodyPr wrap="none" lIns="0" rIns="0" tIns="0" bIns="0" anchor="t">
            <a:spAutoFit/>
          </a:bodyPr>
          <a:p>
            <a:r>
              <a:rPr b="0" i="1" lang="en-US" sz="1350" strike="noStrike" u="none">
                <a:solidFill>
                  <a:srgbClr val="4f5c68"/>
                </a:solidFill>
                <a:effectLst/>
                <a:uFillTx/>
                <a:latin typeface="Times New Roman"/>
              </a:rPr>
              <a:t>accepted units + conditions</a:t>
            </a:r>
            <a:endParaRPr b="0" i="1" lang="en-US" sz="1350" strike="noStrike" u="none">
              <a:solidFill>
                <a:srgbClr val="4f5c68"/>
              </a:solidFill>
              <a:effectLst/>
              <a:uFillTx/>
              <a:latin typeface="Times New Roman"/>
              <a:ea typeface="Times New Roman"/>
            </a:endParaRPr>
          </a:p>
        </p:txBody>
      </p:sp>
      <p:sp>
        <p:nvSpPr>
          <p:cNvPr id="69" name=""/>
          <p:cNvSpPr/>
          <p:nvPr/>
        </p:nvSpPr>
        <p:spPr>
          <a:xfrm>
            <a:off x="1099440" y="6189120"/>
            <a:ext cx="3141720" cy="1617480"/>
          </a:xfrm>
          <a:custGeom>
            <a:avLst/>
            <a:gdLst/>
            <a:ahLst/>
            <a:rect l="0" t="0" r="r" b="b"/>
            <a:pathLst>
              <a:path w="8727" h="4493">
                <a:moveTo>
                  <a:pt x="4363" y="4493"/>
                </a:moveTo>
                <a:lnTo>
                  <a:pt x="8251" y="4493"/>
                </a:lnTo>
                <a:cubicBezTo>
                  <a:pt x="8514" y="4493"/>
                  <a:pt x="8727" y="4280"/>
                  <a:pt x="8727" y="4018"/>
                </a:cubicBezTo>
                <a:lnTo>
                  <a:pt x="8727" y="476"/>
                </a:lnTo>
                <a:cubicBezTo>
                  <a:pt x="8727" y="213"/>
                  <a:pt x="8514" y="0"/>
                  <a:pt x="8251" y="0"/>
                </a:cubicBezTo>
                <a:lnTo>
                  <a:pt x="476" y="0"/>
                </a:lnTo>
                <a:cubicBezTo>
                  <a:pt x="213" y="0"/>
                  <a:pt x="0" y="213"/>
                  <a:pt x="0" y="476"/>
                </a:cubicBezTo>
                <a:lnTo>
                  <a:pt x="0" y="4018"/>
                </a:lnTo>
                <a:cubicBezTo>
                  <a:pt x="0" y="4280"/>
                  <a:pt x="213" y="4493"/>
                  <a:pt x="476" y="4493"/>
                </a:cubicBezTo>
                <a:lnTo>
                  <a:pt x="4363" y="4493"/>
                </a:lnTo>
                <a:close/>
              </a:path>
            </a:pathLst>
          </a:custGeom>
          <a:solidFill>
            <a:srgbClr val="e3e8ec"/>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70" name=""/>
          <p:cNvSpPr/>
          <p:nvPr/>
        </p:nvSpPr>
        <p:spPr>
          <a:xfrm>
            <a:off x="1099440" y="6189120"/>
            <a:ext cx="3141720" cy="1617480"/>
          </a:xfrm>
          <a:custGeom>
            <a:avLst/>
            <a:gdLst/>
            <a:ahLst/>
            <a:rect l="0" t="0" r="r" b="b"/>
            <a:pathLst>
              <a:path w="8727" h="4493">
                <a:moveTo>
                  <a:pt x="4363" y="4493"/>
                </a:moveTo>
                <a:lnTo>
                  <a:pt x="8251" y="4493"/>
                </a:lnTo>
                <a:cubicBezTo>
                  <a:pt x="8514" y="4493"/>
                  <a:pt x="8727" y="4280"/>
                  <a:pt x="8727" y="4018"/>
                </a:cubicBezTo>
                <a:lnTo>
                  <a:pt x="8727" y="476"/>
                </a:lnTo>
                <a:cubicBezTo>
                  <a:pt x="8727" y="213"/>
                  <a:pt x="8514" y="0"/>
                  <a:pt x="8251" y="0"/>
                </a:cubicBezTo>
                <a:lnTo>
                  <a:pt x="476" y="0"/>
                </a:lnTo>
                <a:cubicBezTo>
                  <a:pt x="213" y="0"/>
                  <a:pt x="0" y="213"/>
                  <a:pt x="0" y="476"/>
                </a:cubicBezTo>
                <a:lnTo>
                  <a:pt x="0" y="4018"/>
                </a:lnTo>
                <a:cubicBezTo>
                  <a:pt x="0" y="4280"/>
                  <a:pt x="213" y="4493"/>
                  <a:pt x="476" y="4493"/>
                </a:cubicBezTo>
                <a:lnTo>
                  <a:pt x="4363" y="4493"/>
                </a:lnTo>
                <a:close/>
              </a:path>
            </a:pathLst>
          </a:custGeom>
          <a:noFill/>
          <a:ln w="38160">
            <a:solidFill>
              <a:srgbClr val="3d4b58"/>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71" name=""/>
          <p:cNvSpPr txBox="1"/>
          <p:nvPr/>
        </p:nvSpPr>
        <p:spPr>
          <a:xfrm>
            <a:off x="1960920" y="6508080"/>
            <a:ext cx="145296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CHAPTER 6</a:t>
            </a:r>
            <a:endParaRPr b="1" lang="en-US" sz="2020" strike="noStrike" u="none">
              <a:solidFill>
                <a:srgbClr val="1f2d3d"/>
              </a:solidFill>
              <a:effectLst/>
              <a:uFillTx/>
              <a:latin typeface="Times New Roman"/>
              <a:ea typeface="Times New Roman"/>
            </a:endParaRPr>
          </a:p>
        </p:txBody>
      </p:sp>
      <p:sp>
        <p:nvSpPr>
          <p:cNvPr id="72" name=""/>
          <p:cNvSpPr txBox="1"/>
          <p:nvPr/>
        </p:nvSpPr>
        <p:spPr>
          <a:xfrm>
            <a:off x="1837440" y="6860160"/>
            <a:ext cx="1694160" cy="286920"/>
          </a:xfrm>
          <a:prstGeom prst="rect">
            <a:avLst/>
          </a:prstGeom>
          <a:noFill/>
          <a:ln w="0">
            <a:noFill/>
          </a:ln>
        </p:spPr>
        <p:txBody>
          <a:bodyPr wrap="none" lIns="0" rIns="0" tIns="0" bIns="0" anchor="t">
            <a:spAutoFit/>
          </a:bodyPr>
          <a:p>
            <a:r>
              <a:rPr b="1" lang="en-US" sz="2020" strike="noStrike" u="none">
                <a:solidFill>
                  <a:srgbClr val="1f2d3d"/>
                </a:solidFill>
                <a:effectLst/>
                <a:uFillTx/>
                <a:latin typeface="Times New Roman"/>
              </a:rPr>
              <a:t>EVALUATION</a:t>
            </a:r>
            <a:endParaRPr b="1" lang="en-US" sz="2020" strike="noStrike" u="none">
              <a:solidFill>
                <a:srgbClr val="1f2d3d"/>
              </a:solidFill>
              <a:effectLst/>
              <a:uFillTx/>
              <a:latin typeface="Times New Roman"/>
              <a:ea typeface="Times New Roman"/>
            </a:endParaRPr>
          </a:p>
        </p:txBody>
      </p:sp>
      <p:sp>
        <p:nvSpPr>
          <p:cNvPr id="73" name=""/>
          <p:cNvSpPr txBox="1"/>
          <p:nvPr/>
        </p:nvSpPr>
        <p:spPr>
          <a:xfrm>
            <a:off x="1294560" y="7364160"/>
            <a:ext cx="2750400" cy="189720"/>
          </a:xfrm>
          <a:prstGeom prst="rect">
            <a:avLst/>
          </a:prstGeom>
          <a:noFill/>
          <a:ln w="0">
            <a:noFill/>
          </a:ln>
        </p:spPr>
        <p:txBody>
          <a:bodyPr wrap="none" lIns="0" rIns="0" tIns="0" bIns="0" anchor="t">
            <a:spAutoFit/>
          </a:bodyPr>
          <a:p>
            <a:r>
              <a:rPr b="0" i="1" lang="en-US" sz="1350" strike="noStrike" u="none">
                <a:solidFill>
                  <a:srgbClr val="4f5c68"/>
                </a:solidFill>
                <a:effectLst/>
                <a:uFillTx/>
                <a:latin typeface="Times New Roman"/>
              </a:rPr>
              <a:t>evidence, uncertainty + claim boundary</a:t>
            </a:r>
            <a:endParaRPr b="0" i="1" lang="en-US" sz="1350" strike="noStrike" u="none">
              <a:solidFill>
                <a:srgbClr val="4f5c68"/>
              </a:solidFill>
              <a:effectLst/>
              <a:uFillTx/>
              <a:latin typeface="Times New Roman"/>
              <a:ea typeface="Times New Roman"/>
            </a:endParaRPr>
          </a:p>
        </p:txBody>
      </p:sp>
      <p:sp>
        <p:nvSpPr>
          <p:cNvPr id="74" name=""/>
          <p:cNvSpPr/>
          <p:nvPr/>
        </p:nvSpPr>
        <p:spPr>
          <a:xfrm>
            <a:off x="11094840" y="4809600"/>
            <a:ext cx="1190160" cy="1284480"/>
          </a:xfrm>
          <a:custGeom>
            <a:avLst/>
            <a:gdLst/>
            <a:ahLst/>
            <a:rect l="0" t="0" r="r" b="b"/>
            <a:pathLst>
              <a:path fill="none" w="3306" h="3568">
                <a:moveTo>
                  <a:pt x="3306" y="0"/>
                </a:moveTo>
                <a:cubicBezTo>
                  <a:pt x="1983" y="1057"/>
                  <a:pt x="1322" y="2379"/>
                  <a:pt x="0" y="3568"/>
                </a:cubicBezTo>
              </a:path>
            </a:pathLst>
          </a:custGeom>
          <a:ln w="47520">
            <a:solidFill>
              <a:srgbClr val="284d7a"/>
            </a:solidFill>
            <a:miter/>
          </a:ln>
        </p:spPr>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75" name=""/>
          <p:cNvSpPr/>
          <p:nvPr/>
        </p:nvSpPr>
        <p:spPr>
          <a:xfrm>
            <a:off x="11059560" y="5630760"/>
            <a:ext cx="513000" cy="495000"/>
          </a:xfrm>
          <a:custGeom>
            <a:avLst/>
            <a:gdLst/>
            <a:ahLst/>
            <a:rect l="0" t="0" r="r" b="b"/>
            <a:pathLst>
              <a:path w="1425" h="1375">
                <a:moveTo>
                  <a:pt x="1425" y="982"/>
                </a:moveTo>
                <a:lnTo>
                  <a:pt x="0" y="1375"/>
                </a:lnTo>
                <a:lnTo>
                  <a:pt x="540" y="0"/>
                </a:lnTo>
                <a:lnTo>
                  <a:pt x="1425" y="98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6" name=""/>
          <p:cNvSpPr/>
          <p:nvPr/>
        </p:nvSpPr>
        <p:spPr>
          <a:xfrm>
            <a:off x="11059560" y="5630760"/>
            <a:ext cx="513000" cy="495000"/>
          </a:xfrm>
          <a:custGeom>
            <a:avLst/>
            <a:gdLst/>
            <a:ahLst/>
            <a:rect l="0" t="0" r="r" b="b"/>
            <a:pathLst>
              <a:path w="1425" h="1375">
                <a:moveTo>
                  <a:pt x="1425" y="982"/>
                </a:moveTo>
                <a:lnTo>
                  <a:pt x="0" y="1375"/>
                </a:lnTo>
                <a:lnTo>
                  <a:pt x="540" y="0"/>
                </a:lnTo>
                <a:lnTo>
                  <a:pt x="1425" y="98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7" name=""/>
          <p:cNvSpPr/>
          <p:nvPr/>
        </p:nvSpPr>
        <p:spPr>
          <a:xfrm>
            <a:off x="11059560" y="5630760"/>
            <a:ext cx="513000" cy="495000"/>
          </a:xfrm>
          <a:custGeom>
            <a:avLst/>
            <a:gdLst/>
            <a:ahLst/>
            <a:rect l="0" t="0" r="r" b="b"/>
            <a:pathLst>
              <a:path w="1425" h="1375">
                <a:moveTo>
                  <a:pt x="1425" y="982"/>
                </a:moveTo>
                <a:lnTo>
                  <a:pt x="0" y="1375"/>
                </a:lnTo>
                <a:lnTo>
                  <a:pt x="540" y="0"/>
                </a:lnTo>
                <a:lnTo>
                  <a:pt x="1425" y="98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8" name=""/>
          <p:cNvSpPr/>
          <p:nvPr/>
        </p:nvSpPr>
        <p:spPr>
          <a:xfrm>
            <a:off x="11059560" y="5630760"/>
            <a:ext cx="513000" cy="495000"/>
          </a:xfrm>
          <a:custGeom>
            <a:avLst/>
            <a:gdLst/>
            <a:ahLst/>
            <a:rect l="0" t="0" r="r" b="b"/>
            <a:pathLst>
              <a:path w="1425" h="1375">
                <a:moveTo>
                  <a:pt x="1425" y="982"/>
                </a:moveTo>
                <a:lnTo>
                  <a:pt x="0" y="1375"/>
                </a:lnTo>
                <a:lnTo>
                  <a:pt x="540" y="0"/>
                </a:lnTo>
                <a:lnTo>
                  <a:pt x="1425" y="98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79" name=""/>
          <p:cNvSpPr/>
          <p:nvPr/>
        </p:nvSpPr>
        <p:spPr>
          <a:xfrm>
            <a:off x="11059560" y="5630760"/>
            <a:ext cx="513000" cy="495000"/>
          </a:xfrm>
          <a:custGeom>
            <a:avLst/>
            <a:gdLst/>
            <a:ahLst/>
            <a:rect l="0" t="0" r="r" b="b"/>
            <a:pathLst>
              <a:path w="1425" h="1375">
                <a:moveTo>
                  <a:pt x="1425" y="982"/>
                </a:moveTo>
                <a:lnTo>
                  <a:pt x="0" y="1375"/>
                </a:lnTo>
                <a:lnTo>
                  <a:pt x="540" y="0"/>
                </a:lnTo>
                <a:lnTo>
                  <a:pt x="1425" y="98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0" name=""/>
          <p:cNvSpPr/>
          <p:nvPr/>
        </p:nvSpPr>
        <p:spPr>
          <a:xfrm>
            <a:off x="11059560" y="5630760"/>
            <a:ext cx="513000" cy="495000"/>
          </a:xfrm>
          <a:custGeom>
            <a:avLst/>
            <a:gdLst/>
            <a:ahLst/>
            <a:rect l="0" t="0" r="r" b="b"/>
            <a:pathLst>
              <a:path w="1425" h="1375">
                <a:moveTo>
                  <a:pt x="1425" y="982"/>
                </a:moveTo>
                <a:lnTo>
                  <a:pt x="0" y="1375"/>
                </a:lnTo>
                <a:lnTo>
                  <a:pt x="540" y="0"/>
                </a:lnTo>
                <a:lnTo>
                  <a:pt x="1425" y="98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1" name=""/>
          <p:cNvSpPr/>
          <p:nvPr/>
        </p:nvSpPr>
        <p:spPr>
          <a:xfrm flipH="1">
            <a:off x="8191800" y="6998040"/>
            <a:ext cx="523080" cy="0"/>
          </a:xfrm>
          <a:prstGeom prst="line">
            <a:avLst/>
          </a:prstGeom>
          <a:ln w="47520">
            <a:solidFill>
              <a:srgbClr val="284d7a"/>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82" name=""/>
          <p:cNvSpPr/>
          <p:nvPr/>
        </p:nvSpPr>
        <p:spPr>
          <a:xfrm>
            <a:off x="8144280" y="6760080"/>
            <a:ext cx="475560" cy="475920"/>
          </a:xfrm>
          <a:custGeom>
            <a:avLst/>
            <a:gdLst/>
            <a:ahLst/>
            <a:rect l="0" t="0" r="r" b="b"/>
            <a:pathLst>
              <a:path w="1321" h="1322">
                <a:moveTo>
                  <a:pt x="1321" y="1322"/>
                </a:moveTo>
                <a:lnTo>
                  <a:pt x="0" y="661"/>
                </a:lnTo>
                <a:lnTo>
                  <a:pt x="1321" y="0"/>
                </a:lnTo>
                <a:lnTo>
                  <a:pt x="1321"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3" name=""/>
          <p:cNvSpPr/>
          <p:nvPr/>
        </p:nvSpPr>
        <p:spPr>
          <a:xfrm>
            <a:off x="8144280" y="6760080"/>
            <a:ext cx="475560" cy="475920"/>
          </a:xfrm>
          <a:custGeom>
            <a:avLst/>
            <a:gdLst/>
            <a:ahLst/>
            <a:rect l="0" t="0" r="r" b="b"/>
            <a:pathLst>
              <a:path w="1321" h="1322">
                <a:moveTo>
                  <a:pt x="1321" y="1322"/>
                </a:moveTo>
                <a:lnTo>
                  <a:pt x="0" y="661"/>
                </a:lnTo>
                <a:lnTo>
                  <a:pt x="1321" y="0"/>
                </a:lnTo>
                <a:lnTo>
                  <a:pt x="1321"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4" name=""/>
          <p:cNvSpPr/>
          <p:nvPr/>
        </p:nvSpPr>
        <p:spPr>
          <a:xfrm>
            <a:off x="8144280" y="6760080"/>
            <a:ext cx="475560" cy="475920"/>
          </a:xfrm>
          <a:custGeom>
            <a:avLst/>
            <a:gdLst/>
            <a:ahLst/>
            <a:rect l="0" t="0" r="r" b="b"/>
            <a:pathLst>
              <a:path w="1321" h="1322">
                <a:moveTo>
                  <a:pt x="1321" y="1322"/>
                </a:moveTo>
                <a:lnTo>
                  <a:pt x="0" y="661"/>
                </a:lnTo>
                <a:lnTo>
                  <a:pt x="1321" y="0"/>
                </a:lnTo>
                <a:lnTo>
                  <a:pt x="1321"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5" name=""/>
          <p:cNvSpPr/>
          <p:nvPr/>
        </p:nvSpPr>
        <p:spPr>
          <a:xfrm>
            <a:off x="8144280" y="6760080"/>
            <a:ext cx="475560" cy="475920"/>
          </a:xfrm>
          <a:custGeom>
            <a:avLst/>
            <a:gdLst/>
            <a:ahLst/>
            <a:rect l="0" t="0" r="r" b="b"/>
            <a:pathLst>
              <a:path w="1321" h="1322">
                <a:moveTo>
                  <a:pt x="1321" y="1322"/>
                </a:moveTo>
                <a:lnTo>
                  <a:pt x="0" y="661"/>
                </a:lnTo>
                <a:lnTo>
                  <a:pt x="1321" y="0"/>
                </a:lnTo>
                <a:lnTo>
                  <a:pt x="1321"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6" name=""/>
          <p:cNvSpPr/>
          <p:nvPr/>
        </p:nvSpPr>
        <p:spPr>
          <a:xfrm>
            <a:off x="8144280" y="6760080"/>
            <a:ext cx="475560" cy="475920"/>
          </a:xfrm>
          <a:custGeom>
            <a:avLst/>
            <a:gdLst/>
            <a:ahLst/>
            <a:rect l="0" t="0" r="r" b="b"/>
            <a:pathLst>
              <a:path w="1321" h="1322">
                <a:moveTo>
                  <a:pt x="1321" y="1322"/>
                </a:moveTo>
                <a:lnTo>
                  <a:pt x="0" y="661"/>
                </a:lnTo>
                <a:lnTo>
                  <a:pt x="1321" y="0"/>
                </a:lnTo>
                <a:lnTo>
                  <a:pt x="1321"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7" name=""/>
          <p:cNvSpPr/>
          <p:nvPr/>
        </p:nvSpPr>
        <p:spPr>
          <a:xfrm>
            <a:off x="8144280" y="6760080"/>
            <a:ext cx="475560" cy="475920"/>
          </a:xfrm>
          <a:custGeom>
            <a:avLst/>
            <a:gdLst/>
            <a:ahLst/>
            <a:rect l="0" t="0" r="r" b="b"/>
            <a:pathLst>
              <a:path w="1321" h="1322">
                <a:moveTo>
                  <a:pt x="1321" y="1322"/>
                </a:moveTo>
                <a:lnTo>
                  <a:pt x="0" y="661"/>
                </a:lnTo>
                <a:lnTo>
                  <a:pt x="1321" y="0"/>
                </a:lnTo>
                <a:lnTo>
                  <a:pt x="1321"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8" name=""/>
          <p:cNvSpPr/>
          <p:nvPr/>
        </p:nvSpPr>
        <p:spPr>
          <a:xfrm>
            <a:off x="8144280" y="6760080"/>
            <a:ext cx="475560" cy="475920"/>
          </a:xfrm>
          <a:custGeom>
            <a:avLst/>
            <a:gdLst/>
            <a:ahLst/>
            <a:rect l="0" t="0" r="r" b="b"/>
            <a:pathLst>
              <a:path w="1321" h="1322">
                <a:moveTo>
                  <a:pt x="1321" y="1322"/>
                </a:moveTo>
                <a:lnTo>
                  <a:pt x="0" y="661"/>
                </a:lnTo>
                <a:lnTo>
                  <a:pt x="1321" y="0"/>
                </a:lnTo>
                <a:lnTo>
                  <a:pt x="1321"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89" name=""/>
          <p:cNvSpPr/>
          <p:nvPr/>
        </p:nvSpPr>
        <p:spPr>
          <a:xfrm flipH="1">
            <a:off x="4336200" y="6998040"/>
            <a:ext cx="523440" cy="0"/>
          </a:xfrm>
          <a:prstGeom prst="line">
            <a:avLst/>
          </a:prstGeom>
          <a:ln w="47520">
            <a:solidFill>
              <a:srgbClr val="284d7a"/>
            </a:solidFill>
            <a:miter/>
          </a:ln>
        </p:spPr>
        <p:style>
          <a:lnRef idx="0"/>
          <a:fillRef idx="0"/>
          <a:effectRef idx="0"/>
          <a:fontRef idx="minor"/>
        </p:style>
        <p:txBody>
          <a:bodyPr lIns="113760" rIns="113760" tIns="-68760" bIns="-68760" anchor="ctr" anchorCtr="1">
            <a:noAutofit/>
          </a:bodyPr>
          <a:p>
            <a:endParaRPr b="0" lang="en-US" sz="1800" strike="noStrike" u="none">
              <a:solidFill>
                <a:srgbClr val="000000"/>
              </a:solidFill>
              <a:effectLst/>
              <a:uFillTx/>
              <a:latin typeface="Arial"/>
            </a:endParaRPr>
          </a:p>
        </p:txBody>
      </p:sp>
      <p:sp>
        <p:nvSpPr>
          <p:cNvPr id="90" name=""/>
          <p:cNvSpPr/>
          <p:nvPr/>
        </p:nvSpPr>
        <p:spPr>
          <a:xfrm>
            <a:off x="4288680" y="6760080"/>
            <a:ext cx="475920" cy="475920"/>
          </a:xfrm>
          <a:custGeom>
            <a:avLst/>
            <a:gdLst/>
            <a:ahLst/>
            <a:rect l="0" t="0" r="r" b="b"/>
            <a:pathLst>
              <a:path w="1322" h="1322">
                <a:moveTo>
                  <a:pt x="1322" y="1322"/>
                </a:moveTo>
                <a:lnTo>
                  <a:pt x="0" y="661"/>
                </a:lnTo>
                <a:lnTo>
                  <a:pt x="1322" y="0"/>
                </a:lnTo>
                <a:lnTo>
                  <a:pt x="1322"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1" name=""/>
          <p:cNvSpPr/>
          <p:nvPr/>
        </p:nvSpPr>
        <p:spPr>
          <a:xfrm>
            <a:off x="4288680" y="6760080"/>
            <a:ext cx="475920" cy="475920"/>
          </a:xfrm>
          <a:custGeom>
            <a:avLst/>
            <a:gdLst/>
            <a:ahLst/>
            <a:rect l="0" t="0" r="r" b="b"/>
            <a:pathLst>
              <a:path w="1322" h="1322">
                <a:moveTo>
                  <a:pt x="1322" y="1322"/>
                </a:moveTo>
                <a:lnTo>
                  <a:pt x="0" y="661"/>
                </a:lnTo>
                <a:lnTo>
                  <a:pt x="1322" y="0"/>
                </a:lnTo>
                <a:lnTo>
                  <a:pt x="1322"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2" name=""/>
          <p:cNvSpPr/>
          <p:nvPr/>
        </p:nvSpPr>
        <p:spPr>
          <a:xfrm>
            <a:off x="4288680" y="6760080"/>
            <a:ext cx="475920" cy="475920"/>
          </a:xfrm>
          <a:custGeom>
            <a:avLst/>
            <a:gdLst/>
            <a:ahLst/>
            <a:rect l="0" t="0" r="r" b="b"/>
            <a:pathLst>
              <a:path w="1322" h="1322">
                <a:moveTo>
                  <a:pt x="1322" y="1322"/>
                </a:moveTo>
                <a:lnTo>
                  <a:pt x="0" y="661"/>
                </a:lnTo>
                <a:lnTo>
                  <a:pt x="1322" y="0"/>
                </a:lnTo>
                <a:lnTo>
                  <a:pt x="1322"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3" name=""/>
          <p:cNvSpPr/>
          <p:nvPr/>
        </p:nvSpPr>
        <p:spPr>
          <a:xfrm>
            <a:off x="4288680" y="6760080"/>
            <a:ext cx="475920" cy="475920"/>
          </a:xfrm>
          <a:custGeom>
            <a:avLst/>
            <a:gdLst/>
            <a:ahLst/>
            <a:rect l="0" t="0" r="r" b="b"/>
            <a:pathLst>
              <a:path w="1322" h="1322">
                <a:moveTo>
                  <a:pt x="1322" y="1322"/>
                </a:moveTo>
                <a:lnTo>
                  <a:pt x="0" y="661"/>
                </a:lnTo>
                <a:lnTo>
                  <a:pt x="1322" y="0"/>
                </a:lnTo>
                <a:lnTo>
                  <a:pt x="1322"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4" name=""/>
          <p:cNvSpPr/>
          <p:nvPr/>
        </p:nvSpPr>
        <p:spPr>
          <a:xfrm>
            <a:off x="4288680" y="6760080"/>
            <a:ext cx="475920" cy="475920"/>
          </a:xfrm>
          <a:custGeom>
            <a:avLst/>
            <a:gdLst/>
            <a:ahLst/>
            <a:rect l="0" t="0" r="r" b="b"/>
            <a:pathLst>
              <a:path w="1322" h="1322">
                <a:moveTo>
                  <a:pt x="1322" y="1322"/>
                </a:moveTo>
                <a:lnTo>
                  <a:pt x="0" y="661"/>
                </a:lnTo>
                <a:lnTo>
                  <a:pt x="1322" y="0"/>
                </a:lnTo>
                <a:lnTo>
                  <a:pt x="1322"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5" name=""/>
          <p:cNvSpPr/>
          <p:nvPr/>
        </p:nvSpPr>
        <p:spPr>
          <a:xfrm>
            <a:off x="4288680" y="6760080"/>
            <a:ext cx="475920" cy="475920"/>
          </a:xfrm>
          <a:custGeom>
            <a:avLst/>
            <a:gdLst/>
            <a:ahLst/>
            <a:rect l="0" t="0" r="r" b="b"/>
            <a:pathLst>
              <a:path w="1322" h="1322">
                <a:moveTo>
                  <a:pt x="1322" y="1322"/>
                </a:moveTo>
                <a:lnTo>
                  <a:pt x="0" y="661"/>
                </a:lnTo>
                <a:lnTo>
                  <a:pt x="1322" y="0"/>
                </a:lnTo>
                <a:lnTo>
                  <a:pt x="1322"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6" name=""/>
          <p:cNvSpPr/>
          <p:nvPr/>
        </p:nvSpPr>
        <p:spPr>
          <a:xfrm>
            <a:off x="4288680" y="6760080"/>
            <a:ext cx="475920" cy="475920"/>
          </a:xfrm>
          <a:custGeom>
            <a:avLst/>
            <a:gdLst/>
            <a:ahLst/>
            <a:rect l="0" t="0" r="r" b="b"/>
            <a:pathLst>
              <a:path w="1322" h="1322">
                <a:moveTo>
                  <a:pt x="1322" y="1322"/>
                </a:moveTo>
                <a:lnTo>
                  <a:pt x="0" y="661"/>
                </a:lnTo>
                <a:lnTo>
                  <a:pt x="1322" y="0"/>
                </a:lnTo>
                <a:lnTo>
                  <a:pt x="1322"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7" name=""/>
          <p:cNvSpPr/>
          <p:nvPr/>
        </p:nvSpPr>
        <p:spPr>
          <a:xfrm>
            <a:off x="4288680" y="6760080"/>
            <a:ext cx="475920" cy="475920"/>
          </a:xfrm>
          <a:custGeom>
            <a:avLst/>
            <a:gdLst/>
            <a:ahLst/>
            <a:rect l="0" t="0" r="r" b="b"/>
            <a:pathLst>
              <a:path w="1322" h="1322">
                <a:moveTo>
                  <a:pt x="1322" y="1322"/>
                </a:moveTo>
                <a:lnTo>
                  <a:pt x="0" y="661"/>
                </a:lnTo>
                <a:lnTo>
                  <a:pt x="1322" y="0"/>
                </a:lnTo>
                <a:lnTo>
                  <a:pt x="1322" y="1322"/>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98" name=""/>
          <p:cNvSpPr/>
          <p:nvPr/>
        </p:nvSpPr>
        <p:spPr>
          <a:xfrm>
            <a:off x="1982880" y="2859120"/>
            <a:ext cx="11539440" cy="5340960"/>
          </a:xfrm>
          <a:custGeom>
            <a:avLst/>
            <a:gdLst/>
            <a:ahLst/>
            <a:rect l="0" t="0" r="r" b="b"/>
            <a:pathLst>
              <a:path fill="none" w="32054" h="14836">
                <a:moveTo>
                  <a:pt x="32054" y="7797"/>
                </a:moveTo>
                <a:cubicBezTo>
                  <a:pt x="29674" y="15197"/>
                  <a:pt x="13545" y="15858"/>
                  <a:pt x="5612" y="13876"/>
                </a:cubicBezTo>
                <a:cubicBezTo>
                  <a:pt x="58" y="12554"/>
                  <a:pt x="-1132" y="7929"/>
                  <a:pt x="984" y="3172"/>
                </a:cubicBezTo>
                <a:cubicBezTo>
                  <a:pt x="2306" y="265"/>
                  <a:pt x="5612" y="0"/>
                  <a:pt x="8520" y="0"/>
                </a:cubicBezTo>
              </a:path>
            </a:pathLst>
          </a:custGeom>
          <a:ln w="38160">
            <a:solidFill>
              <a:srgbClr val="687b92"/>
            </a:solidFill>
            <a:miter/>
          </a:ln>
        </p:spPr>
        <p:txBody>
          <a:bodyPr lIns="109080" rIns="109080" tIns="64080" bIns="64080" anchor="ctr" anchorCtr="1">
            <a:noAutofit/>
          </a:bodyPr>
          <a:p>
            <a:endParaRPr b="0" lang="en-US" sz="1800" strike="noStrike" u="none">
              <a:solidFill>
                <a:srgbClr val="000000"/>
              </a:solidFill>
              <a:effectLst/>
              <a:uFillTx/>
              <a:latin typeface="Arial"/>
            </a:endParaRPr>
          </a:p>
        </p:txBody>
      </p:sp>
      <p:sp>
        <p:nvSpPr>
          <p:cNvPr id="99" name=""/>
          <p:cNvSpPr/>
          <p:nvPr/>
        </p:nvSpPr>
        <p:spPr>
          <a:xfrm>
            <a:off x="4707360" y="2669040"/>
            <a:ext cx="380880" cy="380520"/>
          </a:xfrm>
          <a:custGeom>
            <a:avLst/>
            <a:gdLst/>
            <a:ahLst/>
            <a:rect l="0" t="0" r="r" b="b"/>
            <a:pathLst>
              <a:path w="1058" h="1057">
                <a:moveTo>
                  <a:pt x="0" y="0"/>
                </a:moveTo>
                <a:lnTo>
                  <a:pt x="1058" y="528"/>
                </a:lnTo>
                <a:lnTo>
                  <a:pt x="0" y="1057"/>
                </a:lnTo>
                <a:lnTo>
                  <a:pt x="0" y="0"/>
                </a:lnTo>
                <a:close/>
              </a:path>
            </a:pathLst>
          </a:custGeom>
          <a:solidFill>
            <a:srgbClr val="666666"/>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100" name=""/>
          <p:cNvSpPr txBox="1"/>
          <p:nvPr/>
        </p:nvSpPr>
        <p:spPr>
          <a:xfrm>
            <a:off x="4978800" y="8401680"/>
            <a:ext cx="6644160" cy="263880"/>
          </a:xfrm>
          <a:prstGeom prst="rect">
            <a:avLst/>
          </a:prstGeom>
          <a:noFill/>
          <a:ln w="0">
            <a:noFill/>
          </a:ln>
        </p:spPr>
        <p:txBody>
          <a:bodyPr wrap="none" lIns="0" rIns="0" tIns="0" bIns="0" anchor="t">
            <a:spAutoFit/>
          </a:bodyPr>
          <a:p>
            <a:r>
              <a:rPr b="0" i="1" lang="en-US" sz="1870" strike="noStrike" u="none">
                <a:solidFill>
                  <a:srgbClr val="52667f"/>
                </a:solidFill>
                <a:effectLst/>
                <a:uFillTx/>
                <a:latin typeface="Times New Roman"/>
              </a:rPr>
              <a:t>repair, repeat, return or stop - preserve the reason and the failed state</a:t>
            </a:r>
            <a:endParaRPr b="0" i="1" lang="en-US" sz="1870" strike="noStrike" u="none">
              <a:solidFill>
                <a:srgbClr val="52667f"/>
              </a:solidFill>
              <a:effectLst/>
              <a:uFillTx/>
              <a:latin typeface="Times New Roman"/>
              <a:ea typeface="Times New Roman"/>
            </a:endParaRPr>
          </a:p>
        </p:txBody>
      </p:sp>
      <p:sp>
        <p:nvSpPr>
          <p:cNvPr id="101" name=""/>
          <p:cNvSpPr txBox="1"/>
          <p:nvPr/>
        </p:nvSpPr>
        <p:spPr>
          <a:xfrm>
            <a:off x="1694520" y="3311280"/>
            <a:ext cx="1955880" cy="210600"/>
          </a:xfrm>
          <a:prstGeom prst="rect">
            <a:avLst/>
          </a:prstGeom>
          <a:noFill/>
          <a:ln w="0">
            <a:noFill/>
          </a:ln>
        </p:spPr>
        <p:txBody>
          <a:bodyPr wrap="none" lIns="0" rIns="0" tIns="0" bIns="0" anchor="t">
            <a:spAutoFit/>
          </a:bodyPr>
          <a:p>
            <a:r>
              <a:rPr b="0" i="1" lang="en-US" sz="1500" strike="noStrike" u="none">
                <a:solidFill>
                  <a:srgbClr val="52667f"/>
                </a:solidFill>
                <a:effectLst/>
                <a:uFillTx/>
                <a:latin typeface="Times New Roman"/>
              </a:rPr>
              <a:t>new evidence may reopen</a:t>
            </a:r>
            <a:endParaRPr b="0" i="1" lang="en-US" sz="1500" strike="noStrike" u="none">
              <a:solidFill>
                <a:srgbClr val="52667f"/>
              </a:solidFill>
              <a:effectLst/>
              <a:uFillTx/>
              <a:latin typeface="Times New Roman"/>
              <a:ea typeface="Times New Roman"/>
            </a:endParaRPr>
          </a:p>
        </p:txBody>
      </p:sp>
      <p:sp>
        <p:nvSpPr>
          <p:cNvPr id="102" name=""/>
          <p:cNvSpPr txBox="1"/>
          <p:nvPr/>
        </p:nvSpPr>
        <p:spPr>
          <a:xfrm>
            <a:off x="1513800" y="3577680"/>
            <a:ext cx="2302920" cy="210600"/>
          </a:xfrm>
          <a:prstGeom prst="rect">
            <a:avLst/>
          </a:prstGeom>
          <a:noFill/>
          <a:ln w="0">
            <a:noFill/>
          </a:ln>
        </p:spPr>
        <p:txBody>
          <a:bodyPr wrap="none" lIns="0" rIns="0" tIns="0" bIns="0" anchor="t">
            <a:spAutoFit/>
          </a:bodyPr>
          <a:p>
            <a:r>
              <a:rPr b="0" i="1" lang="en-US" sz="1500" strike="noStrike" u="none">
                <a:solidFill>
                  <a:srgbClr val="52667f"/>
                </a:solidFill>
                <a:effectLst/>
                <a:uFillTx/>
                <a:latin typeface="Times New Roman"/>
              </a:rPr>
              <a:t>preparation or an earlier gate</a:t>
            </a:r>
            <a:endParaRPr b="0" i="1" lang="en-US" sz="1500" strike="noStrike" u="none">
              <a:solidFill>
                <a:srgbClr val="52667f"/>
              </a:solidFill>
              <a:effectLst/>
              <a:uFillTx/>
              <a:latin typeface="Times New Roman"/>
              <a:ea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2026-08-19T10:49:55Z</dcterms:created>
  <dc:creator/>
  <dc:description>A top-row chain moves from approved commitment through bounded work unit, frozen starting state, candidate output and inspection with local checks. A disposition box sends accepted work to an accepted work unit, Execution Dossier and Chapter 6 evaluation. A dashed return path shows that repair, repetition, missing authority or new evidence can reopen preparation or an earlier gate. The figure states that acceptance does not prove the thesis claim. Native-object PPTX generated from the canonical SVG; all text, boxes, lines, arrows and colours remain separately editable.</dc:description>
  <dc:language>en-US</dc:language>
  <cp:lastModifiedBy/>
  <dcterms:modified xsi:type="dcterms:W3CDTF">2026-08-19T10:49:55Z</dcterms:modified>
  <cp:revision>1</cp:revision>
  <dc:subject>Fully editable native drawing objects</dc:subject>
  <dc:title>Figure 5.1. Candidate-to-admission chain for one consequential work unit</dc:title>
</cp:coreProperties>
</file>