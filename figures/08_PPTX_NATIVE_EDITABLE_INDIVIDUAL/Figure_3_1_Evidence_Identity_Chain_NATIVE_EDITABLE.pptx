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7239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823027-62EB-487B-8595-57CE37C108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0A64F30-A819-46E9-BCB2-B4CA74AF851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7229160"/>
          </a:xfrm>
          <a:custGeom>
            <a:avLst/>
            <a:gdLst/>
            <a:ahLst/>
            <a:rect l="0" t="0" r="r" b="b"/>
            <a:pathLst>
              <a:path w="47598" h="20081">
                <a:moveTo>
                  <a:pt x="0" y="0"/>
                </a:moveTo>
                <a:lnTo>
                  <a:pt x="47598" y="0"/>
                </a:lnTo>
                <a:lnTo>
                  <a:pt x="47598" y="20081"/>
                </a:lnTo>
                <a:lnTo>
                  <a:pt x="0" y="200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90520" y="718200"/>
            <a:ext cx="3712680" cy="1759680"/>
          </a:xfrm>
          <a:custGeom>
            <a:avLst/>
            <a:gdLst/>
            <a:ahLst/>
            <a:rect l="0" t="0" r="r" b="b"/>
            <a:pathLst>
              <a:path w="10313" h="4888">
                <a:moveTo>
                  <a:pt x="5156" y="4888"/>
                </a:moveTo>
                <a:lnTo>
                  <a:pt x="9837" y="4888"/>
                </a:lnTo>
                <a:cubicBezTo>
                  <a:pt x="10099" y="4888"/>
                  <a:pt x="10313" y="4675"/>
                  <a:pt x="10313" y="4413"/>
                </a:cubicBezTo>
                <a:lnTo>
                  <a:pt x="10313" y="476"/>
                </a:lnTo>
                <a:cubicBezTo>
                  <a:pt x="10313" y="213"/>
                  <a:pt x="10099" y="0"/>
                  <a:pt x="983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3" y="4888"/>
                  <a:pt x="476" y="4888"/>
                </a:cubicBezTo>
                <a:lnTo>
                  <a:pt x="5156" y="4888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90520" y="718200"/>
            <a:ext cx="3712680" cy="1759680"/>
          </a:xfrm>
          <a:custGeom>
            <a:avLst/>
            <a:gdLst/>
            <a:ahLst/>
            <a:rect l="0" t="0" r="r" b="b"/>
            <a:pathLst>
              <a:path w="10313" h="4888">
                <a:moveTo>
                  <a:pt x="5156" y="4888"/>
                </a:moveTo>
                <a:lnTo>
                  <a:pt x="9837" y="4888"/>
                </a:lnTo>
                <a:cubicBezTo>
                  <a:pt x="10099" y="4888"/>
                  <a:pt x="10313" y="4675"/>
                  <a:pt x="10313" y="4413"/>
                </a:cubicBezTo>
                <a:lnTo>
                  <a:pt x="10313" y="476"/>
                </a:lnTo>
                <a:cubicBezTo>
                  <a:pt x="10313" y="213"/>
                  <a:pt x="10099" y="0"/>
                  <a:pt x="983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3" y="4888"/>
                  <a:pt x="476" y="4888"/>
                </a:cubicBezTo>
                <a:lnTo>
                  <a:pt x="5156" y="488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51840" y="1008360"/>
            <a:ext cx="23702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DOCUMENTED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847080" y="1436400"/>
            <a:ext cx="25790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ROUTE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275480" y="1950120"/>
            <a:ext cx="1751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query, system, date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4431600" y="718200"/>
            <a:ext cx="3712680" cy="1759680"/>
          </a:xfrm>
          <a:custGeom>
            <a:avLst/>
            <a:gdLst/>
            <a:ahLst/>
            <a:rect l="0" t="0" r="r" b="b"/>
            <a:pathLst>
              <a:path w="10313" h="4888">
                <a:moveTo>
                  <a:pt x="5156" y="4888"/>
                </a:moveTo>
                <a:lnTo>
                  <a:pt x="9837" y="4888"/>
                </a:lnTo>
                <a:cubicBezTo>
                  <a:pt x="10099" y="4888"/>
                  <a:pt x="10313" y="4675"/>
                  <a:pt x="10313" y="4413"/>
                </a:cubicBezTo>
                <a:lnTo>
                  <a:pt x="10313" y="476"/>
                </a:lnTo>
                <a:cubicBezTo>
                  <a:pt x="10313" y="213"/>
                  <a:pt x="10099" y="0"/>
                  <a:pt x="983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3" y="4888"/>
                  <a:pt x="476" y="4888"/>
                </a:cubicBezTo>
                <a:lnTo>
                  <a:pt x="5156" y="4888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431600" y="718200"/>
            <a:ext cx="3712680" cy="1759680"/>
          </a:xfrm>
          <a:custGeom>
            <a:avLst/>
            <a:gdLst/>
            <a:ahLst/>
            <a:rect l="0" t="0" r="r" b="b"/>
            <a:pathLst>
              <a:path w="10313" h="4888">
                <a:moveTo>
                  <a:pt x="5156" y="4888"/>
                </a:moveTo>
                <a:lnTo>
                  <a:pt x="9837" y="4888"/>
                </a:lnTo>
                <a:cubicBezTo>
                  <a:pt x="10099" y="4888"/>
                  <a:pt x="10313" y="4675"/>
                  <a:pt x="10313" y="4413"/>
                </a:cubicBezTo>
                <a:lnTo>
                  <a:pt x="10313" y="476"/>
                </a:lnTo>
                <a:cubicBezTo>
                  <a:pt x="10313" y="213"/>
                  <a:pt x="10099" y="0"/>
                  <a:pt x="9837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3" y="4888"/>
                  <a:pt x="476" y="4888"/>
                </a:cubicBezTo>
                <a:lnTo>
                  <a:pt x="5156" y="488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321520" y="1008360"/>
            <a:ext cx="1931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DISCOVERY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587920" y="1436400"/>
            <a:ext cx="1400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559480" y="1950120"/>
            <a:ext cx="1455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candidate status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8572680" y="718200"/>
            <a:ext cx="3712320" cy="1759680"/>
          </a:xfrm>
          <a:custGeom>
            <a:avLst/>
            <a:gdLst/>
            <a:ahLst/>
            <a:rect l="0" t="0" r="r" b="b"/>
            <a:pathLst>
              <a:path w="10312" h="4888">
                <a:moveTo>
                  <a:pt x="5155" y="4888"/>
                </a:moveTo>
                <a:lnTo>
                  <a:pt x="9836" y="4888"/>
                </a:lnTo>
                <a:cubicBezTo>
                  <a:pt x="10098" y="4888"/>
                  <a:pt x="10312" y="4675"/>
                  <a:pt x="10312" y="4413"/>
                </a:cubicBezTo>
                <a:lnTo>
                  <a:pt x="10312" y="476"/>
                </a:lnTo>
                <a:cubicBezTo>
                  <a:pt x="10312" y="213"/>
                  <a:pt x="10098" y="0"/>
                  <a:pt x="9836" y="0"/>
                </a:cubicBezTo>
                <a:lnTo>
                  <a:pt x="474" y="0"/>
                </a:lnTo>
                <a:cubicBezTo>
                  <a:pt x="212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2" y="4888"/>
                  <a:pt x="474" y="4888"/>
                </a:cubicBezTo>
                <a:lnTo>
                  <a:pt x="5155" y="4888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572680" y="718200"/>
            <a:ext cx="3712320" cy="1759680"/>
          </a:xfrm>
          <a:custGeom>
            <a:avLst/>
            <a:gdLst/>
            <a:ahLst/>
            <a:rect l="0" t="0" r="r" b="b"/>
            <a:pathLst>
              <a:path w="10312" h="4888">
                <a:moveTo>
                  <a:pt x="5155" y="4888"/>
                </a:moveTo>
                <a:lnTo>
                  <a:pt x="9836" y="4888"/>
                </a:lnTo>
                <a:cubicBezTo>
                  <a:pt x="10098" y="4888"/>
                  <a:pt x="10312" y="4675"/>
                  <a:pt x="10312" y="4413"/>
                </a:cubicBezTo>
                <a:lnTo>
                  <a:pt x="10312" y="476"/>
                </a:lnTo>
                <a:cubicBezTo>
                  <a:pt x="10312" y="213"/>
                  <a:pt x="10098" y="0"/>
                  <a:pt x="9836" y="0"/>
                </a:cubicBezTo>
                <a:lnTo>
                  <a:pt x="474" y="0"/>
                </a:lnTo>
                <a:cubicBezTo>
                  <a:pt x="212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2" y="4888"/>
                  <a:pt x="474" y="4888"/>
                </a:cubicBezTo>
                <a:lnTo>
                  <a:pt x="5155" y="488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633600" y="1008360"/>
            <a:ext cx="158040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VERIFIED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062280" y="1436400"/>
            <a:ext cx="27219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SOURCE OBJECT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9414720" y="1950120"/>
            <a:ext cx="2017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identity, status, access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2713040" y="718200"/>
            <a:ext cx="4141080" cy="1759680"/>
          </a:xfrm>
          <a:custGeom>
            <a:avLst/>
            <a:gdLst/>
            <a:ahLst/>
            <a:rect l="0" t="0" r="r" b="b"/>
            <a:pathLst>
              <a:path w="11503" h="4888">
                <a:moveTo>
                  <a:pt x="5752" y="4888"/>
                </a:moveTo>
                <a:lnTo>
                  <a:pt x="11027" y="4888"/>
                </a:lnTo>
                <a:cubicBezTo>
                  <a:pt x="11290" y="4888"/>
                  <a:pt x="11503" y="4675"/>
                  <a:pt x="11503" y="4413"/>
                </a:cubicBezTo>
                <a:lnTo>
                  <a:pt x="11503" y="476"/>
                </a:lnTo>
                <a:cubicBezTo>
                  <a:pt x="11503" y="213"/>
                  <a:pt x="11290" y="0"/>
                  <a:pt x="11027" y="0"/>
                </a:cubicBezTo>
                <a:lnTo>
                  <a:pt x="476" y="0"/>
                </a:lnTo>
                <a:cubicBezTo>
                  <a:pt x="214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4" y="4888"/>
                  <a:pt x="476" y="4888"/>
                </a:cubicBezTo>
                <a:lnTo>
                  <a:pt x="5752" y="4888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2713040" y="718200"/>
            <a:ext cx="4141080" cy="1759680"/>
          </a:xfrm>
          <a:custGeom>
            <a:avLst/>
            <a:gdLst/>
            <a:ahLst/>
            <a:rect l="0" t="0" r="r" b="b"/>
            <a:pathLst>
              <a:path w="11503" h="4888">
                <a:moveTo>
                  <a:pt x="5752" y="4888"/>
                </a:moveTo>
                <a:lnTo>
                  <a:pt x="11027" y="4888"/>
                </a:lnTo>
                <a:cubicBezTo>
                  <a:pt x="11290" y="4888"/>
                  <a:pt x="11503" y="4675"/>
                  <a:pt x="11503" y="4413"/>
                </a:cubicBezTo>
                <a:lnTo>
                  <a:pt x="11503" y="476"/>
                </a:lnTo>
                <a:cubicBezTo>
                  <a:pt x="11503" y="213"/>
                  <a:pt x="11290" y="0"/>
                  <a:pt x="11027" y="0"/>
                </a:cubicBezTo>
                <a:lnTo>
                  <a:pt x="476" y="0"/>
                </a:lnTo>
                <a:cubicBezTo>
                  <a:pt x="214" y="0"/>
                  <a:pt x="0" y="213"/>
                  <a:pt x="0" y="476"/>
                </a:cubicBezTo>
                <a:lnTo>
                  <a:pt x="0" y="4413"/>
                </a:lnTo>
                <a:cubicBezTo>
                  <a:pt x="0" y="4675"/>
                  <a:pt x="214" y="4888"/>
                  <a:pt x="476" y="4888"/>
                </a:cubicBezTo>
                <a:lnTo>
                  <a:pt x="5752" y="4888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3984200" y="1008360"/>
            <a:ext cx="1598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3708080" y="1436400"/>
            <a:ext cx="21603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RESOLUTION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3822200" y="1893240"/>
            <a:ext cx="193176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publication(s) → study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3393800" y="2149920"/>
            <a:ext cx="277920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version(s) → authoritative object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003200" y="1602720"/>
            <a:ext cx="30456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78396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144280" y="1602720"/>
            <a:ext cx="30456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92504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92504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2285000" y="1602720"/>
            <a:ext cx="30456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206576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206576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065760" y="129384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0" y="0"/>
                </a:moveTo>
                <a:lnTo>
                  <a:pt x="1719" y="858"/>
                </a:lnTo>
                <a:lnTo>
                  <a:pt x="0" y="171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9905040" y="3666600"/>
            <a:ext cx="4759560" cy="1807560"/>
          </a:xfrm>
          <a:custGeom>
            <a:avLst/>
            <a:gdLst/>
            <a:ahLst/>
            <a:rect l="0" t="0" r="r" b="b"/>
            <a:pathLst>
              <a:path w="13221" h="5021">
                <a:moveTo>
                  <a:pt x="6611" y="5021"/>
                </a:moveTo>
                <a:lnTo>
                  <a:pt x="12745" y="5021"/>
                </a:lnTo>
                <a:cubicBezTo>
                  <a:pt x="13008" y="5021"/>
                  <a:pt x="13221" y="4808"/>
                  <a:pt x="13221" y="4545"/>
                </a:cubicBezTo>
                <a:lnTo>
                  <a:pt x="13221" y="476"/>
                </a:lnTo>
                <a:cubicBezTo>
                  <a:pt x="13221" y="213"/>
                  <a:pt x="13008" y="0"/>
                  <a:pt x="1274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6611" y="5021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9905040" y="3666600"/>
            <a:ext cx="4759560" cy="1807560"/>
          </a:xfrm>
          <a:custGeom>
            <a:avLst/>
            <a:gdLst/>
            <a:ahLst/>
            <a:rect l="0" t="0" r="r" b="b"/>
            <a:pathLst>
              <a:path w="13221" h="5021">
                <a:moveTo>
                  <a:pt x="6611" y="5021"/>
                </a:moveTo>
                <a:lnTo>
                  <a:pt x="12745" y="5021"/>
                </a:lnTo>
                <a:cubicBezTo>
                  <a:pt x="13008" y="5021"/>
                  <a:pt x="13221" y="4808"/>
                  <a:pt x="13221" y="4545"/>
                </a:cubicBezTo>
                <a:lnTo>
                  <a:pt x="13221" y="476"/>
                </a:lnTo>
                <a:cubicBezTo>
                  <a:pt x="13221" y="213"/>
                  <a:pt x="13008" y="0"/>
                  <a:pt x="1274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6611" y="5021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461960" y="4099320"/>
            <a:ext cx="35978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READ AND APPRAISED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833120" y="4708080"/>
            <a:ext cx="2876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anchored note · method · limits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955040" y="3666600"/>
            <a:ext cx="4759560" cy="1807560"/>
          </a:xfrm>
          <a:custGeom>
            <a:avLst/>
            <a:gdLst/>
            <a:ahLst/>
            <a:rect l="0" t="0" r="r" b="b"/>
            <a:pathLst>
              <a:path w="13221" h="5021">
                <a:moveTo>
                  <a:pt x="6611" y="5021"/>
                </a:moveTo>
                <a:lnTo>
                  <a:pt x="12745" y="5021"/>
                </a:lnTo>
                <a:cubicBezTo>
                  <a:pt x="13008" y="5021"/>
                  <a:pt x="13221" y="4808"/>
                  <a:pt x="13221" y="4545"/>
                </a:cubicBezTo>
                <a:lnTo>
                  <a:pt x="13221" y="476"/>
                </a:lnTo>
                <a:cubicBezTo>
                  <a:pt x="13221" y="213"/>
                  <a:pt x="13008" y="0"/>
                  <a:pt x="1274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6611" y="5021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955040" y="3666600"/>
            <a:ext cx="4759560" cy="1807560"/>
          </a:xfrm>
          <a:custGeom>
            <a:avLst/>
            <a:gdLst/>
            <a:ahLst/>
            <a:rect l="0" t="0" r="r" b="b"/>
            <a:pathLst>
              <a:path w="13221" h="5021">
                <a:moveTo>
                  <a:pt x="6611" y="5021"/>
                </a:moveTo>
                <a:lnTo>
                  <a:pt x="12745" y="5021"/>
                </a:lnTo>
                <a:cubicBezTo>
                  <a:pt x="13008" y="5021"/>
                  <a:pt x="13221" y="4808"/>
                  <a:pt x="13221" y="4545"/>
                </a:cubicBezTo>
                <a:lnTo>
                  <a:pt x="13221" y="476"/>
                </a:lnTo>
                <a:cubicBezTo>
                  <a:pt x="13221" y="213"/>
                  <a:pt x="13008" y="0"/>
                  <a:pt x="12745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6611" y="5021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178600" y="4099320"/>
            <a:ext cx="42926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CLAIM-LINKED EVIDENCE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330880" y="4708080"/>
            <a:ext cx="3988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support · context · contradiction · unknown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90520" y="3666600"/>
            <a:ext cx="4283640" cy="1807560"/>
          </a:xfrm>
          <a:custGeom>
            <a:avLst/>
            <a:gdLst/>
            <a:ahLst/>
            <a:rect l="0" t="0" r="r" b="b"/>
            <a:pathLst>
              <a:path w="11899" h="5021">
                <a:moveTo>
                  <a:pt x="5949" y="5021"/>
                </a:moveTo>
                <a:lnTo>
                  <a:pt x="11423" y="5021"/>
                </a:lnTo>
                <a:cubicBezTo>
                  <a:pt x="11686" y="5021"/>
                  <a:pt x="11899" y="4808"/>
                  <a:pt x="11899" y="4545"/>
                </a:cubicBezTo>
                <a:lnTo>
                  <a:pt x="11899" y="476"/>
                </a:lnTo>
                <a:cubicBezTo>
                  <a:pt x="11899" y="213"/>
                  <a:pt x="11686" y="0"/>
                  <a:pt x="11423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5949" y="5021"/>
                </a:lnTo>
                <a:close/>
              </a:path>
            </a:pathLst>
          </a:custGeom>
          <a:solidFill>
            <a:srgbClr val="deded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90520" y="3666600"/>
            <a:ext cx="4283640" cy="1807560"/>
          </a:xfrm>
          <a:custGeom>
            <a:avLst/>
            <a:gdLst/>
            <a:ahLst/>
            <a:rect l="0" t="0" r="r" b="b"/>
            <a:pathLst>
              <a:path w="11899" h="5021">
                <a:moveTo>
                  <a:pt x="5949" y="5021"/>
                </a:moveTo>
                <a:lnTo>
                  <a:pt x="11423" y="5021"/>
                </a:lnTo>
                <a:cubicBezTo>
                  <a:pt x="11686" y="5021"/>
                  <a:pt x="11899" y="4808"/>
                  <a:pt x="11899" y="4545"/>
                </a:cubicBezTo>
                <a:lnTo>
                  <a:pt x="11899" y="476"/>
                </a:lnTo>
                <a:cubicBezTo>
                  <a:pt x="11899" y="213"/>
                  <a:pt x="11686" y="0"/>
                  <a:pt x="11423" y="0"/>
                </a:cubicBezTo>
                <a:lnTo>
                  <a:pt x="476" y="0"/>
                </a:lnTo>
                <a:cubicBezTo>
                  <a:pt x="213" y="0"/>
                  <a:pt x="0" y="213"/>
                  <a:pt x="0" y="476"/>
                </a:cubicBezTo>
                <a:lnTo>
                  <a:pt x="0" y="4545"/>
                </a:lnTo>
                <a:cubicBezTo>
                  <a:pt x="0" y="4808"/>
                  <a:pt x="213" y="5021"/>
                  <a:pt x="476" y="5021"/>
                </a:cubicBezTo>
                <a:lnTo>
                  <a:pt x="5949" y="5021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37720" y="4099320"/>
            <a:ext cx="31885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PROJECT DECISION</a:t>
            </a:r>
            <a:endParaRPr b="1" lang="en-US" sz="25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428120" y="4708080"/>
            <a:ext cx="1993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retain · revise · return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2285000" y="2572920"/>
            <a:ext cx="2494080" cy="989280"/>
          </a:xfrm>
          <a:custGeom>
            <a:avLst/>
            <a:gdLst/>
            <a:ahLst/>
            <a:rect l="0" t="0" r="r" b="b"/>
            <a:pathLst>
              <a:path fill="none" w="6928" h="2748">
                <a:moveTo>
                  <a:pt x="6928" y="0"/>
                </a:moveTo>
                <a:lnTo>
                  <a:pt x="6928" y="1586"/>
                </a:lnTo>
                <a:lnTo>
                  <a:pt x="0" y="2748"/>
                </a:ln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2191040" y="3170880"/>
            <a:ext cx="661320" cy="609480"/>
          </a:xfrm>
          <a:custGeom>
            <a:avLst/>
            <a:gdLst/>
            <a:ahLst/>
            <a:rect l="0" t="0" r="r" b="b"/>
            <a:pathLst>
              <a:path w="1837" h="1693">
                <a:moveTo>
                  <a:pt x="1837" y="1693"/>
                </a:moveTo>
                <a:lnTo>
                  <a:pt x="0" y="1131"/>
                </a:lnTo>
                <a:lnTo>
                  <a:pt x="1552" y="0"/>
                </a:lnTo>
                <a:lnTo>
                  <a:pt x="1837" y="169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2191040" y="3170880"/>
            <a:ext cx="661320" cy="609480"/>
          </a:xfrm>
          <a:custGeom>
            <a:avLst/>
            <a:gdLst/>
            <a:ahLst/>
            <a:rect l="0" t="0" r="r" b="b"/>
            <a:pathLst>
              <a:path w="1837" h="1693">
                <a:moveTo>
                  <a:pt x="1837" y="1693"/>
                </a:moveTo>
                <a:lnTo>
                  <a:pt x="0" y="1131"/>
                </a:lnTo>
                <a:lnTo>
                  <a:pt x="1552" y="0"/>
                </a:lnTo>
                <a:lnTo>
                  <a:pt x="1837" y="169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2191040" y="3170880"/>
            <a:ext cx="661320" cy="609480"/>
          </a:xfrm>
          <a:custGeom>
            <a:avLst/>
            <a:gdLst/>
            <a:ahLst/>
            <a:rect l="0" t="0" r="r" b="b"/>
            <a:pathLst>
              <a:path w="1837" h="1693">
                <a:moveTo>
                  <a:pt x="1837" y="1693"/>
                </a:moveTo>
                <a:lnTo>
                  <a:pt x="0" y="1131"/>
                </a:lnTo>
                <a:lnTo>
                  <a:pt x="1552" y="0"/>
                </a:lnTo>
                <a:lnTo>
                  <a:pt x="1837" y="169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2191040" y="3170880"/>
            <a:ext cx="661320" cy="609480"/>
          </a:xfrm>
          <a:custGeom>
            <a:avLst/>
            <a:gdLst/>
            <a:ahLst/>
            <a:rect l="0" t="0" r="r" b="b"/>
            <a:pathLst>
              <a:path w="1837" h="1693">
                <a:moveTo>
                  <a:pt x="1837" y="1693"/>
                </a:moveTo>
                <a:lnTo>
                  <a:pt x="0" y="1131"/>
                </a:lnTo>
                <a:lnTo>
                  <a:pt x="1552" y="0"/>
                </a:lnTo>
                <a:lnTo>
                  <a:pt x="1837" y="1693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9657360" y="4570200"/>
            <a:ext cx="1522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562320" y="4261320"/>
            <a:ext cx="618480" cy="618120"/>
          </a:xfrm>
          <a:custGeom>
            <a:avLst/>
            <a:gdLst/>
            <a:ahLst/>
            <a:rect l="0" t="0" r="r" b="b"/>
            <a:pathLst>
              <a:path w="1718" h="1717">
                <a:moveTo>
                  <a:pt x="1718" y="1717"/>
                </a:moveTo>
                <a:lnTo>
                  <a:pt x="0" y="858"/>
                </a:lnTo>
                <a:lnTo>
                  <a:pt x="1718" y="0"/>
                </a:lnTo>
                <a:lnTo>
                  <a:pt x="1718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562320" y="4261320"/>
            <a:ext cx="618480" cy="618120"/>
          </a:xfrm>
          <a:custGeom>
            <a:avLst/>
            <a:gdLst/>
            <a:ahLst/>
            <a:rect l="0" t="0" r="r" b="b"/>
            <a:pathLst>
              <a:path w="1718" h="1717">
                <a:moveTo>
                  <a:pt x="1718" y="1717"/>
                </a:moveTo>
                <a:lnTo>
                  <a:pt x="0" y="858"/>
                </a:lnTo>
                <a:lnTo>
                  <a:pt x="1718" y="0"/>
                </a:lnTo>
                <a:lnTo>
                  <a:pt x="1718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562320" y="4261320"/>
            <a:ext cx="618480" cy="618120"/>
          </a:xfrm>
          <a:custGeom>
            <a:avLst/>
            <a:gdLst/>
            <a:ahLst/>
            <a:rect l="0" t="0" r="r" b="b"/>
            <a:pathLst>
              <a:path w="1718" h="1717">
                <a:moveTo>
                  <a:pt x="1718" y="1717"/>
                </a:moveTo>
                <a:lnTo>
                  <a:pt x="0" y="858"/>
                </a:lnTo>
                <a:lnTo>
                  <a:pt x="1718" y="0"/>
                </a:lnTo>
                <a:lnTo>
                  <a:pt x="1718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562320" y="4261320"/>
            <a:ext cx="618480" cy="618120"/>
          </a:xfrm>
          <a:custGeom>
            <a:avLst/>
            <a:gdLst/>
            <a:ahLst/>
            <a:rect l="0" t="0" r="r" b="b"/>
            <a:pathLst>
              <a:path w="1718" h="1717">
                <a:moveTo>
                  <a:pt x="1718" y="1717"/>
                </a:moveTo>
                <a:lnTo>
                  <a:pt x="0" y="858"/>
                </a:lnTo>
                <a:lnTo>
                  <a:pt x="1718" y="0"/>
                </a:lnTo>
                <a:lnTo>
                  <a:pt x="1718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562320" y="4261320"/>
            <a:ext cx="618480" cy="618120"/>
          </a:xfrm>
          <a:custGeom>
            <a:avLst/>
            <a:gdLst/>
            <a:ahLst/>
            <a:rect l="0" t="0" r="r" b="b"/>
            <a:pathLst>
              <a:path w="1718" h="1717">
                <a:moveTo>
                  <a:pt x="1718" y="1717"/>
                </a:moveTo>
                <a:lnTo>
                  <a:pt x="0" y="858"/>
                </a:lnTo>
                <a:lnTo>
                  <a:pt x="1718" y="0"/>
                </a:lnTo>
                <a:lnTo>
                  <a:pt x="1718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4707360" y="4570200"/>
            <a:ext cx="152280" cy="0"/>
          </a:xfrm>
          <a:prstGeom prst="line">
            <a:avLst/>
          </a:prstGeom>
          <a:ln w="4752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3760" rIns="113760" tIns="-68760" bIns="-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612320" y="4261320"/>
            <a:ext cx="618840" cy="618120"/>
          </a:xfrm>
          <a:custGeom>
            <a:avLst/>
            <a:gdLst/>
            <a:ahLst/>
            <a:rect l="0" t="0" r="r" b="b"/>
            <a:pathLst>
              <a:path w="1719" h="1717">
                <a:moveTo>
                  <a:pt x="1719" y="1717"/>
                </a:moveTo>
                <a:lnTo>
                  <a:pt x="0" y="858"/>
                </a:lnTo>
                <a:lnTo>
                  <a:pt x="1719" y="0"/>
                </a:lnTo>
                <a:lnTo>
                  <a:pt x="1719" y="171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27600" y="2649240"/>
            <a:ext cx="1204560" cy="3391200"/>
          </a:xfrm>
          <a:custGeom>
            <a:avLst/>
            <a:gdLst/>
            <a:ahLst/>
            <a:rect l="0" t="0" r="r" b="b"/>
            <a:pathLst>
              <a:path fill="none" w="3346" h="9420">
                <a:moveTo>
                  <a:pt x="3346" y="8243"/>
                </a:moveTo>
                <a:cubicBezTo>
                  <a:pt x="834" y="11149"/>
                  <a:pt x="-1414" y="8771"/>
                  <a:pt x="1099" y="0"/>
                </a:cubicBezTo>
              </a:path>
            </a:pathLst>
          </a:custGeom>
          <a:ln w="38160">
            <a:solidFill>
              <a:srgbClr val="777777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270080" y="2576160"/>
            <a:ext cx="475920" cy="543600"/>
          </a:xfrm>
          <a:custGeom>
            <a:avLst/>
            <a:gdLst/>
            <a:ahLst/>
            <a:rect l="0" t="0" r="r" b="b"/>
            <a:pathLst>
              <a:path w="1322" h="1510">
                <a:moveTo>
                  <a:pt x="0" y="1132"/>
                </a:moveTo>
                <a:lnTo>
                  <a:pt x="1039" y="0"/>
                </a:lnTo>
                <a:lnTo>
                  <a:pt x="1322" y="1510"/>
                </a:lnTo>
                <a:lnTo>
                  <a:pt x="0" y="1132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780200" y="6420600"/>
            <a:ext cx="54540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1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may reopen the search or Problem Gate</a:t>
            </a:r>
            <a:endParaRPr b="0" i="1" lang="en-US" sz="21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968800" y="76320"/>
            <a:ext cx="5244480" cy="315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2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identity is resolved before evidence is counted</a:t>
            </a:r>
            <a:endParaRPr b="0" i="1" lang="en-US" sz="22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2026-08-19T10:49:50Z</dcterms:created>
  <dc:creator>Antonio Clim and Martino Aldrigo</dc:creator>
  <dc:description>A seven-stage chain moves from a documented search route to a discovery record, verified source object, identity resolution, reading and appraisal, claim-linked evidence and a project decision. Identity resolution maps related publications to one study or versions to an authoritative object. A dashed feedback path shows that evidence may reopen the search or Problem Gate. Native-object PPTX generated from the canonical SVG; all text, boxes, lines, arrows and colours remain separately editable.</dc:description>
  <dc:language>en-US</dc:language>
  <cp:lastModifiedBy/>
  <dcterms:modified xsi:type="dcterms:W3CDTF">2026-08-19T10:49:50Z</dcterms:modified>
  <cp:revision>1</cp:revision>
  <dc:subject>Fully editable native drawing objects</dc:subject>
  <dc:title>Figure 3.1. From discovery record to claim-linked evidence and project decision</dc:title>
</cp:coreProperties>
</file>