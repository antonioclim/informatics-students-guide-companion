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4608513" cy="28797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5DD0E8-706D-4E0A-A390-8BDD0E7938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34C7DFF-AAD0-447F-B58F-39AFA250464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72_BG_TITLE"/>
          <p:cNvSpPr/>
          <p:nvPr/>
        </p:nvSpPr>
        <p:spPr>
          <a:xfrm>
            <a:off x="0" y="360"/>
            <a:ext cx="4608000" cy="2592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F72_NODE_SECTION_BAND"/>
          <p:cNvSpPr/>
          <p:nvPr/>
        </p:nvSpPr>
        <p:spPr>
          <a:xfrm>
            <a:off x="126000" y="360360"/>
            <a:ext cx="4356000" cy="558000"/>
          </a:xfrm>
          <a:prstGeom prst="rect">
            <a:avLst/>
          </a:prstGeom>
          <a:solidFill>
            <a:srgbClr val="f3f4f6"/>
          </a:solidFill>
          <a:ln w="9000">
            <a:solidFill>
              <a:srgbClr val="666666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F72_NODE_PARAGRAPH_BAND"/>
          <p:cNvSpPr/>
          <p:nvPr/>
        </p:nvSpPr>
        <p:spPr>
          <a:xfrm>
            <a:off x="126000" y="1209960"/>
            <a:ext cx="4356000" cy="583200"/>
          </a:xfrm>
          <a:prstGeom prst="rect">
            <a:avLst/>
          </a:prstGeom>
          <a:solidFill>
            <a:srgbClr val="f3f4f6"/>
          </a:solidFill>
          <a:ln w="9000">
            <a:solidFill>
              <a:srgbClr val="666666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" name="F72_CONN_SECTION_1_2"/>
          <p:cNvCxnSpPr>
            <a:stCxn id="11" idx="3"/>
            <a:endCxn id="12" idx="1"/>
          </p:cNvCxnSpPr>
          <p:nvPr/>
        </p:nvCxnSpPr>
        <p:spPr>
          <a:xfrm>
            <a:off x="954000" y="687960"/>
            <a:ext cx="54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3" name="F72_CONN_SECTION_2_3"/>
          <p:cNvCxnSpPr>
            <a:stCxn id="12" idx="3"/>
            <a:endCxn id="14" idx="1"/>
          </p:cNvCxnSpPr>
          <p:nvPr/>
        </p:nvCxnSpPr>
        <p:spPr>
          <a:xfrm>
            <a:off x="1818000" y="687960"/>
            <a:ext cx="54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5" name="F72_CONN_SECTION_3_4"/>
          <p:cNvCxnSpPr>
            <a:stCxn id="14" idx="3"/>
            <a:endCxn id="16" idx="1"/>
          </p:cNvCxnSpPr>
          <p:nvPr/>
        </p:nvCxnSpPr>
        <p:spPr>
          <a:xfrm>
            <a:off x="2682000" y="687960"/>
            <a:ext cx="54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7" name="F72_CONN_SECTION_4_5"/>
          <p:cNvCxnSpPr>
            <a:stCxn id="16" idx="3"/>
            <a:endCxn id="18" idx="1"/>
          </p:cNvCxnSpPr>
          <p:nvPr/>
        </p:nvCxnSpPr>
        <p:spPr>
          <a:xfrm>
            <a:off x="3546000" y="687960"/>
            <a:ext cx="54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9" name="F72_CONN_PARAGRAPH_1_2"/>
          <p:cNvCxnSpPr>
            <a:stCxn id="20" idx="3"/>
            <a:endCxn id="21" idx="1"/>
          </p:cNvCxnSpPr>
          <p:nvPr/>
        </p:nvCxnSpPr>
        <p:spPr>
          <a:xfrm>
            <a:off x="1116000" y="1566360"/>
            <a:ext cx="180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22" name="F72_CONN_PARAGRAPH_2_3"/>
          <p:cNvCxnSpPr>
            <a:stCxn id="21" idx="3"/>
            <a:endCxn id="23" idx="1"/>
          </p:cNvCxnSpPr>
          <p:nvPr/>
        </p:nvCxnSpPr>
        <p:spPr>
          <a:xfrm>
            <a:off x="2214000" y="1566360"/>
            <a:ext cx="180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24" name="F72_CONN_PARAGRAPH_3_4"/>
          <p:cNvCxnSpPr>
            <a:stCxn id="23" idx="3"/>
            <a:endCxn id="25" idx="1"/>
          </p:cNvCxnSpPr>
          <p:nvPr/>
        </p:nvCxnSpPr>
        <p:spPr>
          <a:xfrm>
            <a:off x="3312000" y="1566360"/>
            <a:ext cx="180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sp>
        <p:nvSpPr>
          <p:cNvPr id="26" name="F72_NODE_SECTION_1"/>
          <p:cNvSpPr/>
          <p:nvPr/>
        </p:nvSpPr>
        <p:spPr>
          <a:xfrm>
            <a:off x="144000" y="569160"/>
            <a:ext cx="810000" cy="2376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F72_NODE_SECTION_2"/>
          <p:cNvSpPr/>
          <p:nvPr/>
        </p:nvSpPr>
        <p:spPr>
          <a:xfrm>
            <a:off x="1008000" y="569160"/>
            <a:ext cx="810000" cy="2376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F72_NODE_SECTION_3"/>
          <p:cNvSpPr/>
          <p:nvPr/>
        </p:nvSpPr>
        <p:spPr>
          <a:xfrm>
            <a:off x="1872000" y="569160"/>
            <a:ext cx="810000" cy="2376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F72_NODE_SECTION_4"/>
          <p:cNvSpPr/>
          <p:nvPr/>
        </p:nvSpPr>
        <p:spPr>
          <a:xfrm>
            <a:off x="2736000" y="569160"/>
            <a:ext cx="810000" cy="2376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F72_NODE_SECTION_5"/>
          <p:cNvSpPr/>
          <p:nvPr/>
        </p:nvSpPr>
        <p:spPr>
          <a:xfrm>
            <a:off x="3600000" y="569160"/>
            <a:ext cx="810000" cy="2376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F72_NODE_PARAGRAPH_1"/>
          <p:cNvSpPr/>
          <p:nvPr/>
        </p:nvSpPr>
        <p:spPr>
          <a:xfrm>
            <a:off x="198000" y="1433160"/>
            <a:ext cx="918000" cy="2664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F72_NODE_PARAGRAPH_2"/>
          <p:cNvSpPr/>
          <p:nvPr/>
        </p:nvSpPr>
        <p:spPr>
          <a:xfrm>
            <a:off x="1296000" y="1433160"/>
            <a:ext cx="918000" cy="2664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F72_NODE_PARAGRAPH_3"/>
          <p:cNvSpPr/>
          <p:nvPr/>
        </p:nvSpPr>
        <p:spPr>
          <a:xfrm>
            <a:off x="2394000" y="1433160"/>
            <a:ext cx="918000" cy="2664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F72_NODE_PARAGRAPH_4"/>
          <p:cNvSpPr/>
          <p:nvPr/>
        </p:nvSpPr>
        <p:spPr>
          <a:xfrm>
            <a:off x="3492000" y="1433160"/>
            <a:ext cx="918000" cy="2664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F72_NOTE_DELETE"/>
          <p:cNvSpPr/>
          <p:nvPr/>
        </p:nvSpPr>
        <p:spPr>
          <a:xfrm>
            <a:off x="396000" y="2214360"/>
            <a:ext cx="3816000" cy="244800"/>
          </a:xfrm>
          <a:prstGeom prst="rect">
            <a:avLst/>
          </a:prstGeom>
          <a:solidFill>
            <a:srgbClr val="fce4e4"/>
          </a:solidFill>
          <a:ln w="12600">
            <a:solidFill>
              <a:srgbClr val="b22222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F72_LABEL_TITLE"/>
          <p:cNvSpPr txBox="1"/>
          <p:nvPr/>
        </p:nvSpPr>
        <p:spPr>
          <a:xfrm>
            <a:off x="151200" y="-4680"/>
            <a:ext cx="4305600" cy="26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Figure 7.2 Section and paragraph contracts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F72_LABEL_SECTION_BAND"/>
          <p:cNvSpPr txBox="1"/>
          <p:nvPr/>
        </p:nvSpPr>
        <p:spPr>
          <a:xfrm>
            <a:off x="180000" y="334080"/>
            <a:ext cx="4248000" cy="218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SECTION CONTRACT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F72_LABEL_SECTION_1"/>
          <p:cNvSpPr txBox="1"/>
          <p:nvPr/>
        </p:nvSpPr>
        <p:spPr>
          <a:xfrm>
            <a:off x="172800" y="588240"/>
            <a:ext cx="7524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Promise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F72_LABEL_SECTION_2"/>
          <p:cNvSpPr txBox="1"/>
          <p:nvPr/>
        </p:nvSpPr>
        <p:spPr>
          <a:xfrm>
            <a:off x="1036800" y="588240"/>
            <a:ext cx="7524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Evidence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F72_LABEL_SECTION_3"/>
          <p:cNvSpPr txBox="1"/>
          <p:nvPr/>
        </p:nvSpPr>
        <p:spPr>
          <a:xfrm>
            <a:off x="1900800" y="588240"/>
            <a:ext cx="7524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Reasoning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F72_LABEL_SECTION_4"/>
          <p:cNvSpPr txBox="1"/>
          <p:nvPr/>
        </p:nvSpPr>
        <p:spPr>
          <a:xfrm>
            <a:off x="2764800" y="588240"/>
            <a:ext cx="7524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Boundary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F72_LABEL_SECTION_5"/>
          <p:cNvSpPr txBox="1"/>
          <p:nvPr/>
        </p:nvSpPr>
        <p:spPr>
          <a:xfrm>
            <a:off x="3628800" y="588240"/>
            <a:ext cx="7524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Hand-off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F72_LABEL_PARAGRAPH_BAND"/>
          <p:cNvSpPr txBox="1"/>
          <p:nvPr/>
        </p:nvSpPr>
        <p:spPr>
          <a:xfrm>
            <a:off x="180000" y="1183680"/>
            <a:ext cx="4248000" cy="218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PARAGRAPH REASONING TEST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F72_LABEL_PARAGRAPH_1"/>
          <p:cNvSpPr txBox="1"/>
          <p:nvPr/>
        </p:nvSpPr>
        <p:spPr>
          <a:xfrm>
            <a:off x="226800" y="1466640"/>
            <a:ext cx="8604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Claim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F72_LABEL_PARAGRAPH_2"/>
          <p:cNvSpPr txBox="1"/>
          <p:nvPr/>
        </p:nvSpPr>
        <p:spPr>
          <a:xfrm>
            <a:off x="1324800" y="1466640"/>
            <a:ext cx="8604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Evidence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F72_LABEL_PARAGRAPH_3"/>
          <p:cNvSpPr txBox="1"/>
          <p:nvPr/>
        </p:nvSpPr>
        <p:spPr>
          <a:xfrm>
            <a:off x="2422800" y="1466640"/>
            <a:ext cx="8604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Reasoning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F72_LABEL_PARAGRAPH_4"/>
          <p:cNvSpPr txBox="1"/>
          <p:nvPr/>
        </p:nvSpPr>
        <p:spPr>
          <a:xfrm>
            <a:off x="3520800" y="1466640"/>
            <a:ext cx="8604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Boundary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F72_NOTE_SECTION"/>
          <p:cNvSpPr txBox="1"/>
          <p:nvPr/>
        </p:nvSpPr>
        <p:spPr>
          <a:xfrm>
            <a:off x="396000" y="931680"/>
            <a:ext cx="3816000" cy="218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Establish → justify → delimit → hand off.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F72_NOTE_PARAGRAPH"/>
          <p:cNvSpPr txBox="1"/>
          <p:nvPr/>
        </p:nvSpPr>
        <p:spPr>
          <a:xfrm>
            <a:off x="378000" y="1817280"/>
            <a:ext cx="3852000" cy="218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Claim + evidence still requires an explicit inferential link.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F72_LABEL_DELETE"/>
          <p:cNvSpPr txBox="1"/>
          <p:nvPr/>
        </p:nvSpPr>
        <p:spPr>
          <a:xfrm>
            <a:off x="468000" y="2158200"/>
            <a:ext cx="3672000" cy="349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70" strike="noStrike" u="none">
                <a:solidFill>
                  <a:srgbClr val="b22222"/>
                </a:solidFill>
                <a:effectLst/>
                <a:uFillTx/>
                <a:latin typeface="Arial"/>
              </a:rPr>
              <a:t>Deletion test: if nothing essential changes, merge, move or delete.</a:t>
            </a:r>
            <a:endParaRPr b="0" lang="en-US" sz="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2026-08-23T19:49:46Z</dcterms:created>
  <dc:creator/>
  <dc:description/>
  <dc:language>en-US</dc:language>
  <cp:lastModifiedBy/>
  <dcterms:modified xsi:type="dcterms:W3CDTF">2026-08-23T19:49:46Z</dcterms:modified>
  <cp:revision>1</cp:revision>
  <dc:subject/>
  <dc:title/>
</cp:coreProperties>
</file>