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s/_rels/slide1.xml.rels" ContentType="application/vnd.openxmlformats-package.relationships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4608513" cy="2879725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5FC5CB5-BA33-4353-B6F4-D98DD0E57CB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82BE4A70-0BF9-4644-A0F8-DD37F7F68866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42_BG_TITLE"/>
          <p:cNvSpPr/>
          <p:nvPr/>
        </p:nvSpPr>
        <p:spPr>
          <a:xfrm>
            <a:off x="0" y="360"/>
            <a:ext cx="4608000" cy="259200"/>
          </a:xfrm>
          <a:prstGeom prst="rect">
            <a:avLst/>
          </a:prstGeom>
          <a:solidFill>
            <a:srgbClr val="17365d"/>
          </a:solidFill>
          <a:ln w="0">
            <a:noFill/>
          </a:ln>
        </p:spPr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8" name="F42_CONN_1_2"/>
          <p:cNvCxnSpPr>
            <a:stCxn id="9" idx="3"/>
            <a:endCxn id="10" idx="1"/>
          </p:cNvCxnSpPr>
          <p:nvPr/>
        </p:nvCxnSpPr>
        <p:spPr>
          <a:xfrm>
            <a:off x="1296000" y="644760"/>
            <a:ext cx="2016360" cy="360"/>
          </a:xfrm>
          <a:prstGeom prst="bentConnector2">
            <a:avLst/>
          </a:prstGeom>
          <a:ln w="12600">
            <a:solidFill>
              <a:srgbClr val="1f4e79"/>
            </a:solidFill>
            <a:round/>
            <a:tailEnd len="med" type="triangle" w="med"/>
          </a:ln>
        </p:spPr>
      </p:cxnSp>
      <p:cxnSp>
        <p:nvCxnSpPr>
          <p:cNvPr id="11" name="F42_CONN_2_3"/>
          <p:cNvCxnSpPr>
            <a:stCxn id="10" idx="2"/>
            <a:endCxn id="12" idx="0"/>
          </p:cNvCxnSpPr>
          <p:nvPr/>
        </p:nvCxnSpPr>
        <p:spPr>
          <a:xfrm rot="16200000">
            <a:off x="3735000" y="1017360"/>
            <a:ext cx="306360" cy="360"/>
          </a:xfrm>
          <a:prstGeom prst="bentConnector2">
            <a:avLst/>
          </a:prstGeom>
          <a:ln w="12600">
            <a:solidFill>
              <a:srgbClr val="1f4e79"/>
            </a:solidFill>
            <a:round/>
            <a:tailEnd len="med" type="triangle" w="med"/>
          </a:ln>
        </p:spPr>
      </p:cxnSp>
      <p:cxnSp>
        <p:nvCxnSpPr>
          <p:cNvPr id="13" name="F42_CONN_3_4"/>
          <p:cNvCxnSpPr>
            <a:stCxn id="12" idx="2"/>
            <a:endCxn id="14" idx="0"/>
          </p:cNvCxnSpPr>
          <p:nvPr/>
        </p:nvCxnSpPr>
        <p:spPr>
          <a:xfrm rot="5400000">
            <a:off x="3717720" y="1773000"/>
            <a:ext cx="334080" cy="6840"/>
          </a:xfrm>
          <a:prstGeom prst="bentConnector3">
            <a:avLst>
              <a:gd name="adj1" fmla="val 50053"/>
            </a:avLst>
          </a:prstGeom>
          <a:ln w="12600">
            <a:solidFill>
              <a:srgbClr val="1f4e79"/>
            </a:solidFill>
            <a:round/>
            <a:tailEnd len="med" type="triangle" w="med"/>
          </a:ln>
        </p:spPr>
      </p:cxnSp>
      <p:cxnSp>
        <p:nvCxnSpPr>
          <p:cNvPr id="15" name="F42_CONN_4_5"/>
          <p:cNvCxnSpPr>
            <a:stCxn id="14" idx="1"/>
            <a:endCxn id="16" idx="3"/>
          </p:cNvCxnSpPr>
          <p:nvPr/>
        </p:nvCxnSpPr>
        <p:spPr>
          <a:xfrm rot="10800000">
            <a:off x="1371600" y="2134080"/>
            <a:ext cx="1934280" cy="29160"/>
          </a:xfrm>
          <a:prstGeom prst="bentConnector3">
            <a:avLst>
              <a:gd name="adj1" fmla="val 50167"/>
            </a:avLst>
          </a:prstGeom>
          <a:ln w="12600">
            <a:solidFill>
              <a:srgbClr val="1f4e79"/>
            </a:solidFill>
            <a:round/>
            <a:tailEnd len="med" type="triangle" w="med"/>
          </a:ln>
        </p:spPr>
      </p:cxnSp>
      <p:cxnSp>
        <p:nvCxnSpPr>
          <p:cNvPr id="17" name="F42_CONN_5_OUTPUT"/>
          <p:cNvCxnSpPr>
            <a:stCxn id="18" idx="3"/>
            <a:endCxn id="19" idx="2"/>
          </p:cNvCxnSpPr>
          <p:nvPr/>
        </p:nvCxnSpPr>
        <p:spPr>
          <a:xfrm flipV="1">
            <a:off x="1371600" y="1645560"/>
            <a:ext cx="932760" cy="421560"/>
          </a:xfrm>
          <a:prstGeom prst="bentConnector2">
            <a:avLst/>
          </a:prstGeom>
          <a:ln w="14400">
            <a:solidFill>
              <a:srgbClr val="548235"/>
            </a:solidFill>
            <a:round/>
            <a:tailEnd len="med" type="triangle" w="med"/>
          </a:ln>
        </p:spPr>
      </p:cxnSp>
      <p:cxnSp>
        <p:nvCxnSpPr>
          <p:cNvPr id="20" name="F42_CONN_OUTPUT_6"/>
          <p:cNvCxnSpPr>
            <a:stCxn id="19" idx="1"/>
            <a:endCxn id="21" idx="3"/>
          </p:cNvCxnSpPr>
          <p:nvPr/>
        </p:nvCxnSpPr>
        <p:spPr>
          <a:xfrm flipV="1" rot="10800000">
            <a:off x="1296000" y="1366200"/>
            <a:ext cx="353160" cy="23760"/>
          </a:xfrm>
          <a:prstGeom prst="bentConnector3">
            <a:avLst>
              <a:gd name="adj1" fmla="val 50102"/>
            </a:avLst>
          </a:prstGeom>
          <a:ln w="14400">
            <a:solidFill>
              <a:srgbClr val="a66a00"/>
            </a:solidFill>
            <a:round/>
            <a:tailEnd len="med" type="triangle" w="med"/>
          </a:ln>
        </p:spPr>
      </p:cxnSp>
      <p:cxnSp>
        <p:nvCxnSpPr>
          <p:cNvPr id="22" name="F42_CONN_6_1"/>
          <p:cNvCxnSpPr>
            <a:stCxn id="21" idx="0"/>
            <a:endCxn id="9" idx="2"/>
          </p:cNvCxnSpPr>
          <p:nvPr/>
        </p:nvCxnSpPr>
        <p:spPr>
          <a:xfrm rot="16200000">
            <a:off x="567000" y="1017360"/>
            <a:ext cx="306360" cy="360"/>
          </a:xfrm>
          <a:prstGeom prst="bentConnector2">
            <a:avLst/>
          </a:prstGeom>
          <a:ln w="12600">
            <a:solidFill>
              <a:srgbClr val="a66a00"/>
            </a:solidFill>
            <a:round/>
            <a:tailEnd len="med" type="triangle" w="med"/>
          </a:ln>
        </p:spPr>
      </p:cxnSp>
      <p:sp>
        <p:nvSpPr>
          <p:cNvPr id="23" name="F42_NODE_1_DEFINE"/>
          <p:cNvSpPr/>
          <p:nvPr/>
        </p:nvSpPr>
        <p:spPr>
          <a:xfrm>
            <a:off x="144000" y="425160"/>
            <a:ext cx="1152000" cy="439200"/>
          </a:xfrm>
          <a:prstGeom prst="rect">
            <a:avLst/>
          </a:prstGeom>
          <a:solidFill>
            <a:srgbClr val="d9eaf7"/>
          </a:solidFill>
          <a:ln w="12600">
            <a:solidFill>
              <a:srgbClr val="1f4e79"/>
            </a:solidFill>
            <a:round/>
          </a:ln>
        </p:spPr>
        <p:txBody>
          <a:bodyPr lIns="96120" rIns="96120" tIns="51120" bIns="511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F42_NODE_2_ESTABLISH"/>
          <p:cNvSpPr/>
          <p:nvPr/>
        </p:nvSpPr>
        <p:spPr>
          <a:xfrm>
            <a:off x="3312000" y="425160"/>
            <a:ext cx="1152000" cy="439200"/>
          </a:xfrm>
          <a:prstGeom prst="rect">
            <a:avLst/>
          </a:prstGeom>
          <a:solidFill>
            <a:srgbClr val="d9eaf7"/>
          </a:solidFill>
          <a:ln w="12600">
            <a:solidFill>
              <a:srgbClr val="1f4e79"/>
            </a:solidFill>
            <a:round/>
          </a:ln>
        </p:spPr>
        <p:txBody>
          <a:bodyPr lIns="96120" rIns="96120" tIns="51120" bIns="511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F42_NODE_3_CONSTRUCT"/>
          <p:cNvSpPr/>
          <p:nvPr/>
        </p:nvSpPr>
        <p:spPr>
          <a:xfrm>
            <a:off x="3312000" y="1170360"/>
            <a:ext cx="1152000" cy="439200"/>
          </a:xfrm>
          <a:prstGeom prst="rect">
            <a:avLst/>
          </a:prstGeom>
          <a:solidFill>
            <a:srgbClr val="d9eaf7"/>
          </a:solidFill>
          <a:ln w="12600">
            <a:solidFill>
              <a:srgbClr val="1f4e79"/>
            </a:solidFill>
            <a:round/>
          </a:ln>
        </p:spPr>
        <p:txBody>
          <a:bodyPr lIns="96120" rIns="96120" tIns="51120" bIns="511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F42_NODE_4_INSPECT"/>
          <p:cNvSpPr/>
          <p:nvPr/>
        </p:nvSpPr>
        <p:spPr>
          <a:xfrm>
            <a:off x="3305520" y="1943280"/>
            <a:ext cx="1152000" cy="439200"/>
          </a:xfrm>
          <a:prstGeom prst="rect">
            <a:avLst/>
          </a:prstGeom>
          <a:solidFill>
            <a:srgbClr val="fff2cc"/>
          </a:solidFill>
          <a:ln w="12600">
            <a:solidFill>
              <a:srgbClr val="a66a00"/>
            </a:solidFill>
            <a:round/>
          </a:ln>
        </p:spPr>
        <p:txBody>
          <a:bodyPr lIns="96120" rIns="96120" tIns="51120" bIns="511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F42_NODE_5_DECIDE"/>
          <p:cNvSpPr/>
          <p:nvPr/>
        </p:nvSpPr>
        <p:spPr>
          <a:xfrm>
            <a:off x="219600" y="1847160"/>
            <a:ext cx="1152000" cy="439200"/>
          </a:xfrm>
          <a:prstGeom prst="rect">
            <a:avLst/>
          </a:prstGeom>
          <a:solidFill>
            <a:srgbClr val="e2f0d9"/>
          </a:solidFill>
          <a:ln w="12600">
            <a:solidFill>
              <a:srgbClr val="548235"/>
            </a:solidFill>
            <a:round/>
          </a:ln>
        </p:spPr>
        <p:txBody>
          <a:bodyPr lIns="96120" rIns="96120" tIns="51120" bIns="511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F42_NODE_6_EVALUATE"/>
          <p:cNvSpPr/>
          <p:nvPr/>
        </p:nvSpPr>
        <p:spPr>
          <a:xfrm>
            <a:off x="144000" y="1170360"/>
            <a:ext cx="1152000" cy="439200"/>
          </a:xfrm>
          <a:prstGeom prst="rect">
            <a:avLst/>
          </a:prstGeom>
          <a:solidFill>
            <a:srgbClr val="fff2cc"/>
          </a:solidFill>
          <a:ln w="12600">
            <a:solidFill>
              <a:srgbClr val="a66a00"/>
            </a:solidFill>
            <a:round/>
          </a:ln>
        </p:spPr>
        <p:txBody>
          <a:bodyPr lIns="96120" rIns="96120" tIns="51120" bIns="511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F42_NODE_COMMITMENT"/>
          <p:cNvSpPr/>
          <p:nvPr/>
        </p:nvSpPr>
        <p:spPr>
          <a:xfrm>
            <a:off x="1648800" y="1087560"/>
            <a:ext cx="1310400" cy="558000"/>
          </a:xfrm>
          <a:prstGeom prst="rect">
            <a:avLst/>
          </a:prstGeom>
          <a:solidFill>
            <a:srgbClr val="17365d"/>
          </a:solidFill>
          <a:ln w="14400">
            <a:solidFill>
              <a:srgbClr val="17365d"/>
            </a:solidFill>
            <a:round/>
          </a:ln>
        </p:spPr>
        <p:txBody>
          <a:bodyPr lIns="97200" rIns="97200" tIns="52200" bIns="522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" name="F42_LABEL_TITLE"/>
          <p:cNvSpPr txBox="1"/>
          <p:nvPr/>
        </p:nvSpPr>
        <p:spPr>
          <a:xfrm>
            <a:off x="151200" y="-4680"/>
            <a:ext cx="4305600" cy="269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1" lang="en-US" sz="1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Figure 4.2 DECIDE conditional commitment cycle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F42_LABEL_1_DEFINE"/>
          <p:cNvSpPr txBox="1"/>
          <p:nvPr/>
        </p:nvSpPr>
        <p:spPr>
          <a:xfrm>
            <a:off x="176400" y="453960"/>
            <a:ext cx="1087200" cy="381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1" lang="en-US" sz="960" strike="noStrike" u="none">
                <a:solidFill>
                  <a:srgbClr val="111111"/>
                </a:solidFill>
                <a:effectLst/>
                <a:uFillTx/>
                <a:latin typeface="Arial"/>
              </a:rPr>
              <a:t>1 D - Define</a:t>
            </a:r>
            <a:endParaRPr b="0" lang="en-US" sz="9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5000"/>
              </a:lnSpc>
            </a:pPr>
            <a:r>
              <a:rPr b="0" lang="en-US" sz="880" strike="noStrike" u="none">
                <a:solidFill>
                  <a:srgbClr val="111111"/>
                </a:solidFill>
                <a:effectLst/>
                <a:uFillTx/>
                <a:latin typeface="Arial"/>
              </a:rPr>
              <a:t>drivers + bounds</a:t>
            </a:r>
            <a:endParaRPr b="0" lang="en-US" sz="8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F42_LABEL_2_ESTABLISH"/>
          <p:cNvSpPr txBox="1"/>
          <p:nvPr/>
        </p:nvSpPr>
        <p:spPr>
          <a:xfrm>
            <a:off x="3344400" y="453960"/>
            <a:ext cx="1087200" cy="381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1" lang="en-US" sz="960" strike="noStrike" u="none">
                <a:solidFill>
                  <a:srgbClr val="111111"/>
                </a:solidFill>
                <a:effectLst/>
                <a:uFillTx/>
                <a:latin typeface="Arial"/>
              </a:rPr>
              <a:t>2 E - Establish</a:t>
            </a:r>
            <a:endParaRPr b="0" lang="en-US" sz="9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5000"/>
              </a:lnSpc>
            </a:pPr>
            <a:r>
              <a:rPr b="0" lang="en-US" sz="880" strike="noStrike" u="none">
                <a:solidFill>
                  <a:srgbClr val="111111"/>
                </a:solidFill>
                <a:effectLst/>
                <a:uFillTx/>
                <a:latin typeface="Arial"/>
              </a:rPr>
              <a:t>evidence + criteria</a:t>
            </a:r>
            <a:endParaRPr b="0" lang="en-US" sz="8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F42_LABEL_3_CONSTRUCT"/>
          <p:cNvSpPr txBox="1"/>
          <p:nvPr/>
        </p:nvSpPr>
        <p:spPr>
          <a:xfrm>
            <a:off x="3344400" y="1199160"/>
            <a:ext cx="1087200" cy="381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1" lang="en-US" sz="960" strike="noStrike" u="none">
                <a:solidFill>
                  <a:srgbClr val="111111"/>
                </a:solidFill>
                <a:effectLst/>
                <a:uFillTx/>
                <a:latin typeface="Arial"/>
              </a:rPr>
              <a:t>3 C - Construct</a:t>
            </a:r>
            <a:endParaRPr b="0" lang="en-US" sz="9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5000"/>
              </a:lnSpc>
            </a:pPr>
            <a:r>
              <a:rPr b="0" lang="en-US" sz="880" strike="noStrike" u="none">
                <a:solidFill>
                  <a:srgbClr val="111111"/>
                </a:solidFill>
                <a:effectLst/>
                <a:uFillTx/>
                <a:latin typeface="Arial"/>
              </a:rPr>
              <a:t>alternatives</a:t>
            </a:r>
            <a:endParaRPr b="0" lang="en-US" sz="8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F42_LABEL_4_INSPECT"/>
          <p:cNvSpPr txBox="1"/>
          <p:nvPr/>
        </p:nvSpPr>
        <p:spPr>
          <a:xfrm>
            <a:off x="3370320" y="1943280"/>
            <a:ext cx="1087200" cy="491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1" lang="en-US" sz="960" strike="noStrike" u="none">
                <a:solidFill>
                  <a:srgbClr val="111111"/>
                </a:solidFill>
                <a:effectLst/>
                <a:uFillTx/>
                <a:latin typeface="Arial"/>
              </a:rPr>
              <a:t>4 I - Inspect</a:t>
            </a:r>
            <a:endParaRPr b="0" lang="en-US" sz="9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5000"/>
              </a:lnSpc>
            </a:pPr>
            <a:r>
              <a:rPr b="0" lang="en-US" sz="880" strike="noStrike" u="none">
                <a:solidFill>
                  <a:srgbClr val="111111"/>
                </a:solidFill>
                <a:effectLst/>
                <a:uFillTx/>
                <a:latin typeface="Arial"/>
              </a:rPr>
              <a:t>risks + reversibility</a:t>
            </a:r>
            <a:endParaRPr b="0" lang="en-US" sz="8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F42_LABEL_5_DECIDE"/>
          <p:cNvSpPr txBox="1"/>
          <p:nvPr/>
        </p:nvSpPr>
        <p:spPr>
          <a:xfrm>
            <a:off x="284400" y="1943280"/>
            <a:ext cx="1087200" cy="381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1" lang="en-US" sz="960" strike="noStrike" u="none">
                <a:solidFill>
                  <a:srgbClr val="111111"/>
                </a:solidFill>
                <a:effectLst/>
                <a:uFillTx/>
                <a:latin typeface="Arial"/>
              </a:rPr>
              <a:t>5 D - Decide</a:t>
            </a:r>
            <a:endParaRPr b="0" lang="en-US" sz="9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5000"/>
              </a:lnSpc>
            </a:pPr>
            <a:r>
              <a:rPr b="0" lang="en-US" sz="880" strike="noStrike" u="none">
                <a:solidFill>
                  <a:srgbClr val="111111"/>
                </a:solidFill>
                <a:effectLst/>
                <a:uFillTx/>
                <a:latin typeface="Arial"/>
              </a:rPr>
              <a:t>rationale + trigger</a:t>
            </a:r>
            <a:endParaRPr b="0" lang="en-US" sz="8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F42_LABEL_6_EVALUATE"/>
          <p:cNvSpPr txBox="1"/>
          <p:nvPr/>
        </p:nvSpPr>
        <p:spPr>
          <a:xfrm>
            <a:off x="176400" y="1144080"/>
            <a:ext cx="1087200" cy="491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1" lang="en-US" sz="960" strike="noStrike" u="none">
                <a:solidFill>
                  <a:srgbClr val="111111"/>
                </a:solidFill>
                <a:effectLst/>
                <a:uFillTx/>
                <a:latin typeface="Arial"/>
              </a:rPr>
              <a:t>6 E - Test</a:t>
            </a:r>
            <a:endParaRPr b="0" lang="en-US" sz="9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5000"/>
              </a:lnSpc>
            </a:pPr>
            <a:r>
              <a:rPr b="0" lang="en-US" sz="880" strike="noStrike" u="none">
                <a:solidFill>
                  <a:srgbClr val="111111"/>
                </a:solidFill>
                <a:effectLst/>
                <a:uFillTx/>
                <a:latin typeface="Arial"/>
              </a:rPr>
              <a:t>highest-risk assumption</a:t>
            </a:r>
            <a:endParaRPr b="0" lang="en-US" sz="8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F42_LABEL_COMMITMENT"/>
          <p:cNvSpPr txBox="1"/>
          <p:nvPr/>
        </p:nvSpPr>
        <p:spPr>
          <a:xfrm>
            <a:off x="1681200" y="1110960"/>
            <a:ext cx="1245600" cy="510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1" lang="en-US" sz="98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Conditional commitment vN</a:t>
            </a:r>
            <a:endParaRPr b="0" lang="en-US" sz="9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5000"/>
              </a:lnSpc>
            </a:pPr>
            <a:r>
              <a:rPr b="0" lang="en-US" sz="88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decision + trigger</a:t>
            </a:r>
            <a:endParaRPr b="0" lang="en-US" sz="8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F42_NOTE_RESULT"/>
          <p:cNvSpPr txBox="1"/>
          <p:nvPr/>
        </p:nvSpPr>
        <p:spPr>
          <a:xfrm>
            <a:off x="1197000" y="2511720"/>
            <a:ext cx="2232000" cy="345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0" lang="en-US" sz="860" strike="noStrike" u="none">
                <a:solidFill>
                  <a:srgbClr val="666666"/>
                </a:solidFill>
                <a:effectLst/>
                <a:uFillTx/>
                <a:latin typeface="Arial"/>
              </a:rPr>
              <a:t>Early-test result: retain, qualify or reopen the current commitment.</a:t>
            </a:r>
            <a:endParaRPr b="0" lang="en-US" sz="8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LibreOffice/25.2.3.2$Linux_X86_64 LibreOffice_project/520$Build-2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2026-08-23T19:49:29Z</dcterms:created>
  <dc:creator/>
  <dc:description/>
  <dc:language>en-US</dc:language>
  <cp:lastModifiedBy/>
  <dcterms:modified xsi:type="dcterms:W3CDTF">2026-08-23T19:49:29Z</dcterms:modified>
  <cp:revision>1</cp:revision>
  <dc:subject/>
  <dc:title/>
</cp:coreProperties>
</file>