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7145000" cy="100012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093A95-6FD5-4B0E-B9A7-C7568AC26E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A661F0E-85D4-423B-AE40-C915BF897CA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4680" y="4680"/>
            <a:ext cx="17135280" cy="9991440"/>
          </a:xfrm>
          <a:custGeom>
            <a:avLst/>
            <a:gdLst/>
            <a:ahLst/>
            <a:rect l="0" t="0" r="r" b="b"/>
            <a:pathLst>
              <a:path w="47598" h="27754">
                <a:moveTo>
                  <a:pt x="0" y="0"/>
                </a:moveTo>
                <a:lnTo>
                  <a:pt x="47598" y="0"/>
                </a:lnTo>
                <a:lnTo>
                  <a:pt x="47598" y="27754"/>
                </a:lnTo>
                <a:lnTo>
                  <a:pt x="0" y="277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5811840" y="195120"/>
            <a:ext cx="5520960" cy="1522440"/>
          </a:xfrm>
          <a:custGeom>
            <a:avLst/>
            <a:gdLst/>
            <a:ahLst/>
            <a:rect l="0" t="0" r="r" b="b"/>
            <a:pathLst>
              <a:path w="15336" h="4229">
                <a:moveTo>
                  <a:pt x="7669" y="4229"/>
                </a:moveTo>
                <a:lnTo>
                  <a:pt x="14834" y="4229"/>
                </a:lnTo>
                <a:cubicBezTo>
                  <a:pt x="15111" y="4229"/>
                  <a:pt x="15336" y="4004"/>
                  <a:pt x="15336" y="3727"/>
                </a:cubicBezTo>
                <a:lnTo>
                  <a:pt x="15336" y="502"/>
                </a:lnTo>
                <a:cubicBezTo>
                  <a:pt x="15336" y="225"/>
                  <a:pt x="15111" y="0"/>
                  <a:pt x="14834" y="0"/>
                </a:cubicBezTo>
                <a:lnTo>
                  <a:pt x="502" y="0"/>
                </a:lnTo>
                <a:cubicBezTo>
                  <a:pt x="225" y="0"/>
                  <a:pt x="0" y="225"/>
                  <a:pt x="0" y="502"/>
                </a:cubicBezTo>
                <a:lnTo>
                  <a:pt x="0" y="3727"/>
                </a:lnTo>
                <a:cubicBezTo>
                  <a:pt x="0" y="4004"/>
                  <a:pt x="225" y="4229"/>
                  <a:pt x="502" y="4229"/>
                </a:cubicBezTo>
                <a:lnTo>
                  <a:pt x="7669" y="4229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5811840" y="195120"/>
            <a:ext cx="5520960" cy="1522440"/>
          </a:xfrm>
          <a:custGeom>
            <a:avLst/>
            <a:gdLst/>
            <a:ahLst/>
            <a:rect l="0" t="0" r="r" b="b"/>
            <a:pathLst>
              <a:path w="15336" h="4229">
                <a:moveTo>
                  <a:pt x="7669" y="4229"/>
                </a:moveTo>
                <a:lnTo>
                  <a:pt x="14834" y="4229"/>
                </a:lnTo>
                <a:cubicBezTo>
                  <a:pt x="15111" y="4229"/>
                  <a:pt x="15336" y="4004"/>
                  <a:pt x="15336" y="3727"/>
                </a:cubicBezTo>
                <a:lnTo>
                  <a:pt x="15336" y="502"/>
                </a:lnTo>
                <a:cubicBezTo>
                  <a:pt x="15336" y="225"/>
                  <a:pt x="15111" y="0"/>
                  <a:pt x="14834" y="0"/>
                </a:cubicBezTo>
                <a:lnTo>
                  <a:pt x="502" y="0"/>
                </a:lnTo>
                <a:cubicBezTo>
                  <a:pt x="225" y="0"/>
                  <a:pt x="0" y="225"/>
                  <a:pt x="0" y="502"/>
                </a:cubicBezTo>
                <a:lnTo>
                  <a:pt x="0" y="3727"/>
                </a:lnTo>
                <a:cubicBezTo>
                  <a:pt x="0" y="4004"/>
                  <a:pt x="225" y="4229"/>
                  <a:pt x="502" y="4229"/>
                </a:cubicBezTo>
                <a:lnTo>
                  <a:pt x="7669" y="4229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673040" y="551880"/>
            <a:ext cx="1829520" cy="34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 — DEFINE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273080" y="1113120"/>
            <a:ext cx="2607840" cy="237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drivers · boundaries · authority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11618280" y="2003040"/>
            <a:ext cx="5045760" cy="1617840"/>
          </a:xfrm>
          <a:custGeom>
            <a:avLst/>
            <a:gdLst/>
            <a:ahLst/>
            <a:rect l="0" t="0" r="r" b="b"/>
            <a:pathLst>
              <a:path w="14016" h="4494">
                <a:moveTo>
                  <a:pt x="7008" y="4494"/>
                </a:moveTo>
                <a:lnTo>
                  <a:pt x="13513" y="4494"/>
                </a:lnTo>
                <a:cubicBezTo>
                  <a:pt x="13791" y="4494"/>
                  <a:pt x="14016" y="4269"/>
                  <a:pt x="14016" y="3992"/>
                </a:cubicBezTo>
                <a:lnTo>
                  <a:pt x="14016" y="502"/>
                </a:lnTo>
                <a:cubicBezTo>
                  <a:pt x="14016" y="225"/>
                  <a:pt x="13791" y="0"/>
                  <a:pt x="13513" y="0"/>
                </a:cubicBezTo>
                <a:lnTo>
                  <a:pt x="503" y="0"/>
                </a:lnTo>
                <a:cubicBezTo>
                  <a:pt x="225" y="0"/>
                  <a:pt x="0" y="225"/>
                  <a:pt x="0" y="502"/>
                </a:cubicBezTo>
                <a:lnTo>
                  <a:pt x="0" y="3992"/>
                </a:lnTo>
                <a:cubicBezTo>
                  <a:pt x="0" y="4269"/>
                  <a:pt x="225" y="4494"/>
                  <a:pt x="503" y="4494"/>
                </a:cubicBezTo>
                <a:lnTo>
                  <a:pt x="7008" y="4494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11618280" y="2003040"/>
            <a:ext cx="5045760" cy="1617840"/>
          </a:xfrm>
          <a:custGeom>
            <a:avLst/>
            <a:gdLst/>
            <a:ahLst/>
            <a:rect l="0" t="0" r="r" b="b"/>
            <a:pathLst>
              <a:path w="14016" h="4494">
                <a:moveTo>
                  <a:pt x="7008" y="4494"/>
                </a:moveTo>
                <a:lnTo>
                  <a:pt x="13513" y="4494"/>
                </a:lnTo>
                <a:cubicBezTo>
                  <a:pt x="13791" y="4494"/>
                  <a:pt x="14016" y="4269"/>
                  <a:pt x="14016" y="3992"/>
                </a:cubicBezTo>
                <a:lnTo>
                  <a:pt x="14016" y="502"/>
                </a:lnTo>
                <a:cubicBezTo>
                  <a:pt x="14016" y="225"/>
                  <a:pt x="13791" y="0"/>
                  <a:pt x="13513" y="0"/>
                </a:cubicBezTo>
                <a:lnTo>
                  <a:pt x="503" y="0"/>
                </a:lnTo>
                <a:cubicBezTo>
                  <a:pt x="225" y="0"/>
                  <a:pt x="0" y="225"/>
                  <a:pt x="0" y="502"/>
                </a:cubicBezTo>
                <a:lnTo>
                  <a:pt x="0" y="3992"/>
                </a:lnTo>
                <a:cubicBezTo>
                  <a:pt x="0" y="4269"/>
                  <a:pt x="225" y="4494"/>
                  <a:pt x="503" y="4494"/>
                </a:cubicBezTo>
                <a:lnTo>
                  <a:pt x="7008" y="4494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2975120" y="2359800"/>
            <a:ext cx="2369520" cy="34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 — ESTABLISH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13384440" y="2921400"/>
            <a:ext cx="1513080" cy="237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evidence · criteria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11618280" y="6189840"/>
            <a:ext cx="5045760" cy="1617480"/>
          </a:xfrm>
          <a:custGeom>
            <a:avLst/>
            <a:gdLst/>
            <a:ahLst/>
            <a:rect l="0" t="0" r="r" b="b"/>
            <a:pathLst>
              <a:path w="14016" h="4493">
                <a:moveTo>
                  <a:pt x="7008" y="4493"/>
                </a:moveTo>
                <a:lnTo>
                  <a:pt x="13513" y="4493"/>
                </a:lnTo>
                <a:cubicBezTo>
                  <a:pt x="13791" y="4493"/>
                  <a:pt x="14016" y="4268"/>
                  <a:pt x="14016" y="3991"/>
                </a:cubicBezTo>
                <a:lnTo>
                  <a:pt x="14016" y="502"/>
                </a:lnTo>
                <a:cubicBezTo>
                  <a:pt x="14016" y="224"/>
                  <a:pt x="13791" y="0"/>
                  <a:pt x="13513" y="0"/>
                </a:cubicBezTo>
                <a:lnTo>
                  <a:pt x="503" y="0"/>
                </a:lnTo>
                <a:cubicBezTo>
                  <a:pt x="225" y="0"/>
                  <a:pt x="0" y="224"/>
                  <a:pt x="0" y="502"/>
                </a:cubicBezTo>
                <a:lnTo>
                  <a:pt x="0" y="3991"/>
                </a:lnTo>
                <a:cubicBezTo>
                  <a:pt x="0" y="4268"/>
                  <a:pt x="225" y="4493"/>
                  <a:pt x="503" y="4493"/>
                </a:cubicBezTo>
                <a:lnTo>
                  <a:pt x="7008" y="4493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11618280" y="6189840"/>
            <a:ext cx="5045760" cy="1617480"/>
          </a:xfrm>
          <a:custGeom>
            <a:avLst/>
            <a:gdLst/>
            <a:ahLst/>
            <a:rect l="0" t="0" r="r" b="b"/>
            <a:pathLst>
              <a:path w="14016" h="4493">
                <a:moveTo>
                  <a:pt x="7008" y="4493"/>
                </a:moveTo>
                <a:lnTo>
                  <a:pt x="13513" y="4493"/>
                </a:lnTo>
                <a:cubicBezTo>
                  <a:pt x="13791" y="4493"/>
                  <a:pt x="14016" y="4268"/>
                  <a:pt x="14016" y="3991"/>
                </a:cubicBezTo>
                <a:lnTo>
                  <a:pt x="14016" y="502"/>
                </a:lnTo>
                <a:cubicBezTo>
                  <a:pt x="14016" y="224"/>
                  <a:pt x="13791" y="0"/>
                  <a:pt x="13513" y="0"/>
                </a:cubicBezTo>
                <a:lnTo>
                  <a:pt x="503" y="0"/>
                </a:lnTo>
                <a:cubicBezTo>
                  <a:pt x="225" y="0"/>
                  <a:pt x="0" y="224"/>
                  <a:pt x="0" y="502"/>
                </a:cubicBezTo>
                <a:lnTo>
                  <a:pt x="0" y="3991"/>
                </a:lnTo>
                <a:cubicBezTo>
                  <a:pt x="0" y="4268"/>
                  <a:pt x="225" y="4493"/>
                  <a:pt x="503" y="4493"/>
                </a:cubicBezTo>
                <a:lnTo>
                  <a:pt x="7008" y="4493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2860640" y="6546240"/>
            <a:ext cx="2591640" cy="34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 — CONSTRUCT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3298760" y="7107840"/>
            <a:ext cx="1693800" cy="237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credible alternatives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5811840" y="8283240"/>
            <a:ext cx="5520960" cy="1474920"/>
          </a:xfrm>
          <a:custGeom>
            <a:avLst/>
            <a:gdLst/>
            <a:ahLst/>
            <a:rect l="0" t="0" r="r" b="b"/>
            <a:pathLst>
              <a:path w="15336" h="4097">
                <a:moveTo>
                  <a:pt x="7669" y="4097"/>
                </a:moveTo>
                <a:lnTo>
                  <a:pt x="14834" y="4097"/>
                </a:lnTo>
                <a:cubicBezTo>
                  <a:pt x="15111" y="4097"/>
                  <a:pt x="15336" y="3872"/>
                  <a:pt x="15336" y="3595"/>
                </a:cubicBezTo>
                <a:lnTo>
                  <a:pt x="15336" y="502"/>
                </a:lnTo>
                <a:cubicBezTo>
                  <a:pt x="15336" y="225"/>
                  <a:pt x="15111" y="0"/>
                  <a:pt x="14834" y="0"/>
                </a:cubicBezTo>
                <a:lnTo>
                  <a:pt x="502" y="0"/>
                </a:lnTo>
                <a:cubicBezTo>
                  <a:pt x="225" y="0"/>
                  <a:pt x="0" y="225"/>
                  <a:pt x="0" y="502"/>
                </a:cubicBezTo>
                <a:lnTo>
                  <a:pt x="0" y="3595"/>
                </a:lnTo>
                <a:cubicBezTo>
                  <a:pt x="0" y="3872"/>
                  <a:pt x="225" y="4097"/>
                  <a:pt x="502" y="4097"/>
                </a:cubicBezTo>
                <a:lnTo>
                  <a:pt x="7669" y="4097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5811840" y="8283240"/>
            <a:ext cx="5520960" cy="1474920"/>
          </a:xfrm>
          <a:custGeom>
            <a:avLst/>
            <a:gdLst/>
            <a:ahLst/>
            <a:rect l="0" t="0" r="r" b="b"/>
            <a:pathLst>
              <a:path w="15336" h="4097">
                <a:moveTo>
                  <a:pt x="7669" y="4097"/>
                </a:moveTo>
                <a:lnTo>
                  <a:pt x="14834" y="4097"/>
                </a:lnTo>
                <a:cubicBezTo>
                  <a:pt x="15111" y="4097"/>
                  <a:pt x="15336" y="3872"/>
                  <a:pt x="15336" y="3595"/>
                </a:cubicBezTo>
                <a:lnTo>
                  <a:pt x="15336" y="502"/>
                </a:lnTo>
                <a:cubicBezTo>
                  <a:pt x="15336" y="225"/>
                  <a:pt x="15111" y="0"/>
                  <a:pt x="14834" y="0"/>
                </a:cubicBezTo>
                <a:lnTo>
                  <a:pt x="502" y="0"/>
                </a:lnTo>
                <a:cubicBezTo>
                  <a:pt x="225" y="0"/>
                  <a:pt x="0" y="225"/>
                  <a:pt x="0" y="502"/>
                </a:cubicBezTo>
                <a:lnTo>
                  <a:pt x="0" y="3595"/>
                </a:lnTo>
                <a:cubicBezTo>
                  <a:pt x="0" y="3872"/>
                  <a:pt x="225" y="4097"/>
                  <a:pt x="502" y="4097"/>
                </a:cubicBezTo>
                <a:lnTo>
                  <a:pt x="7669" y="4097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634880" y="8640000"/>
            <a:ext cx="1897560" cy="34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 — INSPECT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7092360" y="9201240"/>
            <a:ext cx="2959920" cy="237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implications · threats · reversibility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480600" y="6189840"/>
            <a:ext cx="5045760" cy="1617480"/>
          </a:xfrm>
          <a:custGeom>
            <a:avLst/>
            <a:gdLst/>
            <a:ahLst/>
            <a:rect l="0" t="0" r="r" b="b"/>
            <a:pathLst>
              <a:path w="14016" h="4493">
                <a:moveTo>
                  <a:pt x="7008" y="4493"/>
                </a:moveTo>
                <a:lnTo>
                  <a:pt x="13513" y="4493"/>
                </a:lnTo>
                <a:cubicBezTo>
                  <a:pt x="13791" y="4493"/>
                  <a:pt x="14016" y="4268"/>
                  <a:pt x="14016" y="3991"/>
                </a:cubicBezTo>
                <a:lnTo>
                  <a:pt x="14016" y="502"/>
                </a:lnTo>
                <a:cubicBezTo>
                  <a:pt x="14016" y="224"/>
                  <a:pt x="13791" y="0"/>
                  <a:pt x="13513" y="0"/>
                </a:cubicBezTo>
                <a:lnTo>
                  <a:pt x="503" y="0"/>
                </a:lnTo>
                <a:cubicBezTo>
                  <a:pt x="225" y="0"/>
                  <a:pt x="0" y="224"/>
                  <a:pt x="0" y="502"/>
                </a:cubicBezTo>
                <a:lnTo>
                  <a:pt x="0" y="3991"/>
                </a:lnTo>
                <a:cubicBezTo>
                  <a:pt x="0" y="4268"/>
                  <a:pt x="225" y="4493"/>
                  <a:pt x="503" y="4493"/>
                </a:cubicBezTo>
                <a:lnTo>
                  <a:pt x="7008" y="4493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480600" y="6189840"/>
            <a:ext cx="5045760" cy="1617480"/>
          </a:xfrm>
          <a:custGeom>
            <a:avLst/>
            <a:gdLst/>
            <a:ahLst/>
            <a:rect l="0" t="0" r="r" b="b"/>
            <a:pathLst>
              <a:path w="14016" h="4493">
                <a:moveTo>
                  <a:pt x="7008" y="4493"/>
                </a:moveTo>
                <a:lnTo>
                  <a:pt x="13513" y="4493"/>
                </a:lnTo>
                <a:cubicBezTo>
                  <a:pt x="13791" y="4493"/>
                  <a:pt x="14016" y="4268"/>
                  <a:pt x="14016" y="3991"/>
                </a:cubicBezTo>
                <a:lnTo>
                  <a:pt x="14016" y="502"/>
                </a:lnTo>
                <a:cubicBezTo>
                  <a:pt x="14016" y="224"/>
                  <a:pt x="13791" y="0"/>
                  <a:pt x="13513" y="0"/>
                </a:cubicBezTo>
                <a:lnTo>
                  <a:pt x="503" y="0"/>
                </a:lnTo>
                <a:cubicBezTo>
                  <a:pt x="225" y="0"/>
                  <a:pt x="0" y="224"/>
                  <a:pt x="0" y="502"/>
                </a:cubicBezTo>
                <a:lnTo>
                  <a:pt x="0" y="3991"/>
                </a:lnTo>
                <a:cubicBezTo>
                  <a:pt x="0" y="4268"/>
                  <a:pt x="225" y="4493"/>
                  <a:pt x="503" y="4493"/>
                </a:cubicBezTo>
                <a:lnTo>
                  <a:pt x="7008" y="4493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2084760" y="6546240"/>
            <a:ext cx="1865160" cy="34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 — DECIDE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923120" y="7107840"/>
            <a:ext cx="2160360" cy="237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rationale · owner · trigger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80600" y="2003040"/>
            <a:ext cx="5045760" cy="1617840"/>
          </a:xfrm>
          <a:custGeom>
            <a:avLst/>
            <a:gdLst/>
            <a:ahLst/>
            <a:rect l="0" t="0" r="r" b="b"/>
            <a:pathLst>
              <a:path w="14016" h="4494">
                <a:moveTo>
                  <a:pt x="7008" y="4494"/>
                </a:moveTo>
                <a:lnTo>
                  <a:pt x="13513" y="4494"/>
                </a:lnTo>
                <a:cubicBezTo>
                  <a:pt x="13791" y="4494"/>
                  <a:pt x="14016" y="4269"/>
                  <a:pt x="14016" y="3992"/>
                </a:cubicBezTo>
                <a:lnTo>
                  <a:pt x="14016" y="502"/>
                </a:lnTo>
                <a:cubicBezTo>
                  <a:pt x="14016" y="225"/>
                  <a:pt x="13791" y="0"/>
                  <a:pt x="13513" y="0"/>
                </a:cubicBezTo>
                <a:lnTo>
                  <a:pt x="503" y="0"/>
                </a:lnTo>
                <a:cubicBezTo>
                  <a:pt x="225" y="0"/>
                  <a:pt x="0" y="225"/>
                  <a:pt x="0" y="502"/>
                </a:cubicBezTo>
                <a:lnTo>
                  <a:pt x="0" y="3992"/>
                </a:lnTo>
                <a:cubicBezTo>
                  <a:pt x="0" y="4269"/>
                  <a:pt x="225" y="4494"/>
                  <a:pt x="503" y="4494"/>
                </a:cubicBezTo>
                <a:lnTo>
                  <a:pt x="7008" y="4494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480600" y="2003040"/>
            <a:ext cx="5045760" cy="1617840"/>
          </a:xfrm>
          <a:custGeom>
            <a:avLst/>
            <a:gdLst/>
            <a:ahLst/>
            <a:rect l="0" t="0" r="r" b="b"/>
            <a:pathLst>
              <a:path w="14016" h="4494">
                <a:moveTo>
                  <a:pt x="7008" y="4494"/>
                </a:moveTo>
                <a:lnTo>
                  <a:pt x="13513" y="4494"/>
                </a:lnTo>
                <a:cubicBezTo>
                  <a:pt x="13791" y="4494"/>
                  <a:pt x="14016" y="4269"/>
                  <a:pt x="14016" y="3992"/>
                </a:cubicBezTo>
                <a:lnTo>
                  <a:pt x="14016" y="502"/>
                </a:lnTo>
                <a:cubicBezTo>
                  <a:pt x="14016" y="225"/>
                  <a:pt x="13791" y="0"/>
                  <a:pt x="13513" y="0"/>
                </a:cubicBezTo>
                <a:lnTo>
                  <a:pt x="503" y="0"/>
                </a:lnTo>
                <a:cubicBezTo>
                  <a:pt x="225" y="0"/>
                  <a:pt x="0" y="225"/>
                  <a:pt x="0" y="502"/>
                </a:cubicBezTo>
                <a:lnTo>
                  <a:pt x="0" y="3992"/>
                </a:lnTo>
                <a:cubicBezTo>
                  <a:pt x="0" y="4269"/>
                  <a:pt x="225" y="4494"/>
                  <a:pt x="503" y="4494"/>
                </a:cubicBezTo>
                <a:lnTo>
                  <a:pt x="7008" y="4494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323360" y="2359800"/>
            <a:ext cx="3408120" cy="34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 — EVALUATE EARLY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580400" y="2921400"/>
            <a:ext cx="2836080" cy="237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probe the highest-risk assumption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5764320" y="3240000"/>
            <a:ext cx="5616000" cy="3425400"/>
          </a:xfrm>
          <a:custGeom>
            <a:avLst/>
            <a:gdLst/>
            <a:ahLst/>
            <a:rect l="0" t="0" r="r" b="b"/>
            <a:pathLst>
              <a:path w="15600" h="9515">
                <a:moveTo>
                  <a:pt x="15600" y="4758"/>
                </a:moveTo>
                <a:cubicBezTo>
                  <a:pt x="15600" y="5593"/>
                  <a:pt x="15240" y="6413"/>
                  <a:pt x="14555" y="7136"/>
                </a:cubicBezTo>
                <a:cubicBezTo>
                  <a:pt x="13871" y="7860"/>
                  <a:pt x="12886" y="8461"/>
                  <a:pt x="11700" y="8878"/>
                </a:cubicBezTo>
                <a:cubicBezTo>
                  <a:pt x="10514" y="9296"/>
                  <a:pt x="9170" y="9515"/>
                  <a:pt x="7801" y="9515"/>
                </a:cubicBezTo>
                <a:cubicBezTo>
                  <a:pt x="6431" y="9515"/>
                  <a:pt x="5086" y="9296"/>
                  <a:pt x="3900" y="8878"/>
                </a:cubicBezTo>
                <a:cubicBezTo>
                  <a:pt x="2714" y="8461"/>
                  <a:pt x="1729" y="7860"/>
                  <a:pt x="1045" y="7136"/>
                </a:cubicBezTo>
                <a:cubicBezTo>
                  <a:pt x="360" y="6413"/>
                  <a:pt x="0" y="5593"/>
                  <a:pt x="0" y="4758"/>
                </a:cubicBezTo>
                <a:cubicBezTo>
                  <a:pt x="0" y="3923"/>
                  <a:pt x="360" y="3103"/>
                  <a:pt x="1045" y="2379"/>
                </a:cubicBezTo>
                <a:cubicBezTo>
                  <a:pt x="1729" y="1656"/>
                  <a:pt x="2714" y="1055"/>
                  <a:pt x="3900" y="638"/>
                </a:cubicBezTo>
                <a:cubicBezTo>
                  <a:pt x="5086" y="220"/>
                  <a:pt x="6431" y="0"/>
                  <a:pt x="7800" y="0"/>
                </a:cubicBezTo>
                <a:cubicBezTo>
                  <a:pt x="9169" y="0"/>
                  <a:pt x="10514" y="220"/>
                  <a:pt x="11700" y="638"/>
                </a:cubicBezTo>
                <a:cubicBezTo>
                  <a:pt x="12886" y="1055"/>
                  <a:pt x="13871" y="1656"/>
                  <a:pt x="14555" y="2379"/>
                </a:cubicBezTo>
                <a:cubicBezTo>
                  <a:pt x="15240" y="3103"/>
                  <a:pt x="15600" y="3923"/>
                  <a:pt x="15600" y="4758"/>
                </a:cubicBezTo>
                <a:close/>
              </a:path>
            </a:pathLst>
          </a:custGeom>
          <a:solidFill>
            <a:srgbClr val="d6d6d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5764320" y="3240000"/>
            <a:ext cx="5616000" cy="3425400"/>
          </a:xfrm>
          <a:custGeom>
            <a:avLst/>
            <a:gdLst/>
            <a:ahLst/>
            <a:rect l="0" t="0" r="r" b="b"/>
            <a:pathLst>
              <a:path w="15600" h="9515">
                <a:moveTo>
                  <a:pt x="15600" y="4758"/>
                </a:moveTo>
                <a:cubicBezTo>
                  <a:pt x="15600" y="5593"/>
                  <a:pt x="15240" y="6413"/>
                  <a:pt x="14555" y="7136"/>
                </a:cubicBezTo>
                <a:cubicBezTo>
                  <a:pt x="13871" y="7860"/>
                  <a:pt x="12886" y="8461"/>
                  <a:pt x="11700" y="8878"/>
                </a:cubicBezTo>
                <a:cubicBezTo>
                  <a:pt x="10514" y="9296"/>
                  <a:pt x="9170" y="9515"/>
                  <a:pt x="7801" y="9515"/>
                </a:cubicBezTo>
                <a:cubicBezTo>
                  <a:pt x="6431" y="9515"/>
                  <a:pt x="5086" y="9296"/>
                  <a:pt x="3900" y="8878"/>
                </a:cubicBezTo>
                <a:cubicBezTo>
                  <a:pt x="2714" y="8461"/>
                  <a:pt x="1729" y="7860"/>
                  <a:pt x="1045" y="7136"/>
                </a:cubicBezTo>
                <a:cubicBezTo>
                  <a:pt x="360" y="6413"/>
                  <a:pt x="0" y="5593"/>
                  <a:pt x="0" y="4758"/>
                </a:cubicBezTo>
                <a:cubicBezTo>
                  <a:pt x="0" y="3923"/>
                  <a:pt x="360" y="3103"/>
                  <a:pt x="1045" y="2379"/>
                </a:cubicBezTo>
                <a:cubicBezTo>
                  <a:pt x="1729" y="1656"/>
                  <a:pt x="2714" y="1055"/>
                  <a:pt x="3900" y="638"/>
                </a:cubicBezTo>
                <a:cubicBezTo>
                  <a:pt x="5086" y="220"/>
                  <a:pt x="6431" y="0"/>
                  <a:pt x="7800" y="0"/>
                </a:cubicBezTo>
                <a:cubicBezTo>
                  <a:pt x="9169" y="0"/>
                  <a:pt x="10514" y="220"/>
                  <a:pt x="11700" y="638"/>
                </a:cubicBezTo>
                <a:cubicBezTo>
                  <a:pt x="12886" y="1055"/>
                  <a:pt x="13871" y="1656"/>
                  <a:pt x="14555" y="2379"/>
                </a:cubicBezTo>
                <a:cubicBezTo>
                  <a:pt x="15240" y="3103"/>
                  <a:pt x="15600" y="3923"/>
                  <a:pt x="15600" y="4758"/>
                </a:cubicBezTo>
                <a:close/>
              </a:path>
            </a:pathLst>
          </a:custGeom>
          <a:noFill/>
          <a:ln w="47520">
            <a:solidFill>
              <a:srgbClr val="333333"/>
            </a:solidFill>
            <a:miter/>
          </a:ln>
        </p:spPr>
        <p:txBody>
          <a:bodyPr lIns="113760" rIns="113760" tIns="68760" bIns="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7187400" y="4186800"/>
            <a:ext cx="27738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CONDITIONAL</a:t>
            </a:r>
            <a:endParaRPr b="1" lang="en-US" sz="30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7149240" y="4690800"/>
            <a:ext cx="28368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COMMITMENT</a:t>
            </a:r>
            <a:endParaRPr b="1" lang="en-US" sz="30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901920" y="5319000"/>
            <a:ext cx="329328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decision + reconsideration trigger</a:t>
            </a:r>
            <a:endParaRPr b="0" i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11332800" y="956520"/>
            <a:ext cx="904320" cy="951480"/>
          </a:xfrm>
          <a:custGeom>
            <a:avLst/>
            <a:gdLst/>
            <a:ahLst/>
            <a:rect l="0" t="0" r="r" b="b"/>
            <a:pathLst>
              <a:path fill="none" w="2512" h="2643">
                <a:moveTo>
                  <a:pt x="0" y="0"/>
                </a:moveTo>
                <a:cubicBezTo>
                  <a:pt x="1851" y="132"/>
                  <a:pt x="2512" y="1321"/>
                  <a:pt x="2512" y="2643"/>
                </a:cubicBezTo>
              </a:path>
            </a:pathLst>
          </a:custGeom>
          <a:ln w="38160">
            <a:solidFill>
              <a:srgbClr val="444444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12046680" y="1565280"/>
            <a:ext cx="380880" cy="380880"/>
          </a:xfrm>
          <a:custGeom>
            <a:avLst/>
            <a:gdLst/>
            <a:ahLst/>
            <a:rect l="0" t="0" r="r" b="b"/>
            <a:pathLst>
              <a:path w="1058" h="1058">
                <a:moveTo>
                  <a:pt x="1058" y="0"/>
                </a:moveTo>
                <a:lnTo>
                  <a:pt x="529" y="1058"/>
                </a:lnTo>
                <a:lnTo>
                  <a:pt x="0" y="0"/>
                </a:lnTo>
                <a:lnTo>
                  <a:pt x="1058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5711840" y="3668400"/>
            <a:ext cx="642600" cy="2426040"/>
          </a:xfrm>
          <a:custGeom>
            <a:avLst/>
            <a:gdLst/>
            <a:ahLst/>
            <a:rect l="0" t="0" r="r" b="b"/>
            <a:pathLst>
              <a:path fill="none" w="1785" h="6739">
                <a:moveTo>
                  <a:pt x="0" y="0"/>
                </a:moveTo>
                <a:cubicBezTo>
                  <a:pt x="2380" y="2247"/>
                  <a:pt x="2380" y="4889"/>
                  <a:pt x="0" y="6739"/>
                </a:cubicBezTo>
              </a:path>
            </a:pathLst>
          </a:custGeom>
          <a:ln w="38160">
            <a:solidFill>
              <a:srgbClr val="444444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5681960" y="5734080"/>
            <a:ext cx="417240" cy="383760"/>
          </a:xfrm>
          <a:custGeom>
            <a:avLst/>
            <a:gdLst/>
            <a:ahLst/>
            <a:rect l="0" t="0" r="r" b="b"/>
            <a:pathLst>
              <a:path w="1159" h="1066">
                <a:moveTo>
                  <a:pt x="1159" y="834"/>
                </a:moveTo>
                <a:lnTo>
                  <a:pt x="0" y="1066"/>
                </a:lnTo>
                <a:lnTo>
                  <a:pt x="510" y="0"/>
                </a:lnTo>
                <a:lnTo>
                  <a:pt x="1159" y="834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5681960" y="5734080"/>
            <a:ext cx="417240" cy="383760"/>
          </a:xfrm>
          <a:custGeom>
            <a:avLst/>
            <a:gdLst/>
            <a:ahLst/>
            <a:rect l="0" t="0" r="r" b="b"/>
            <a:pathLst>
              <a:path w="1159" h="1066">
                <a:moveTo>
                  <a:pt x="1159" y="834"/>
                </a:moveTo>
                <a:lnTo>
                  <a:pt x="0" y="1066"/>
                </a:lnTo>
                <a:lnTo>
                  <a:pt x="510" y="0"/>
                </a:lnTo>
                <a:lnTo>
                  <a:pt x="1159" y="834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10713960" y="7474320"/>
            <a:ext cx="904320" cy="761400"/>
          </a:xfrm>
          <a:custGeom>
            <a:avLst/>
            <a:gdLst/>
            <a:ahLst/>
            <a:rect l="0" t="0" r="r" b="b"/>
            <a:pathLst>
              <a:path fill="none" w="2512" h="2115">
                <a:moveTo>
                  <a:pt x="2512" y="0"/>
                </a:moveTo>
                <a:cubicBezTo>
                  <a:pt x="926" y="1322"/>
                  <a:pt x="397" y="1850"/>
                  <a:pt x="0" y="2115"/>
                </a:cubicBezTo>
              </a:path>
            </a:pathLst>
          </a:custGeom>
          <a:ln w="38160">
            <a:solidFill>
              <a:srgbClr val="444444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0682280" y="7887240"/>
            <a:ext cx="422640" cy="369360"/>
          </a:xfrm>
          <a:custGeom>
            <a:avLst/>
            <a:gdLst/>
            <a:ahLst/>
            <a:rect l="0" t="0" r="r" b="b"/>
            <a:pathLst>
              <a:path w="1174" h="1026">
                <a:moveTo>
                  <a:pt x="1174" y="880"/>
                </a:moveTo>
                <a:lnTo>
                  <a:pt x="0" y="1026"/>
                </a:lnTo>
                <a:lnTo>
                  <a:pt x="587" y="0"/>
                </a:lnTo>
                <a:lnTo>
                  <a:pt x="1174" y="88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10682280" y="7887240"/>
            <a:ext cx="422640" cy="369360"/>
          </a:xfrm>
          <a:custGeom>
            <a:avLst/>
            <a:gdLst/>
            <a:ahLst/>
            <a:rect l="0" t="0" r="r" b="b"/>
            <a:pathLst>
              <a:path w="1174" h="1026">
                <a:moveTo>
                  <a:pt x="1174" y="880"/>
                </a:moveTo>
                <a:lnTo>
                  <a:pt x="0" y="1026"/>
                </a:lnTo>
                <a:lnTo>
                  <a:pt x="587" y="0"/>
                </a:lnTo>
                <a:lnTo>
                  <a:pt x="1174" y="88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0682280" y="7887240"/>
            <a:ext cx="422640" cy="369360"/>
          </a:xfrm>
          <a:custGeom>
            <a:avLst/>
            <a:gdLst/>
            <a:ahLst/>
            <a:rect l="0" t="0" r="r" b="b"/>
            <a:pathLst>
              <a:path w="1174" h="1026">
                <a:moveTo>
                  <a:pt x="1174" y="880"/>
                </a:moveTo>
                <a:lnTo>
                  <a:pt x="0" y="1026"/>
                </a:lnTo>
                <a:lnTo>
                  <a:pt x="587" y="0"/>
                </a:lnTo>
                <a:lnTo>
                  <a:pt x="1174" y="88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5478480" y="7474320"/>
            <a:ext cx="952200" cy="808920"/>
          </a:xfrm>
          <a:custGeom>
            <a:avLst/>
            <a:gdLst/>
            <a:ahLst/>
            <a:rect l="0" t="0" r="r" b="b"/>
            <a:pathLst>
              <a:path fill="none" w="2645" h="2247">
                <a:moveTo>
                  <a:pt x="2645" y="2247"/>
                </a:moveTo>
                <a:cubicBezTo>
                  <a:pt x="1190" y="1322"/>
                  <a:pt x="529" y="793"/>
                  <a:pt x="0" y="0"/>
                </a:cubicBezTo>
              </a:path>
            </a:pathLst>
          </a:custGeom>
          <a:ln w="38160">
            <a:solidFill>
              <a:srgbClr val="444444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5457600" y="7442640"/>
            <a:ext cx="369360" cy="422280"/>
          </a:xfrm>
          <a:custGeom>
            <a:avLst/>
            <a:gdLst/>
            <a:ahLst/>
            <a:rect l="0" t="0" r="r" b="b"/>
            <a:pathLst>
              <a:path w="1026" h="1173">
                <a:moveTo>
                  <a:pt x="146" y="1173"/>
                </a:moveTo>
                <a:lnTo>
                  <a:pt x="0" y="0"/>
                </a:lnTo>
                <a:lnTo>
                  <a:pt x="1026" y="587"/>
                </a:lnTo>
                <a:lnTo>
                  <a:pt x="146" y="1173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5457600" y="7442640"/>
            <a:ext cx="369360" cy="422280"/>
          </a:xfrm>
          <a:custGeom>
            <a:avLst/>
            <a:gdLst/>
            <a:ahLst/>
            <a:rect l="0" t="0" r="r" b="b"/>
            <a:pathLst>
              <a:path w="1026" h="1173">
                <a:moveTo>
                  <a:pt x="146" y="1173"/>
                </a:moveTo>
                <a:lnTo>
                  <a:pt x="0" y="0"/>
                </a:lnTo>
                <a:lnTo>
                  <a:pt x="1026" y="587"/>
                </a:lnTo>
                <a:lnTo>
                  <a:pt x="146" y="1173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5457600" y="7442640"/>
            <a:ext cx="369360" cy="422280"/>
          </a:xfrm>
          <a:custGeom>
            <a:avLst/>
            <a:gdLst/>
            <a:ahLst/>
            <a:rect l="0" t="0" r="r" b="b"/>
            <a:pathLst>
              <a:path w="1026" h="1173">
                <a:moveTo>
                  <a:pt x="146" y="1173"/>
                </a:moveTo>
                <a:lnTo>
                  <a:pt x="0" y="0"/>
                </a:lnTo>
                <a:lnTo>
                  <a:pt x="1026" y="587"/>
                </a:lnTo>
                <a:lnTo>
                  <a:pt x="146" y="1173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457600" y="7442640"/>
            <a:ext cx="369360" cy="422280"/>
          </a:xfrm>
          <a:custGeom>
            <a:avLst/>
            <a:gdLst/>
            <a:ahLst/>
            <a:rect l="0" t="0" r="r" b="b"/>
            <a:pathLst>
              <a:path w="1026" h="1173">
                <a:moveTo>
                  <a:pt x="146" y="1173"/>
                </a:moveTo>
                <a:lnTo>
                  <a:pt x="0" y="0"/>
                </a:lnTo>
                <a:lnTo>
                  <a:pt x="1026" y="587"/>
                </a:lnTo>
                <a:lnTo>
                  <a:pt x="146" y="1173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790200" y="3668400"/>
            <a:ext cx="642600" cy="2521440"/>
          </a:xfrm>
          <a:custGeom>
            <a:avLst/>
            <a:gdLst/>
            <a:ahLst/>
            <a:rect l="0" t="0" r="r" b="b"/>
            <a:pathLst>
              <a:path fill="none" w="1785" h="7004">
                <a:moveTo>
                  <a:pt x="1785" y="7004"/>
                </a:moveTo>
                <a:cubicBezTo>
                  <a:pt x="-595" y="4889"/>
                  <a:pt x="-595" y="2247"/>
                  <a:pt x="1785" y="0"/>
                </a:cubicBezTo>
              </a:path>
            </a:pathLst>
          </a:custGeom>
          <a:ln w="38160">
            <a:solidFill>
              <a:srgbClr val="444444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1053000" y="3642120"/>
            <a:ext cx="407520" cy="399960"/>
          </a:xfrm>
          <a:custGeom>
            <a:avLst/>
            <a:gdLst/>
            <a:ahLst/>
            <a:rect l="0" t="0" r="r" b="b"/>
            <a:pathLst>
              <a:path w="1132" h="1111">
                <a:moveTo>
                  <a:pt x="0" y="342"/>
                </a:moveTo>
                <a:lnTo>
                  <a:pt x="1132" y="0"/>
                </a:lnTo>
                <a:lnTo>
                  <a:pt x="726" y="1111"/>
                </a:lnTo>
                <a:lnTo>
                  <a:pt x="0" y="342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1053000" y="3642120"/>
            <a:ext cx="407520" cy="399960"/>
          </a:xfrm>
          <a:custGeom>
            <a:avLst/>
            <a:gdLst/>
            <a:ahLst/>
            <a:rect l="0" t="0" r="r" b="b"/>
            <a:pathLst>
              <a:path w="1132" h="1111">
                <a:moveTo>
                  <a:pt x="0" y="342"/>
                </a:moveTo>
                <a:lnTo>
                  <a:pt x="1132" y="0"/>
                </a:lnTo>
                <a:lnTo>
                  <a:pt x="726" y="1111"/>
                </a:lnTo>
                <a:lnTo>
                  <a:pt x="0" y="342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053000" y="3642120"/>
            <a:ext cx="407520" cy="399960"/>
          </a:xfrm>
          <a:custGeom>
            <a:avLst/>
            <a:gdLst/>
            <a:ahLst/>
            <a:rect l="0" t="0" r="r" b="b"/>
            <a:pathLst>
              <a:path w="1132" h="1111">
                <a:moveTo>
                  <a:pt x="0" y="342"/>
                </a:moveTo>
                <a:lnTo>
                  <a:pt x="1132" y="0"/>
                </a:lnTo>
                <a:lnTo>
                  <a:pt x="726" y="1111"/>
                </a:lnTo>
                <a:lnTo>
                  <a:pt x="0" y="342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053000" y="3642120"/>
            <a:ext cx="407520" cy="399960"/>
          </a:xfrm>
          <a:custGeom>
            <a:avLst/>
            <a:gdLst/>
            <a:ahLst/>
            <a:rect l="0" t="0" r="r" b="b"/>
            <a:pathLst>
              <a:path w="1132" h="1111">
                <a:moveTo>
                  <a:pt x="0" y="342"/>
                </a:moveTo>
                <a:lnTo>
                  <a:pt x="1132" y="0"/>
                </a:lnTo>
                <a:lnTo>
                  <a:pt x="726" y="1111"/>
                </a:lnTo>
                <a:lnTo>
                  <a:pt x="0" y="342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053000" y="3642120"/>
            <a:ext cx="407520" cy="399960"/>
          </a:xfrm>
          <a:custGeom>
            <a:avLst/>
            <a:gdLst/>
            <a:ahLst/>
            <a:rect l="0" t="0" r="r" b="b"/>
            <a:pathLst>
              <a:path w="1132" h="1111">
                <a:moveTo>
                  <a:pt x="0" y="342"/>
                </a:moveTo>
                <a:lnTo>
                  <a:pt x="1132" y="0"/>
                </a:lnTo>
                <a:lnTo>
                  <a:pt x="726" y="1111"/>
                </a:lnTo>
                <a:lnTo>
                  <a:pt x="0" y="342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4955040" y="956520"/>
            <a:ext cx="856800" cy="1046520"/>
          </a:xfrm>
          <a:custGeom>
            <a:avLst/>
            <a:gdLst/>
            <a:ahLst/>
            <a:rect l="0" t="0" r="r" b="b"/>
            <a:pathLst>
              <a:path fill="none" w="2380" h="2907">
                <a:moveTo>
                  <a:pt x="0" y="2907"/>
                </a:moveTo>
                <a:cubicBezTo>
                  <a:pt x="1058" y="1321"/>
                  <a:pt x="1851" y="396"/>
                  <a:pt x="2380" y="0"/>
                </a:cubicBezTo>
              </a:path>
            </a:pathLst>
          </a:custGeom>
          <a:ln w="38160">
            <a:solidFill>
              <a:srgbClr val="444444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5423400" y="933480"/>
            <a:ext cx="418680" cy="380520"/>
          </a:xfrm>
          <a:custGeom>
            <a:avLst/>
            <a:gdLst/>
            <a:ahLst/>
            <a:rect l="0" t="0" r="r" b="b"/>
            <a:pathLst>
              <a:path w="1163" h="1057">
                <a:moveTo>
                  <a:pt x="0" y="212"/>
                </a:moveTo>
                <a:lnTo>
                  <a:pt x="1163" y="0"/>
                </a:lnTo>
                <a:lnTo>
                  <a:pt x="635" y="1057"/>
                </a:lnTo>
                <a:lnTo>
                  <a:pt x="0" y="212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5423400" y="933480"/>
            <a:ext cx="418680" cy="380520"/>
          </a:xfrm>
          <a:custGeom>
            <a:avLst/>
            <a:gdLst/>
            <a:ahLst/>
            <a:rect l="0" t="0" r="r" b="b"/>
            <a:pathLst>
              <a:path w="1163" h="1057">
                <a:moveTo>
                  <a:pt x="0" y="212"/>
                </a:moveTo>
                <a:lnTo>
                  <a:pt x="1163" y="0"/>
                </a:lnTo>
                <a:lnTo>
                  <a:pt x="635" y="1057"/>
                </a:lnTo>
                <a:lnTo>
                  <a:pt x="0" y="212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5423400" y="933480"/>
            <a:ext cx="418680" cy="380520"/>
          </a:xfrm>
          <a:custGeom>
            <a:avLst/>
            <a:gdLst/>
            <a:ahLst/>
            <a:rect l="0" t="0" r="r" b="b"/>
            <a:pathLst>
              <a:path w="1163" h="1057">
                <a:moveTo>
                  <a:pt x="0" y="212"/>
                </a:moveTo>
                <a:lnTo>
                  <a:pt x="1163" y="0"/>
                </a:lnTo>
                <a:lnTo>
                  <a:pt x="635" y="1057"/>
                </a:lnTo>
                <a:lnTo>
                  <a:pt x="0" y="212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5423400" y="933480"/>
            <a:ext cx="418680" cy="380520"/>
          </a:xfrm>
          <a:custGeom>
            <a:avLst/>
            <a:gdLst/>
            <a:ahLst/>
            <a:rect l="0" t="0" r="r" b="b"/>
            <a:pathLst>
              <a:path w="1163" h="1057">
                <a:moveTo>
                  <a:pt x="0" y="212"/>
                </a:moveTo>
                <a:lnTo>
                  <a:pt x="1163" y="0"/>
                </a:lnTo>
                <a:lnTo>
                  <a:pt x="635" y="1057"/>
                </a:lnTo>
                <a:lnTo>
                  <a:pt x="0" y="212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5423400" y="933480"/>
            <a:ext cx="418680" cy="380520"/>
          </a:xfrm>
          <a:custGeom>
            <a:avLst/>
            <a:gdLst/>
            <a:ahLst/>
            <a:rect l="0" t="0" r="r" b="b"/>
            <a:pathLst>
              <a:path w="1163" h="1057">
                <a:moveTo>
                  <a:pt x="0" y="212"/>
                </a:moveTo>
                <a:lnTo>
                  <a:pt x="1163" y="0"/>
                </a:lnTo>
                <a:lnTo>
                  <a:pt x="635" y="1057"/>
                </a:lnTo>
                <a:lnTo>
                  <a:pt x="0" y="212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423400" y="933480"/>
            <a:ext cx="418680" cy="380520"/>
          </a:xfrm>
          <a:custGeom>
            <a:avLst/>
            <a:gdLst/>
            <a:ahLst/>
            <a:rect l="0" t="0" r="r" b="b"/>
            <a:pathLst>
              <a:path w="1163" h="1057">
                <a:moveTo>
                  <a:pt x="0" y="212"/>
                </a:moveTo>
                <a:lnTo>
                  <a:pt x="1163" y="0"/>
                </a:lnTo>
                <a:lnTo>
                  <a:pt x="635" y="1057"/>
                </a:lnTo>
                <a:lnTo>
                  <a:pt x="0" y="212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8572680" y="1717560"/>
            <a:ext cx="0" cy="1474920"/>
          </a:xfrm>
          <a:prstGeom prst="line">
            <a:avLst/>
          </a:prstGeom>
          <a:ln w="2844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 flipH="1">
            <a:off x="10571400" y="2811960"/>
            <a:ext cx="1046880" cy="1094400"/>
          </a:xfrm>
          <a:prstGeom prst="line">
            <a:avLst/>
          </a:prstGeom>
          <a:ln w="2844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 flipH="1" flipV="1">
            <a:off x="10571400" y="5999400"/>
            <a:ext cx="1046880" cy="999000"/>
          </a:xfrm>
          <a:prstGeom prst="line">
            <a:avLst/>
          </a:prstGeom>
          <a:ln w="2844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 flipV="1">
            <a:off x="8572680" y="6712920"/>
            <a:ext cx="0" cy="1570320"/>
          </a:xfrm>
          <a:prstGeom prst="line">
            <a:avLst/>
          </a:prstGeom>
          <a:ln w="2844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 flipV="1">
            <a:off x="5526360" y="5999400"/>
            <a:ext cx="1046880" cy="999000"/>
          </a:xfrm>
          <a:prstGeom prst="line">
            <a:avLst/>
          </a:prstGeom>
          <a:ln w="2844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526360" y="2811960"/>
            <a:ext cx="1046880" cy="1094400"/>
          </a:xfrm>
          <a:prstGeom prst="line">
            <a:avLst/>
          </a:prstGeom>
          <a:ln w="2844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2026-08-19T10:49:54Z</dcterms:created>
  <dc:creator>Antonio Clim and Martino Aldrigo</dc:creator>
  <dc:description>Six DECIDE operations surround a conditional commitment. Define records drivers, boundaries and authority; Establish links evidence and criteria; Construct creates credible alternatives; Inspect examines implications, threats and reversibility; Decide records rationale, owner and trigger; Evaluate Early probes the highest-risk assumption. Arrows show the iterative cycle and dashed links connect every operation to the conditional commitment. Native-object PPTX generated from the canonical SVG; all text, boxes, lines, arrows and colours remain separately editable.</dc:description>
  <dc:language>en-US</dc:language>
  <cp:lastModifiedBy/>
  <dcterms:modified xsi:type="dcterms:W3CDTF">2026-08-19T10:49:54Z</dcterms:modified>
  <cp:revision>1</cp:revision>
  <dc:subject>Fully editable native drawing objects</dc:subject>
  <dc:title>Figure 4.2. DECIDE as a cycle of conditional commitment</dc:title>
</cp:coreProperties>
</file>